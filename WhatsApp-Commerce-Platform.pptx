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this is a commerce platform with WhatsApp as the interface, not a chatbot. Two messages to land today: (1) the compliance track, not the code, is the critical path; (2) we are precise about what WhatsApp can and cannot do — which is why the location feature will actually 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no market-size statistics here — nothing in this deck is a number we cannot source. The four points are structural advantages of the channel, not claims about adoption.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Structured menus over free-form AI is a deliberate call: safer, faster to deliver, easier to test, and far more reliable in live retail operations. AI can be layered on later once real orders are flowing.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3 is highlighted because it is the new capability in v2 and the one that most improves delivery success. Everything before it is standard conversational commerce.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provider-isolation rule is what makes 'we can swap the courier' a true statement rather than a sales line. No business logic imports a vendor SDK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is the one engineers should note: window state is enforced in our own service layer, so an illegal free-form send fails fast in our code rather than surfacing as a provider error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did not exist in v1 of the plan and is the single most important addition. Nearly every downstream design decision — messaging, cost, the tracking approach — follows from this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against Meta's developer documentation. Item 5 of the Phase 0 checklist re-tests the live-streaming assumption before build starts, in case the platform adds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Rider pings go to Redis for hot reads and only sampled writes to Postgres — writing every ping to the database would be needless write load. Location is sensitive personal data, hence the 30-day purge and the masking.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fallback matters operationally — in testing, permission refusal is common enough that a flow without a typed route would strand a meaningful share of 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transition is guarded — illegal transitions raise rather than silently no-op — and each one writes to an immutable order_status_history row with actor and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Tax is the one to flag to the team: GST and HSN are mandatory for Indian retail invoicing, and retrofitting them after checkout is built is expensive. They are in the Phase 1 schema for that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 order reaches paid without a verified callback' rule is the one that prevents the classic failure mode: treating a client-side redirect as proof of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numbers are commitments from the plan — service level objectives and integration counts — not market projections. If anyone asks for conversion or revenue uplift figures, those need real baseline data from the shop, which we do not have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manager pushes for a per-order rupee number today, the honest answer is that it needs one week of Phase 0 to source current rates. Quoting an invented figure here is how projects get priced into a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Estimates assume one backend engineer, one frontend engineer, and part-time QA. If the shop uses couriers only and not its own riders, Phase 4 shortens by roughly a week because the rider PWA drops out of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one thing at the end of this slide: a named owner on the client side for the verification documents, confirmed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short in the room. The detail lives in the plan document; here we just want agreement that the mitigations are owned.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meeting on these. If we leave with answers to one and two, and an owner for the verification paperwork, Phase 0 can start on Monday.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for the two decisions and the verification owner. Everything else can follow in Phase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B26"/>
        </a:solidFill>
      </p:bgPr>
    </p:bg>
    <p:spTree>
      <p:nvGrpSpPr>
        <p:cNvPr id="1" name=""/>
        <p:cNvGrpSpPr/>
        <p:nvPr/>
      </p:nvGrpSpPr>
      <p:grpSpPr>
        <a:xfrm>
          <a:off x="0" y="0"/>
          <a:ext cx="0" cy="0"/>
          <a:chOff x="0" y="0"/>
          <a:chExt cx="0" cy="0"/>
        </a:xfrm>
      </p:grpSpPr>
      <p:sp>
        <p:nvSpPr>
          <p:cNvPr id="2" name="Shape 0"/>
          <p:cNvSpPr/>
          <p:nvPr/>
        </p:nvSpPr>
        <p:spPr>
          <a:xfrm>
            <a:off x="7818120" y="1417320"/>
            <a:ext cx="2788920" cy="786384"/>
          </a:xfrm>
          <a:prstGeom prst="roundRect">
            <a:avLst>
              <a:gd name="adj" fmla="val 18605"/>
            </a:avLst>
          </a:prstGeom>
          <a:solidFill>
            <a:srgbClr val="12403A"/>
          </a:solidFill>
          <a:ln/>
        </p:spPr>
      </p:sp>
      <p:sp>
        <p:nvSpPr>
          <p:cNvPr id="3" name="Text 1"/>
          <p:cNvSpPr txBox="1"/>
          <p:nvPr/>
        </p:nvSpPr>
        <p:spPr>
          <a:xfrm>
            <a:off x="8001000" y="1417320"/>
            <a:ext cx="2423160" cy="786384"/>
          </a:xfrm>
          <a:prstGeom prst="rect">
            <a:avLst/>
          </a:prstGeom>
          <a:noFill/>
          <a:ln/>
        </p:spPr>
        <p:txBody>
          <a:bodyPr wrap="square" lIns="0" tIns="0" rIns="0" bIns="0" rtlCol="0" anchor="ctr"/>
          <a:lstStyle/>
          <a:p>
            <a:pPr algn="l" indent="0" marL="0">
              <a:buNone/>
            </a:pPr>
            <a:r>
              <a:rPr lang="en-US" sz="1200" dirty="0">
                <a:solidFill>
                  <a:srgbClr val="9DB8B1"/>
                </a:solidFill>
                <a:latin typeface="Calibri" pitchFamily="34" charset="0"/>
                <a:ea typeface="Calibri" pitchFamily="34" charset="-122"/>
                <a:cs typeface="Calibri" pitchFamily="34" charset="-120"/>
              </a:rPr>
              <a:t>Hi! Show me today's stock</a:t>
            </a:r>
            <a:endParaRPr lang="en-US" sz="1200" dirty="0"/>
          </a:p>
        </p:txBody>
      </p:sp>
      <p:sp>
        <p:nvSpPr>
          <p:cNvPr id="4" name="Shape 2"/>
          <p:cNvSpPr/>
          <p:nvPr/>
        </p:nvSpPr>
        <p:spPr>
          <a:xfrm>
            <a:off x="8549640" y="2377440"/>
            <a:ext cx="2971800" cy="786384"/>
          </a:xfrm>
          <a:prstGeom prst="roundRect">
            <a:avLst>
              <a:gd name="adj" fmla="val 18605"/>
            </a:avLst>
          </a:prstGeom>
          <a:solidFill>
            <a:srgbClr val="0E6B5C"/>
          </a:solidFill>
          <a:ln/>
        </p:spPr>
      </p:sp>
      <p:sp>
        <p:nvSpPr>
          <p:cNvPr id="5" name="Text 3"/>
          <p:cNvSpPr txBox="1"/>
          <p:nvPr/>
        </p:nvSpPr>
        <p:spPr>
          <a:xfrm>
            <a:off x="8732520" y="2377440"/>
            <a:ext cx="2606040" cy="786384"/>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3 items · ₹1,240 · COD?</a:t>
            </a:r>
            <a:endParaRPr lang="en-US" sz="1200" dirty="0"/>
          </a:p>
        </p:txBody>
      </p:sp>
      <p:sp>
        <p:nvSpPr>
          <p:cNvPr id="6" name="Shape 4"/>
          <p:cNvSpPr/>
          <p:nvPr/>
        </p:nvSpPr>
        <p:spPr>
          <a:xfrm>
            <a:off x="7818120" y="3337560"/>
            <a:ext cx="2788920" cy="786384"/>
          </a:xfrm>
          <a:prstGeom prst="roundRect">
            <a:avLst>
              <a:gd name="adj" fmla="val 18605"/>
            </a:avLst>
          </a:prstGeom>
          <a:solidFill>
            <a:srgbClr val="12403A"/>
          </a:solidFill>
          <a:ln/>
        </p:spPr>
      </p:sp>
      <p:sp>
        <p:nvSpPr>
          <p:cNvPr id="7" name="Text 5"/>
          <p:cNvSpPr txBox="1"/>
          <p:nvPr/>
        </p:nvSpPr>
        <p:spPr>
          <a:xfrm>
            <a:off x="8001000" y="3337560"/>
            <a:ext cx="2423160" cy="786384"/>
          </a:xfrm>
          <a:prstGeom prst="rect">
            <a:avLst/>
          </a:prstGeom>
          <a:noFill/>
          <a:ln/>
        </p:spPr>
        <p:txBody>
          <a:bodyPr wrap="square" lIns="0" tIns="0" rIns="0" bIns="0" rtlCol="0" anchor="ctr"/>
          <a:lstStyle/>
          <a:p>
            <a:pPr algn="l" indent="0" marL="0">
              <a:buNone/>
            </a:pPr>
            <a:r>
              <a:rPr lang="en-US" sz="1200" dirty="0">
                <a:solidFill>
                  <a:srgbClr val="9DB8B1"/>
                </a:solidFill>
                <a:latin typeface="Calibri" pitchFamily="34" charset="0"/>
                <a:ea typeface="Calibri" pitchFamily="34" charset="-122"/>
                <a:cs typeface="Calibri" pitchFamily="34" charset="-120"/>
              </a:rPr>
              <a:t>Share delivery location</a:t>
            </a:r>
            <a:endParaRPr lang="en-US" sz="1200" dirty="0"/>
          </a:p>
        </p:txBody>
      </p:sp>
      <p:sp>
        <p:nvSpPr>
          <p:cNvPr id="8" name="Shape 6"/>
          <p:cNvSpPr/>
          <p:nvPr/>
        </p:nvSpPr>
        <p:spPr>
          <a:xfrm>
            <a:off x="8549640" y="4297680"/>
            <a:ext cx="2971800" cy="786384"/>
          </a:xfrm>
          <a:prstGeom prst="roundRect">
            <a:avLst>
              <a:gd name="adj" fmla="val 18605"/>
            </a:avLst>
          </a:prstGeom>
          <a:solidFill>
            <a:srgbClr val="F2B705"/>
          </a:solidFill>
          <a:ln/>
        </p:spPr>
      </p:sp>
      <p:sp>
        <p:nvSpPr>
          <p:cNvPr id="9" name="Text 7"/>
          <p:cNvSpPr txBox="1"/>
          <p:nvPr/>
        </p:nvSpPr>
        <p:spPr>
          <a:xfrm>
            <a:off x="8732520" y="4297680"/>
            <a:ext cx="2606040" cy="786384"/>
          </a:xfrm>
          <a:prstGeom prst="rect">
            <a:avLst/>
          </a:prstGeom>
          <a:noFill/>
          <a:ln/>
        </p:spPr>
        <p:txBody>
          <a:bodyPr wrap="square" lIns="0" tIns="0" rIns="0" bIns="0" rtlCol="0" anchor="ctr"/>
          <a:lstStyle/>
          <a:p>
            <a:pPr algn="l" indent="0" marL="0">
              <a:buNone/>
            </a:pPr>
            <a:r>
              <a:rPr lang="en-US" sz="1200" dirty="0">
                <a:solidFill>
                  <a:srgbClr val="0B2B26"/>
                </a:solidFill>
                <a:latin typeface="Calibri" pitchFamily="34" charset="0"/>
                <a:ea typeface="Calibri" pitchFamily="34" charset="-122"/>
                <a:cs typeface="Calibri" pitchFamily="34" charset="-120"/>
              </a:rPr>
              <a:t>Out for delivery · track</a:t>
            </a:r>
            <a:endParaRPr lang="en-US" sz="1200" dirty="0"/>
          </a:p>
        </p:txBody>
      </p:sp>
      <p:sp>
        <p:nvSpPr>
          <p:cNvPr id="10" name="Text 8"/>
          <p:cNvSpPr txBox="1"/>
          <p:nvPr/>
        </p:nvSpPr>
        <p:spPr>
          <a:xfrm>
            <a:off x="548640" y="1234440"/>
            <a:ext cx="6949440" cy="274320"/>
          </a:xfrm>
          <a:prstGeom prst="rect">
            <a:avLst/>
          </a:prstGeom>
          <a:noFill/>
          <a:ln/>
        </p:spPr>
        <p:txBody>
          <a:bodyPr wrap="square" lIns="0" tIns="0" rIns="0" bIns="0" rtlCol="0" anchor="ctr"/>
          <a:lstStyle/>
          <a:p>
            <a:pPr indent="0" marL="0">
              <a:buNone/>
            </a:pPr>
            <a:r>
              <a:rPr lang="en-US" sz="1200" b="1" spc="200" kern="0" dirty="0">
                <a:solidFill>
                  <a:srgbClr val="F2B705"/>
                </a:solidFill>
                <a:latin typeface="Calibri" pitchFamily="34" charset="0"/>
                <a:ea typeface="Calibri" pitchFamily="34" charset="-122"/>
                <a:cs typeface="Calibri" pitchFamily="34" charset="-120"/>
              </a:rPr>
              <a:t>IMPLEMENTATION PLAN  ·  VERSION 2.0</a:t>
            </a:r>
            <a:endParaRPr lang="en-US" sz="1200" dirty="0"/>
          </a:p>
        </p:txBody>
      </p:sp>
      <p:sp>
        <p:nvSpPr>
          <p:cNvPr id="11" name="Text 9"/>
          <p:cNvSpPr txBox="1"/>
          <p:nvPr/>
        </p:nvSpPr>
        <p:spPr>
          <a:xfrm>
            <a:off x="548640" y="1600200"/>
            <a:ext cx="6949440" cy="1691640"/>
          </a:xfrm>
          <a:prstGeom prst="rect">
            <a:avLst/>
          </a:prstGeom>
          <a:noFill/>
          <a:ln/>
        </p:spPr>
        <p:txBody>
          <a:bodyPr wrap="square" lIns="0" tIns="0" rIns="0" bIns="0" rtlCol="0" anchor="ctr"/>
          <a:lstStyle/>
          <a:p>
            <a:pPr indent="0" marL="0">
              <a:lnSpc>
                <a:spcPts val="4800"/>
              </a:lnSpc>
              <a:buNone/>
            </a:pPr>
            <a:r>
              <a:rPr lang="en-US" sz="4400" b="1" dirty="0">
                <a:solidFill>
                  <a:srgbClr val="FFFFFF"/>
                </a:solidFill>
                <a:latin typeface="Cambria" pitchFamily="34" charset="0"/>
                <a:ea typeface="Cambria" pitchFamily="34" charset="-122"/>
                <a:cs typeface="Cambria" pitchFamily="34" charset="-120"/>
              </a:rPr>
              <a:t>WhatsApp</a:t>
            </a:r>
            <a:endParaRPr lang="en-US" sz="4400" dirty="0"/>
          </a:p>
          <a:p>
            <a:pPr indent="0" marL="0">
              <a:lnSpc>
                <a:spcPts val="4800"/>
              </a:lnSpc>
              <a:buNone/>
            </a:pPr>
            <a:r>
              <a:rPr lang="en-US" sz="4400" b="1" dirty="0">
                <a:solidFill>
                  <a:srgbClr val="FFFFFF"/>
                </a:solidFill>
                <a:latin typeface="Cambria" pitchFamily="34" charset="0"/>
                <a:ea typeface="Cambria" pitchFamily="34" charset="-122"/>
                <a:cs typeface="Cambria" pitchFamily="34" charset="-120"/>
              </a:rPr>
              <a:t>Commerce Platform</a:t>
            </a:r>
            <a:endParaRPr lang="en-US" sz="4400" dirty="0"/>
          </a:p>
        </p:txBody>
      </p:sp>
      <p:sp>
        <p:nvSpPr>
          <p:cNvPr id="12" name="Text 10"/>
          <p:cNvSpPr txBox="1"/>
          <p:nvPr/>
        </p:nvSpPr>
        <p:spPr>
          <a:xfrm>
            <a:off x="548640" y="3429000"/>
            <a:ext cx="6675120" cy="777240"/>
          </a:xfrm>
          <a:prstGeom prst="rect">
            <a:avLst/>
          </a:prstGeom>
          <a:noFill/>
          <a:ln/>
        </p:spPr>
        <p:txBody>
          <a:bodyPr wrap="square" lIns="0" tIns="0" rIns="0" bIns="0" rtlCol="0" anchor="t"/>
          <a:lstStyle/>
          <a:p>
            <a:pPr indent="0" marL="0">
              <a:lnSpc>
                <a:spcPts val="2200"/>
              </a:lnSpc>
              <a:buNone/>
            </a:pPr>
            <a:r>
              <a:rPr lang="en-US" sz="1500" dirty="0">
                <a:solidFill>
                  <a:srgbClr val="9DB8B1"/>
                </a:solidFill>
                <a:latin typeface="Calibri" pitchFamily="34" charset="0"/>
                <a:ea typeface="Calibri" pitchFamily="34" charset="-122"/>
                <a:cs typeface="Calibri" pitchFamily="34" charset="-120"/>
              </a:rPr>
              <a:t>A WhatsApp-first ordering, payment, and delivery system for retail — with in-chat location capture and live rider tracking.</a:t>
            </a:r>
            <a:endParaRPr lang="en-US" sz="1500" dirty="0"/>
          </a:p>
        </p:txBody>
      </p:sp>
      <p:sp>
        <p:nvSpPr>
          <p:cNvPr id="13" name="Text 11"/>
          <p:cNvSpPr txBox="1"/>
          <p:nvPr/>
        </p:nvSpPr>
        <p:spPr>
          <a:xfrm>
            <a:off x="548640" y="4617720"/>
            <a:ext cx="2194560" cy="384048"/>
          </a:xfrm>
          <a:prstGeom prst="rect">
            <a:avLst/>
          </a:prstGeom>
          <a:noFill/>
          <a:ln/>
        </p:spPr>
        <p:txBody>
          <a:bodyPr wrap="square" lIns="0" tIns="0" rIns="0" bIns="0" rtlCol="0" anchor="ctr"/>
          <a:lstStyle/>
          <a:p>
            <a:pPr indent="0" marL="0">
              <a:buNone/>
            </a:pPr>
            <a:r>
              <a:rPr lang="en-US" sz="2100" b="1" dirty="0">
                <a:solidFill>
                  <a:srgbClr val="17A38C"/>
                </a:solidFill>
                <a:latin typeface="Cambria" pitchFamily="34" charset="0"/>
                <a:ea typeface="Cambria" pitchFamily="34" charset="-122"/>
                <a:cs typeface="Cambria" pitchFamily="34" charset="-120"/>
              </a:rPr>
              <a:t>20 weeks</a:t>
            </a:r>
            <a:endParaRPr lang="en-US" sz="2100" dirty="0"/>
          </a:p>
        </p:txBody>
      </p:sp>
      <p:sp>
        <p:nvSpPr>
          <p:cNvPr id="14" name="Text 12"/>
          <p:cNvSpPr txBox="1"/>
          <p:nvPr/>
        </p:nvSpPr>
        <p:spPr>
          <a:xfrm>
            <a:off x="548640" y="4983480"/>
            <a:ext cx="2194560" cy="292608"/>
          </a:xfrm>
          <a:prstGeom prst="rect">
            <a:avLst/>
          </a:prstGeom>
          <a:noFill/>
          <a:ln/>
        </p:spPr>
        <p:txBody>
          <a:bodyPr wrap="square" lIns="0" tIns="0" rIns="0" bIns="0" rtlCol="0" anchor="ctr"/>
          <a:lstStyle/>
          <a:p>
            <a:pPr indent="0" marL="0">
              <a:buNone/>
            </a:pPr>
            <a:r>
              <a:rPr lang="en-US" sz="1100" dirty="0">
                <a:solidFill>
                  <a:srgbClr val="6B8F87"/>
                </a:solidFill>
                <a:latin typeface="Calibri" pitchFamily="34" charset="0"/>
                <a:ea typeface="Calibri" pitchFamily="34" charset="-122"/>
                <a:cs typeface="Calibri" pitchFamily="34" charset="-120"/>
              </a:rPr>
              <a:t>to go-live</a:t>
            </a:r>
            <a:endParaRPr lang="en-US" sz="1100" dirty="0"/>
          </a:p>
        </p:txBody>
      </p:sp>
      <p:sp>
        <p:nvSpPr>
          <p:cNvPr id="15" name="Text 13"/>
          <p:cNvSpPr txBox="1"/>
          <p:nvPr/>
        </p:nvSpPr>
        <p:spPr>
          <a:xfrm>
            <a:off x="2880360" y="4617720"/>
            <a:ext cx="2194560" cy="384048"/>
          </a:xfrm>
          <a:prstGeom prst="rect">
            <a:avLst/>
          </a:prstGeom>
          <a:noFill/>
          <a:ln/>
        </p:spPr>
        <p:txBody>
          <a:bodyPr wrap="square" lIns="0" tIns="0" rIns="0" bIns="0" rtlCol="0" anchor="ctr"/>
          <a:lstStyle/>
          <a:p>
            <a:pPr indent="0" marL="0">
              <a:buNone/>
            </a:pPr>
            <a:r>
              <a:rPr lang="en-US" sz="2100" b="1" dirty="0">
                <a:solidFill>
                  <a:srgbClr val="17A38C"/>
                </a:solidFill>
                <a:latin typeface="Cambria" pitchFamily="34" charset="0"/>
                <a:ea typeface="Cambria" pitchFamily="34" charset="-122"/>
                <a:cs typeface="Cambria" pitchFamily="34" charset="-120"/>
              </a:rPr>
              <a:t>6 phases</a:t>
            </a:r>
            <a:endParaRPr lang="en-US" sz="2100" dirty="0"/>
          </a:p>
        </p:txBody>
      </p:sp>
      <p:sp>
        <p:nvSpPr>
          <p:cNvPr id="16" name="Text 14"/>
          <p:cNvSpPr txBox="1"/>
          <p:nvPr/>
        </p:nvSpPr>
        <p:spPr>
          <a:xfrm>
            <a:off x="2880360" y="4983480"/>
            <a:ext cx="2194560" cy="292608"/>
          </a:xfrm>
          <a:prstGeom prst="rect">
            <a:avLst/>
          </a:prstGeom>
          <a:noFill/>
          <a:ln/>
        </p:spPr>
        <p:txBody>
          <a:bodyPr wrap="square" lIns="0" tIns="0" rIns="0" bIns="0" rtlCol="0" anchor="ctr"/>
          <a:lstStyle/>
          <a:p>
            <a:pPr indent="0" marL="0">
              <a:buNone/>
            </a:pPr>
            <a:r>
              <a:rPr lang="en-US" sz="1100" dirty="0">
                <a:solidFill>
                  <a:srgbClr val="6B8F87"/>
                </a:solidFill>
                <a:latin typeface="Calibri" pitchFamily="34" charset="0"/>
                <a:ea typeface="Calibri" pitchFamily="34" charset="-122"/>
                <a:cs typeface="Calibri" pitchFamily="34" charset="-120"/>
              </a:rPr>
              <a:t>+ parallel compliance track</a:t>
            </a:r>
            <a:endParaRPr lang="en-US" sz="1100" dirty="0"/>
          </a:p>
        </p:txBody>
      </p:sp>
      <p:sp>
        <p:nvSpPr>
          <p:cNvPr id="17" name="Text 15"/>
          <p:cNvSpPr txBox="1"/>
          <p:nvPr/>
        </p:nvSpPr>
        <p:spPr>
          <a:xfrm>
            <a:off x="5212080" y="4617720"/>
            <a:ext cx="2194560" cy="384048"/>
          </a:xfrm>
          <a:prstGeom prst="rect">
            <a:avLst/>
          </a:prstGeom>
          <a:noFill/>
          <a:ln/>
        </p:spPr>
        <p:txBody>
          <a:bodyPr wrap="square" lIns="0" tIns="0" rIns="0" bIns="0" rtlCol="0" anchor="ctr"/>
          <a:lstStyle/>
          <a:p>
            <a:pPr indent="0" marL="0">
              <a:buNone/>
            </a:pPr>
            <a:r>
              <a:rPr lang="en-US" sz="2100" b="1" dirty="0">
                <a:solidFill>
                  <a:srgbClr val="17A38C"/>
                </a:solidFill>
                <a:latin typeface="Cambria" pitchFamily="34" charset="0"/>
                <a:ea typeface="Cambria" pitchFamily="34" charset="-122"/>
                <a:cs typeface="Cambria" pitchFamily="34" charset="-120"/>
              </a:rPr>
              <a:t>26 tables</a:t>
            </a:r>
            <a:endParaRPr lang="en-US" sz="2100" dirty="0"/>
          </a:p>
        </p:txBody>
      </p:sp>
      <p:sp>
        <p:nvSpPr>
          <p:cNvPr id="18" name="Text 16"/>
          <p:cNvSpPr txBox="1"/>
          <p:nvPr/>
        </p:nvSpPr>
        <p:spPr>
          <a:xfrm>
            <a:off x="5212080" y="4983480"/>
            <a:ext cx="2194560" cy="292608"/>
          </a:xfrm>
          <a:prstGeom prst="rect">
            <a:avLst/>
          </a:prstGeom>
          <a:noFill/>
          <a:ln/>
        </p:spPr>
        <p:txBody>
          <a:bodyPr wrap="square" lIns="0" tIns="0" rIns="0" bIns="0" rtlCol="0" anchor="ctr"/>
          <a:lstStyle/>
          <a:p>
            <a:pPr indent="0" marL="0">
              <a:buNone/>
            </a:pPr>
            <a:r>
              <a:rPr lang="en-US" sz="1100" dirty="0">
                <a:solidFill>
                  <a:srgbClr val="6B8F87"/>
                </a:solidFill>
                <a:latin typeface="Calibri" pitchFamily="34" charset="0"/>
                <a:ea typeface="Calibri" pitchFamily="34" charset="-122"/>
                <a:cs typeface="Calibri" pitchFamily="34" charset="-120"/>
              </a:rPr>
              <a:t>core data model</a:t>
            </a:r>
            <a:endParaRPr lang="en-US" sz="1100" dirty="0"/>
          </a:p>
        </p:txBody>
      </p:sp>
      <p:sp>
        <p:nvSpPr>
          <p:cNvPr id="19" name="Text 17"/>
          <p:cNvSpPr txBox="1"/>
          <p:nvPr/>
        </p:nvSpPr>
        <p:spPr>
          <a:xfrm>
            <a:off x="548640" y="5897880"/>
            <a:ext cx="8229600" cy="274320"/>
          </a:xfrm>
          <a:prstGeom prst="rect">
            <a:avLst/>
          </a:prstGeom>
          <a:noFill/>
          <a:ln/>
        </p:spPr>
        <p:txBody>
          <a:bodyPr wrap="square" lIns="0" tIns="0" rIns="0" bIns="0" rtlCol="0" anchor="ctr"/>
          <a:lstStyle/>
          <a:p>
            <a:pPr indent="0" marL="0">
              <a:buNone/>
            </a:pPr>
            <a:r>
              <a:rPr lang="en-US" sz="1100" dirty="0">
                <a:solidFill>
                  <a:srgbClr val="6B8F87"/>
                </a:solidFill>
                <a:latin typeface="Calibri" pitchFamily="34" charset="0"/>
                <a:ea typeface="Calibri" pitchFamily="34" charset="-122"/>
                <a:cs typeface="Calibri" pitchFamily="34" charset="-120"/>
              </a:rPr>
              <a:t>Prepared for management and engineering review  ·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56032"/>
          </a:xfrm>
          <a:prstGeom prst="rect">
            <a:avLst/>
          </a:prstGeom>
          <a:noFill/>
          <a:ln/>
        </p:spPr>
        <p:txBody>
          <a:bodyPr wrap="square" lIns="0" tIns="0" rIns="0" bIns="0" rtlCol="0" anchor="ctr"/>
          <a:lstStyle/>
          <a:p>
            <a:pPr algn="l" indent="0" marL="0">
              <a:buNone/>
            </a:pPr>
            <a:r>
              <a:rPr lang="en-US" sz="1100" b="1" spc="200" kern="0" dirty="0">
                <a:solidFill>
                  <a:srgbClr val="0E6B5C"/>
                </a:solidFill>
                <a:latin typeface="Calibri" pitchFamily="34" charset="0"/>
                <a:ea typeface="Calibri" pitchFamily="34" charset="-122"/>
                <a:cs typeface="Calibri" pitchFamily="34" charset="-120"/>
              </a:rPr>
              <a:t>THE CASE</a:t>
            </a:r>
            <a:endParaRPr lang="en-US" sz="1100" dirty="0"/>
          </a:p>
        </p:txBody>
      </p:sp>
      <p:sp>
        <p:nvSpPr>
          <p:cNvPr id="3" name="Text 1"/>
          <p:cNvSpPr txBox="1"/>
          <p:nvPr/>
        </p:nvSpPr>
        <p:spPr>
          <a:xfrm>
            <a:off x="548640" y="640080"/>
            <a:ext cx="11094415" cy="731520"/>
          </a:xfrm>
          <a:prstGeom prst="rect">
            <a:avLst/>
          </a:prstGeom>
          <a:noFill/>
          <a:ln/>
        </p:spPr>
        <p:txBody>
          <a:bodyPr wrap="square" lIns="0" tIns="0" rIns="0" bIns="0" rtlCol="0" anchor="ctr"/>
          <a:lstStyle/>
          <a:p>
            <a:pPr algn="l" indent="0" marL="0">
              <a:buNone/>
            </a:pPr>
            <a:r>
              <a:rPr lang="en-US" sz="3300" b="1" dirty="0">
                <a:solidFill>
                  <a:srgbClr val="1F2A28"/>
                </a:solidFill>
                <a:latin typeface="Cambria" pitchFamily="34" charset="0"/>
                <a:ea typeface="Cambria" pitchFamily="34" charset="-122"/>
                <a:cs typeface="Cambria" pitchFamily="34" charset="-120"/>
              </a:rPr>
              <a:t>Why WhatsApp-first beats another app</a:t>
            </a:r>
            <a:endParaRPr lang="en-US" sz="3300" dirty="0"/>
          </a:p>
        </p:txBody>
      </p:sp>
      <p:sp>
        <p:nvSpPr>
          <p:cNvPr id="4" name="Shape 2"/>
          <p:cNvSpPr/>
          <p:nvPr/>
        </p:nvSpPr>
        <p:spPr>
          <a:xfrm>
            <a:off x="548640" y="1691640"/>
            <a:ext cx="5364328" cy="1783080"/>
          </a:xfrm>
          <a:prstGeom prst="roundRect">
            <a:avLst>
              <a:gd name="adj" fmla="val 5128"/>
            </a:avLst>
          </a:prstGeom>
          <a:solidFill>
            <a:srgbClr val="F1F6F4"/>
          </a:solidFill>
          <a:ln/>
          <a:effectLst>
            <a:outerShdw sx="100000" sy="100000" kx="0" ky="0" algn="bl" rotWithShape="0" blurRad="127000" dist="25400" dir="5400000">
              <a:srgbClr val="000000">
                <a:alpha val="10000"/>
              </a:srgbClr>
            </a:outerShdw>
          </a:effectLst>
        </p:spPr>
      </p:sp>
      <p:sp>
        <p:nvSpPr>
          <p:cNvPr id="5" name="Shape 3"/>
          <p:cNvSpPr/>
          <p:nvPr/>
        </p:nvSpPr>
        <p:spPr>
          <a:xfrm>
            <a:off x="868680" y="1984248"/>
            <a:ext cx="530352" cy="530352"/>
          </a:xfrm>
          <a:prstGeom prst="ellipse">
            <a:avLst/>
          </a:prstGeom>
          <a:solidFill>
            <a:srgbClr val="0E6B5C"/>
          </a:solidFill>
          <a:ln/>
        </p:spPr>
      </p:sp>
      <p:sp>
        <p:nvSpPr>
          <p:cNvPr id="6" name="Text 4"/>
          <p:cNvSpPr txBox="1"/>
          <p:nvPr/>
        </p:nvSpPr>
        <p:spPr>
          <a:xfrm>
            <a:off x="868680" y="1984248"/>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7" name="Text 5"/>
          <p:cNvSpPr txBox="1"/>
          <p:nvPr/>
        </p:nvSpPr>
        <p:spPr>
          <a:xfrm>
            <a:off x="1554480" y="1965960"/>
            <a:ext cx="4038448" cy="384048"/>
          </a:xfrm>
          <a:prstGeom prst="rect">
            <a:avLst/>
          </a:prstGeom>
          <a:noFill/>
          <a:ln/>
        </p:spPr>
        <p:txBody>
          <a:bodyPr wrap="square" lIns="0" tIns="0" rIns="0" bIns="0" rtlCol="0" anchor="ctr"/>
          <a:lstStyle/>
          <a:p>
            <a:pPr indent="0" marL="0">
              <a:buNone/>
            </a:pPr>
            <a:r>
              <a:rPr lang="en-US" sz="1600" b="1" dirty="0">
                <a:solidFill>
                  <a:srgbClr val="1F2A28"/>
                </a:solidFill>
                <a:latin typeface="Calibri" pitchFamily="34" charset="0"/>
                <a:ea typeface="Calibri" pitchFamily="34" charset="-122"/>
                <a:cs typeface="Calibri" pitchFamily="34" charset="-120"/>
              </a:rPr>
              <a:t>Zero install friction</a:t>
            </a:r>
            <a:endParaRPr lang="en-US" sz="1600" dirty="0"/>
          </a:p>
        </p:txBody>
      </p:sp>
      <p:sp>
        <p:nvSpPr>
          <p:cNvPr id="8" name="Text 6"/>
          <p:cNvSpPr txBox="1"/>
          <p:nvPr/>
        </p:nvSpPr>
        <p:spPr>
          <a:xfrm>
            <a:off x="1554480" y="2386584"/>
            <a:ext cx="4038448" cy="868680"/>
          </a:xfrm>
          <a:prstGeom prst="rect">
            <a:avLst/>
          </a:prstGeom>
          <a:noFill/>
          <a:ln/>
        </p:spPr>
        <p:txBody>
          <a:bodyPr wrap="square" lIns="0" tIns="0" rIns="0" bIns="0" rtlCol="0" anchor="t"/>
          <a:lstStyle/>
          <a:p>
            <a:pPr indent="0" marL="0">
              <a:lnSpc>
                <a:spcPts val="1700"/>
              </a:lnSpc>
              <a:buNone/>
            </a:pPr>
            <a:r>
              <a:rPr lang="en-US" sz="1250" dirty="0">
                <a:solidFill>
                  <a:srgbClr val="6B8F87"/>
                </a:solidFill>
                <a:latin typeface="Calibri" pitchFamily="34" charset="0"/>
                <a:ea typeface="Calibri" pitchFamily="34" charset="-122"/>
                <a:cs typeface="Calibri" pitchFamily="34" charset="-120"/>
              </a:rPr>
              <a:t>The customer orders inside an app they already open every day. No download, no signup, no password reset.</a:t>
            </a:r>
            <a:endParaRPr lang="en-US" sz="1250" dirty="0"/>
          </a:p>
        </p:txBody>
      </p:sp>
      <p:sp>
        <p:nvSpPr>
          <p:cNvPr id="9" name="Shape 7"/>
          <p:cNvSpPr/>
          <p:nvPr/>
        </p:nvSpPr>
        <p:spPr>
          <a:xfrm>
            <a:off x="6278728" y="1691640"/>
            <a:ext cx="5364328" cy="1783080"/>
          </a:xfrm>
          <a:prstGeom prst="roundRect">
            <a:avLst>
              <a:gd name="adj" fmla="val 5128"/>
            </a:avLst>
          </a:prstGeom>
          <a:solidFill>
            <a:srgbClr val="F1F6F4"/>
          </a:solidFill>
          <a:ln/>
          <a:effectLst>
            <a:outerShdw sx="100000" sy="100000" kx="0" ky="0" algn="bl" rotWithShape="0" blurRad="127000" dist="25400" dir="5400000">
              <a:srgbClr val="000000">
                <a:alpha val="10000"/>
              </a:srgbClr>
            </a:outerShdw>
          </a:effectLst>
        </p:spPr>
      </p:sp>
      <p:sp>
        <p:nvSpPr>
          <p:cNvPr id="10" name="Shape 8"/>
          <p:cNvSpPr/>
          <p:nvPr/>
        </p:nvSpPr>
        <p:spPr>
          <a:xfrm>
            <a:off x="6598768" y="1984248"/>
            <a:ext cx="530352" cy="530352"/>
          </a:xfrm>
          <a:prstGeom prst="ellipse">
            <a:avLst/>
          </a:prstGeom>
          <a:solidFill>
            <a:srgbClr val="0E6B5C"/>
          </a:solidFill>
          <a:ln/>
        </p:spPr>
      </p:sp>
      <p:sp>
        <p:nvSpPr>
          <p:cNvPr id="11" name="Text 9"/>
          <p:cNvSpPr txBox="1"/>
          <p:nvPr/>
        </p:nvSpPr>
        <p:spPr>
          <a:xfrm>
            <a:off x="6598768" y="1984248"/>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12" name="Text 10"/>
          <p:cNvSpPr txBox="1"/>
          <p:nvPr/>
        </p:nvSpPr>
        <p:spPr>
          <a:xfrm>
            <a:off x="7284568" y="1965960"/>
            <a:ext cx="4038448" cy="384048"/>
          </a:xfrm>
          <a:prstGeom prst="rect">
            <a:avLst/>
          </a:prstGeom>
          <a:noFill/>
          <a:ln/>
        </p:spPr>
        <p:txBody>
          <a:bodyPr wrap="square" lIns="0" tIns="0" rIns="0" bIns="0" rtlCol="0" anchor="ctr"/>
          <a:lstStyle/>
          <a:p>
            <a:pPr indent="0" marL="0">
              <a:buNone/>
            </a:pPr>
            <a:r>
              <a:rPr lang="en-US" sz="1600" b="1" dirty="0">
                <a:solidFill>
                  <a:srgbClr val="1F2A28"/>
                </a:solidFill>
                <a:latin typeface="Calibri" pitchFamily="34" charset="0"/>
                <a:ea typeface="Calibri" pitchFamily="34" charset="-122"/>
                <a:cs typeface="Calibri" pitchFamily="34" charset="-120"/>
              </a:rPr>
              <a:t>A conversation, not a checkout funnel</a:t>
            </a:r>
            <a:endParaRPr lang="en-US" sz="1600" dirty="0"/>
          </a:p>
        </p:txBody>
      </p:sp>
      <p:sp>
        <p:nvSpPr>
          <p:cNvPr id="13" name="Text 11"/>
          <p:cNvSpPr txBox="1"/>
          <p:nvPr/>
        </p:nvSpPr>
        <p:spPr>
          <a:xfrm>
            <a:off x="7284568" y="2386584"/>
            <a:ext cx="4038448" cy="868680"/>
          </a:xfrm>
          <a:prstGeom prst="rect">
            <a:avLst/>
          </a:prstGeom>
          <a:noFill/>
          <a:ln/>
        </p:spPr>
        <p:txBody>
          <a:bodyPr wrap="square" lIns="0" tIns="0" rIns="0" bIns="0" rtlCol="0" anchor="t"/>
          <a:lstStyle/>
          <a:p>
            <a:pPr indent="0" marL="0">
              <a:lnSpc>
                <a:spcPts val="1700"/>
              </a:lnSpc>
              <a:buNone/>
            </a:pPr>
            <a:r>
              <a:rPr lang="en-US" sz="1250" dirty="0">
                <a:solidFill>
                  <a:srgbClr val="6B8F87"/>
                </a:solidFill>
                <a:latin typeface="Calibri" pitchFamily="34" charset="0"/>
                <a:ea typeface="Calibri" pitchFamily="34" charset="-122"/>
                <a:cs typeface="Calibri" pitchFamily="34" charset="-120"/>
              </a:rPr>
              <a:t>Guided menus collect intent step by step. There is no abandoned cart page to bounce from.</a:t>
            </a:r>
            <a:endParaRPr lang="en-US" sz="1250" dirty="0"/>
          </a:p>
        </p:txBody>
      </p:sp>
      <p:sp>
        <p:nvSpPr>
          <p:cNvPr id="14" name="Shape 12"/>
          <p:cNvSpPr/>
          <p:nvPr/>
        </p:nvSpPr>
        <p:spPr>
          <a:xfrm>
            <a:off x="548640" y="3794760"/>
            <a:ext cx="5364328" cy="1783080"/>
          </a:xfrm>
          <a:prstGeom prst="roundRect">
            <a:avLst>
              <a:gd name="adj" fmla="val 5128"/>
            </a:avLst>
          </a:prstGeom>
          <a:solidFill>
            <a:srgbClr val="F1F6F4"/>
          </a:solidFill>
          <a:ln/>
          <a:effectLst>
            <a:outerShdw sx="100000" sy="100000" kx="0" ky="0" algn="bl" rotWithShape="0" blurRad="127000" dist="25400" dir="5400000">
              <a:srgbClr val="000000">
                <a:alpha val="10000"/>
              </a:srgbClr>
            </a:outerShdw>
          </a:effectLst>
        </p:spPr>
      </p:sp>
      <p:sp>
        <p:nvSpPr>
          <p:cNvPr id="15" name="Shape 13"/>
          <p:cNvSpPr/>
          <p:nvPr/>
        </p:nvSpPr>
        <p:spPr>
          <a:xfrm>
            <a:off x="868680" y="4087368"/>
            <a:ext cx="530352" cy="530352"/>
          </a:xfrm>
          <a:prstGeom prst="ellipse">
            <a:avLst/>
          </a:prstGeom>
          <a:solidFill>
            <a:srgbClr val="0E6B5C"/>
          </a:solidFill>
          <a:ln/>
        </p:spPr>
      </p:sp>
      <p:sp>
        <p:nvSpPr>
          <p:cNvPr id="16" name="Text 14"/>
          <p:cNvSpPr txBox="1"/>
          <p:nvPr/>
        </p:nvSpPr>
        <p:spPr>
          <a:xfrm>
            <a:off x="868680" y="4087368"/>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17" name="Text 15"/>
          <p:cNvSpPr txBox="1"/>
          <p:nvPr/>
        </p:nvSpPr>
        <p:spPr>
          <a:xfrm>
            <a:off x="1554480" y="4069080"/>
            <a:ext cx="4038448" cy="384048"/>
          </a:xfrm>
          <a:prstGeom prst="rect">
            <a:avLst/>
          </a:prstGeom>
          <a:noFill/>
          <a:ln/>
        </p:spPr>
        <p:txBody>
          <a:bodyPr wrap="square" lIns="0" tIns="0" rIns="0" bIns="0" rtlCol="0" anchor="ctr"/>
          <a:lstStyle/>
          <a:p>
            <a:pPr indent="0" marL="0">
              <a:buNone/>
            </a:pPr>
            <a:r>
              <a:rPr lang="en-US" sz="1600" b="1" dirty="0">
                <a:solidFill>
                  <a:srgbClr val="1F2A28"/>
                </a:solidFill>
                <a:latin typeface="Calibri" pitchFamily="34" charset="0"/>
                <a:ea typeface="Calibri" pitchFamily="34" charset="-122"/>
                <a:cs typeface="Calibri" pitchFamily="34" charset="-120"/>
              </a:rPr>
              <a:t>COD-native</a:t>
            </a:r>
            <a:endParaRPr lang="en-US" sz="1600" dirty="0"/>
          </a:p>
        </p:txBody>
      </p:sp>
      <p:sp>
        <p:nvSpPr>
          <p:cNvPr id="18" name="Text 16"/>
          <p:cNvSpPr txBox="1"/>
          <p:nvPr/>
        </p:nvSpPr>
        <p:spPr>
          <a:xfrm>
            <a:off x="1554480" y="4489704"/>
            <a:ext cx="4038448" cy="868680"/>
          </a:xfrm>
          <a:prstGeom prst="rect">
            <a:avLst/>
          </a:prstGeom>
          <a:noFill/>
          <a:ln/>
        </p:spPr>
        <p:txBody>
          <a:bodyPr wrap="square" lIns="0" tIns="0" rIns="0" bIns="0" rtlCol="0" anchor="t"/>
          <a:lstStyle/>
          <a:p>
            <a:pPr indent="0" marL="0">
              <a:lnSpc>
                <a:spcPts val="1700"/>
              </a:lnSpc>
              <a:buNone/>
            </a:pPr>
            <a:r>
              <a:rPr lang="en-US" sz="1250" dirty="0">
                <a:solidFill>
                  <a:srgbClr val="6B8F87"/>
                </a:solidFill>
                <a:latin typeface="Calibri" pitchFamily="34" charset="0"/>
                <a:ea typeface="Calibri" pitchFamily="34" charset="-122"/>
                <a:cs typeface="Calibri" pitchFamily="34" charset="-120"/>
              </a:rPr>
              <a:t>Cash on delivery is a first-class path, not a bolt-on — matching how much of Indian retail actually pays.</a:t>
            </a:r>
            <a:endParaRPr lang="en-US" sz="1250" dirty="0"/>
          </a:p>
        </p:txBody>
      </p:sp>
      <p:sp>
        <p:nvSpPr>
          <p:cNvPr id="19" name="Shape 17"/>
          <p:cNvSpPr/>
          <p:nvPr/>
        </p:nvSpPr>
        <p:spPr>
          <a:xfrm>
            <a:off x="6278728" y="3794760"/>
            <a:ext cx="5364328" cy="1783080"/>
          </a:xfrm>
          <a:prstGeom prst="roundRect">
            <a:avLst>
              <a:gd name="adj" fmla="val 5128"/>
            </a:avLst>
          </a:prstGeom>
          <a:solidFill>
            <a:srgbClr val="F1F6F4"/>
          </a:solidFill>
          <a:ln/>
          <a:effectLst>
            <a:outerShdw sx="100000" sy="100000" kx="0" ky="0" algn="bl" rotWithShape="0" blurRad="127000" dist="25400" dir="5400000">
              <a:srgbClr val="000000">
                <a:alpha val="10000"/>
              </a:srgbClr>
            </a:outerShdw>
          </a:effectLst>
        </p:spPr>
      </p:sp>
      <p:sp>
        <p:nvSpPr>
          <p:cNvPr id="20" name="Shape 18"/>
          <p:cNvSpPr/>
          <p:nvPr/>
        </p:nvSpPr>
        <p:spPr>
          <a:xfrm>
            <a:off x="6598768" y="4087368"/>
            <a:ext cx="530352" cy="530352"/>
          </a:xfrm>
          <a:prstGeom prst="ellipse">
            <a:avLst/>
          </a:prstGeom>
          <a:solidFill>
            <a:srgbClr val="0E6B5C"/>
          </a:solidFill>
          <a:ln/>
        </p:spPr>
      </p:sp>
      <p:sp>
        <p:nvSpPr>
          <p:cNvPr id="21" name="Text 19"/>
          <p:cNvSpPr txBox="1"/>
          <p:nvPr/>
        </p:nvSpPr>
        <p:spPr>
          <a:xfrm>
            <a:off x="6598768" y="4087368"/>
            <a:ext cx="530352" cy="53035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22" name="Text 20"/>
          <p:cNvSpPr txBox="1"/>
          <p:nvPr/>
        </p:nvSpPr>
        <p:spPr>
          <a:xfrm>
            <a:off x="7284568" y="4069080"/>
            <a:ext cx="4038448" cy="384048"/>
          </a:xfrm>
          <a:prstGeom prst="rect">
            <a:avLst/>
          </a:prstGeom>
          <a:noFill/>
          <a:ln/>
        </p:spPr>
        <p:txBody>
          <a:bodyPr wrap="square" lIns="0" tIns="0" rIns="0" bIns="0" rtlCol="0" anchor="ctr"/>
          <a:lstStyle/>
          <a:p>
            <a:pPr indent="0" marL="0">
              <a:buNone/>
            </a:pPr>
            <a:r>
              <a:rPr lang="en-US" sz="1600" b="1" dirty="0">
                <a:solidFill>
                  <a:srgbClr val="1F2A28"/>
                </a:solidFill>
                <a:latin typeface="Calibri" pitchFamily="34" charset="0"/>
                <a:ea typeface="Calibri" pitchFamily="34" charset="-122"/>
                <a:cs typeface="Calibri" pitchFamily="34" charset="-120"/>
              </a:rPr>
              <a:t>Re-engagement is built in</a:t>
            </a:r>
            <a:endParaRPr lang="en-US" sz="1600" dirty="0"/>
          </a:p>
        </p:txBody>
      </p:sp>
      <p:sp>
        <p:nvSpPr>
          <p:cNvPr id="23" name="Text 21"/>
          <p:cNvSpPr txBox="1"/>
          <p:nvPr/>
        </p:nvSpPr>
        <p:spPr>
          <a:xfrm>
            <a:off x="7284568" y="4489704"/>
            <a:ext cx="4038448" cy="868680"/>
          </a:xfrm>
          <a:prstGeom prst="rect">
            <a:avLst/>
          </a:prstGeom>
          <a:noFill/>
          <a:ln/>
        </p:spPr>
        <p:txBody>
          <a:bodyPr wrap="square" lIns="0" tIns="0" rIns="0" bIns="0" rtlCol="0" anchor="t"/>
          <a:lstStyle/>
          <a:p>
            <a:pPr indent="0" marL="0">
              <a:lnSpc>
                <a:spcPts val="1700"/>
              </a:lnSpc>
              <a:buNone/>
            </a:pPr>
            <a:r>
              <a:rPr lang="en-US" sz="1250" dirty="0">
                <a:solidFill>
                  <a:srgbClr val="6B8F87"/>
                </a:solidFill>
                <a:latin typeface="Calibri" pitchFamily="34" charset="0"/>
                <a:ea typeface="Calibri" pitchFamily="34" charset="-122"/>
                <a:cs typeface="Calibri" pitchFamily="34" charset="-120"/>
              </a:rPr>
              <a:t>Approved templates put order updates directly in the customer's chat list, where they are actually read.</a:t>
            </a:r>
            <a:endParaRPr lang="en-US" sz="1250" dirty="0"/>
          </a:p>
        </p:txBody>
      </p:sp>
      <p:sp>
        <p:nvSpPr>
          <p:cNvPr id="24" name="Text 22"/>
          <p:cNvSpPr txBox="1"/>
          <p:nvPr/>
        </p:nvSpPr>
        <p:spPr>
          <a:xfrm>
            <a:off x="548640" y="5760720"/>
            <a:ext cx="11094415" cy="365760"/>
          </a:xfrm>
          <a:prstGeom prst="rect">
            <a:avLst/>
          </a:prstGeom>
          <a:noFill/>
          <a:ln/>
        </p:spPr>
        <p:txBody>
          <a:bodyPr wrap="square" lIns="0" tIns="0" rIns="0" bIns="0" rtlCol="0" anchor="ctr"/>
          <a:lstStyle/>
          <a:p>
            <a:pPr indent="0" marL="0">
              <a:buNone/>
            </a:pPr>
            <a:r>
              <a:rPr lang="en-US" sz="1350" i="1" dirty="0">
                <a:solidFill>
                  <a:srgbClr val="0E6B5C"/>
                </a:solidFill>
                <a:latin typeface="Calibri" pitchFamily="34" charset="0"/>
                <a:ea typeface="Calibri" pitchFamily="34" charset="-122"/>
                <a:cs typeface="Calibri" pitchFamily="34" charset="-120"/>
              </a:rPr>
              <a:t>The value is not the chatbot. It is the backend behind it — orders, payments, logistics, and operations.</a:t>
            </a:r>
            <a:endParaRPr lang="en-US" sz="1350" dirty="0"/>
          </a:p>
        </p:txBody>
      </p:sp>
      <p:sp>
        <p:nvSpPr>
          <p:cNvPr id="26" name="Text 23"/>
          <p:cNvSpPr txBox="1"/>
          <p:nvPr/>
        </p:nvSpPr>
        <p:spPr>
          <a:xfrm>
            <a:off x="11094415" y="6199632"/>
            <a:ext cx="548640" cy="274320"/>
          </a:xfrm>
          <a:prstGeom prst="rect">
            <a:avLst/>
          </a:prstGeom>
          <a:noFill/>
          <a:ln/>
        </p:spPr>
        <p:txBody>
          <a:bodyPr wrap="square" lIns="0" tIns="0" rIns="0" bIns="0" rtlCol="0" anchor="ctr"/>
          <a:lstStyle/>
          <a:p>
            <a:pPr algn="r" indent="0" marL="0">
              <a:buNone/>
            </a:pPr>
            <a:r>
              <a:rPr lang="en-US" sz="1000" dirty="0">
                <a:solidFill>
                  <a:srgbClr val="9DB8B1"/>
                </a:solidFill>
                <a:latin typeface="Calibri" pitchFamily="34" charset="0"/>
                <a:ea typeface="Calibri" pitchFamily="34" charset="-122"/>
                <a:cs typeface="Calibri" pitchFamily="34" charset="-120"/>
              </a:rPr>
              <a:t>2</a:t>
            </a:r>
            <a:endParaRPr lang="en-US" sz="1000" dirty="0"/>
          </a:p>
        </p:txBody>
      </p:sp>
      <p:sp>
        <p:nvSpPr>
          <p:cNvPr id="27" name="Text 24"/>
          <p:cNvSpPr txBox="1"/>
          <p:nvPr/>
        </p:nvSpPr>
        <p:spPr>
          <a:xfrm>
            <a:off x="548640" y="6199632"/>
            <a:ext cx="4572000" cy="274320"/>
          </a:xfrm>
          <a:prstGeom prst="rect">
            <a:avLst/>
          </a:prstGeom>
          <a:noFill/>
          <a:ln/>
        </p:spPr>
        <p:txBody>
          <a:bodyPr wrap="square" lIns="0" tIns="0" rIns="0" bIns="0" rtlCol="0" anchor="ctr"/>
          <a:lstStyle/>
          <a:p>
            <a:pPr algn="l" indent="0" marL="0">
              <a:buNone/>
            </a:pPr>
            <a:r>
              <a:rPr lang="en-US" sz="900" dirty="0">
                <a:solidFill>
                  <a:srgbClr val="9DB8B1"/>
                </a:solidFill>
                <a:latin typeface="Calibri" pitchFamily="34" charset="0"/>
                <a:ea typeface="Calibri" pitchFamily="34" charset="-122"/>
                <a:cs typeface="Calibri" pitchFamily="34" charset="-120"/>
              </a:rPr>
              <a:t>WhatsApp Commerce Platform  ·  Implementation Plan v2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56032"/>
          </a:xfrm>
          <a:prstGeom prst="rect">
            <a:avLst/>
          </a:prstGeom>
          <a:noFill/>
          <a:ln/>
        </p:spPr>
        <p:txBody>
          <a:bodyPr wrap="square" lIns="0" tIns="0" rIns="0" bIns="0" rtlCol="0" anchor="ctr"/>
          <a:lstStyle/>
          <a:p>
            <a:pPr algn="l" indent="0" marL="0">
              <a:buNone/>
            </a:pPr>
            <a:r>
              <a:rPr lang="en-US" sz="1100" b="1" spc="200" kern="0" dirty="0">
                <a:solidFill>
                  <a:srgbClr val="0E6B5C"/>
                </a:solidFill>
                <a:latin typeface="Calibri" pitchFamily="34" charset="0"/>
                <a:ea typeface="Calibri" pitchFamily="34" charset="-122"/>
                <a:cs typeface="Calibri" pitchFamily="34" charset="-120"/>
              </a:rPr>
              <a:t>SCOPE</a:t>
            </a:r>
            <a:endParaRPr lang="en-US" sz="1100" dirty="0"/>
          </a:p>
        </p:txBody>
      </p:sp>
      <p:sp>
        <p:nvSpPr>
          <p:cNvPr id="3" name="Text 1"/>
          <p:cNvSpPr txBox="1"/>
          <p:nvPr/>
        </p:nvSpPr>
        <p:spPr>
          <a:xfrm>
            <a:off x="548640" y="640080"/>
            <a:ext cx="11094415" cy="731520"/>
          </a:xfrm>
          <a:prstGeom prst="rect">
            <a:avLst/>
          </a:prstGeom>
          <a:noFill/>
          <a:ln/>
        </p:spPr>
        <p:txBody>
          <a:bodyPr wrap="square" lIns="0" tIns="0" rIns="0" bIns="0" rtlCol="0" anchor="ctr"/>
          <a:lstStyle/>
          <a:p>
            <a:pPr algn="l" indent="0" marL="0">
              <a:buNone/>
            </a:pPr>
            <a:r>
              <a:rPr lang="en-US" sz="3300" b="1" dirty="0">
                <a:solidFill>
                  <a:srgbClr val="1F2A28"/>
                </a:solidFill>
                <a:latin typeface="Cambria" pitchFamily="34" charset="0"/>
                <a:ea typeface="Cambria" pitchFamily="34" charset="-122"/>
                <a:cs typeface="Cambria" pitchFamily="34" charset="-120"/>
              </a:rPr>
              <a:t>What version one actually ships</a:t>
            </a:r>
            <a:endParaRPr lang="en-US" sz="3300" dirty="0"/>
          </a:p>
        </p:txBody>
      </p:sp>
      <p:sp>
        <p:nvSpPr>
          <p:cNvPr id="4" name="Shape 2"/>
          <p:cNvSpPr/>
          <p:nvPr/>
        </p:nvSpPr>
        <p:spPr>
          <a:xfrm>
            <a:off x="548640" y="1691640"/>
            <a:ext cx="3515258" cy="1417320"/>
          </a:xfrm>
          <a:prstGeom prst="roundRect">
            <a:avLst>
              <a:gd name="adj" fmla="val 6452"/>
            </a:avLst>
          </a:prstGeom>
          <a:solidFill>
            <a:srgbClr val="FFFFFF"/>
          </a:solidFill>
          <a:ln w="15875">
            <a:solidFill>
              <a:srgbClr val="E4EDEA"/>
            </a:solidFill>
            <a:prstDash val="solid"/>
          </a:ln>
          <a:effectLst>
            <a:outerShdw sx="100000" sy="100000" kx="0" ky="0" algn="bl" rotWithShape="0" blurRad="127000" dist="25400" dir="5400000">
              <a:srgbClr val="000000">
                <a:alpha val="10000"/>
              </a:srgbClr>
            </a:outerShdw>
          </a:effectLst>
        </p:spPr>
      </p:sp>
      <p:sp>
        <p:nvSpPr>
          <p:cNvPr id="5" name="Shape 3"/>
          <p:cNvSpPr/>
          <p:nvPr/>
        </p:nvSpPr>
        <p:spPr>
          <a:xfrm>
            <a:off x="822960" y="1984248"/>
            <a:ext cx="182880" cy="182880"/>
          </a:xfrm>
          <a:prstGeom prst="ellipse">
            <a:avLst/>
          </a:prstGeom>
          <a:solidFill>
            <a:srgbClr val="F2B705"/>
          </a:solidFill>
          <a:ln/>
        </p:spPr>
      </p:sp>
      <p:sp>
        <p:nvSpPr>
          <p:cNvPr id="6" name="Text 4"/>
          <p:cNvSpPr txBox="1"/>
          <p:nvPr/>
        </p:nvSpPr>
        <p:spPr>
          <a:xfrm>
            <a:off x="1115568" y="1911096"/>
            <a:ext cx="2646578" cy="329184"/>
          </a:xfrm>
          <a:prstGeom prst="rect">
            <a:avLst/>
          </a:prstGeom>
          <a:noFill/>
          <a:ln/>
        </p:spPr>
        <p:txBody>
          <a:bodyPr wrap="square" lIns="0" tIns="0" rIns="0" bIns="0" rtlCol="0" anchor="ctr"/>
          <a:lstStyle/>
          <a:p>
            <a:pPr indent="0" marL="0">
              <a:buNone/>
            </a:pPr>
            <a:r>
              <a:rPr lang="en-US" sz="1450" b="1" dirty="0">
                <a:solidFill>
                  <a:srgbClr val="1F2A28"/>
                </a:solidFill>
                <a:latin typeface="Calibri" pitchFamily="34" charset="0"/>
                <a:ea typeface="Calibri" pitchFamily="34" charset="-122"/>
                <a:cs typeface="Calibri" pitchFamily="34" charset="-120"/>
              </a:rPr>
              <a:t>Catalogue browsing</a:t>
            </a:r>
            <a:endParaRPr lang="en-US" sz="1450" dirty="0"/>
          </a:p>
        </p:txBody>
      </p:sp>
      <p:sp>
        <p:nvSpPr>
          <p:cNvPr id="7" name="Text 5"/>
          <p:cNvSpPr txBox="1"/>
          <p:nvPr/>
        </p:nvSpPr>
        <p:spPr>
          <a:xfrm>
            <a:off x="822960" y="2313432"/>
            <a:ext cx="2966618" cy="658368"/>
          </a:xfrm>
          <a:prstGeom prst="rect">
            <a:avLst/>
          </a:prstGeom>
          <a:noFill/>
          <a:ln/>
        </p:spPr>
        <p:txBody>
          <a:bodyPr wrap="square" lIns="0" tIns="0" rIns="0" bIns="0" rtlCol="0" anchor="t"/>
          <a:lstStyle/>
          <a:p>
            <a:pPr indent="0" marL="0">
              <a:lnSpc>
                <a:spcPts val="1550"/>
              </a:lnSpc>
              <a:buNone/>
            </a:pPr>
            <a:r>
              <a:rPr lang="en-US" sz="1150" dirty="0">
                <a:solidFill>
                  <a:srgbClr val="6B8F87"/>
                </a:solidFill>
                <a:latin typeface="Calibri" pitchFamily="34" charset="0"/>
                <a:ea typeface="Calibri" pitchFamily="34" charset="-122"/>
                <a:cs typeface="Calibri" pitchFamily="34" charset="-120"/>
              </a:rPr>
              <a:t>Categories, products, images and stock, presented as WhatsApp lists and buttons.</a:t>
            </a:r>
            <a:endParaRPr lang="en-US" sz="1150" dirty="0"/>
          </a:p>
        </p:txBody>
      </p:sp>
      <p:sp>
        <p:nvSpPr>
          <p:cNvPr id="8" name="Shape 6"/>
          <p:cNvSpPr/>
          <p:nvPr/>
        </p:nvSpPr>
        <p:spPr>
          <a:xfrm>
            <a:off x="4338218" y="1691640"/>
            <a:ext cx="3515258" cy="1417320"/>
          </a:xfrm>
          <a:prstGeom prst="roundRect">
            <a:avLst>
              <a:gd name="adj" fmla="val 6452"/>
            </a:avLst>
          </a:prstGeom>
          <a:solidFill>
            <a:srgbClr val="FFFFFF"/>
          </a:solidFill>
          <a:ln w="15875">
            <a:solidFill>
              <a:srgbClr val="E4EDEA"/>
            </a:solidFill>
            <a:prstDash val="solid"/>
          </a:ln>
          <a:effectLst>
            <a:outerShdw sx="100000" sy="100000" kx="0" ky="0" algn="bl" rotWithShape="0" blurRad="127000" dist="25400" dir="5400000">
              <a:srgbClr val="000000">
                <a:alpha val="10000"/>
              </a:srgbClr>
            </a:outerShdw>
          </a:effectLst>
        </p:spPr>
      </p:sp>
      <p:sp>
        <p:nvSpPr>
          <p:cNvPr id="9" name="Shape 7"/>
          <p:cNvSpPr/>
          <p:nvPr/>
        </p:nvSpPr>
        <p:spPr>
          <a:xfrm>
            <a:off x="4612538" y="1984248"/>
            <a:ext cx="182880" cy="182880"/>
          </a:xfrm>
          <a:prstGeom prst="ellipse">
            <a:avLst/>
          </a:prstGeom>
          <a:solidFill>
            <a:srgbClr val="F2B705"/>
          </a:solidFill>
          <a:ln/>
        </p:spPr>
      </p:sp>
      <p:sp>
        <p:nvSpPr>
          <p:cNvPr id="10" name="Text 8"/>
          <p:cNvSpPr txBox="1"/>
          <p:nvPr/>
        </p:nvSpPr>
        <p:spPr>
          <a:xfrm>
            <a:off x="4905146" y="1911096"/>
            <a:ext cx="2646578" cy="329184"/>
          </a:xfrm>
          <a:prstGeom prst="rect">
            <a:avLst/>
          </a:prstGeom>
          <a:noFill/>
          <a:ln/>
        </p:spPr>
        <p:txBody>
          <a:bodyPr wrap="square" lIns="0" tIns="0" rIns="0" bIns="0" rtlCol="0" anchor="ctr"/>
          <a:lstStyle/>
          <a:p>
            <a:pPr indent="0" marL="0">
              <a:buNone/>
            </a:pPr>
            <a:r>
              <a:rPr lang="en-US" sz="1450" b="1" dirty="0">
                <a:solidFill>
                  <a:srgbClr val="1F2A28"/>
                </a:solidFill>
                <a:latin typeface="Calibri" pitchFamily="34" charset="0"/>
                <a:ea typeface="Calibri" pitchFamily="34" charset="-122"/>
                <a:cs typeface="Calibri" pitchFamily="34" charset="-120"/>
              </a:rPr>
              <a:t>Cart &amp; order capture</a:t>
            </a:r>
            <a:endParaRPr lang="en-US" sz="1450" dirty="0"/>
          </a:p>
        </p:txBody>
      </p:sp>
      <p:sp>
        <p:nvSpPr>
          <p:cNvPr id="11" name="Text 9"/>
          <p:cNvSpPr txBox="1"/>
          <p:nvPr/>
        </p:nvSpPr>
        <p:spPr>
          <a:xfrm>
            <a:off x="4612538" y="2313432"/>
            <a:ext cx="2966618" cy="658368"/>
          </a:xfrm>
          <a:prstGeom prst="rect">
            <a:avLst/>
          </a:prstGeom>
          <a:noFill/>
          <a:ln/>
        </p:spPr>
        <p:txBody>
          <a:bodyPr wrap="square" lIns="0" tIns="0" rIns="0" bIns="0" rtlCol="0" anchor="t"/>
          <a:lstStyle/>
          <a:p>
            <a:pPr indent="0" marL="0">
              <a:lnSpc>
                <a:spcPts val="1550"/>
              </a:lnSpc>
              <a:buNone/>
            </a:pPr>
            <a:r>
              <a:rPr lang="en-US" sz="1150" dirty="0">
                <a:solidFill>
                  <a:srgbClr val="6B8F87"/>
                </a:solidFill>
                <a:latin typeface="Calibri" pitchFamily="34" charset="0"/>
                <a:ea typeface="Calibri" pitchFamily="34" charset="-122"/>
                <a:cs typeface="Calibri" pitchFamily="34" charset="-120"/>
              </a:rPr>
              <a:t>Guided quantity selection, cart confirmation, and draft-to-final order conversion.</a:t>
            </a:r>
            <a:endParaRPr lang="en-US" sz="1150" dirty="0"/>
          </a:p>
        </p:txBody>
      </p:sp>
      <p:sp>
        <p:nvSpPr>
          <p:cNvPr id="12" name="Shape 10"/>
          <p:cNvSpPr/>
          <p:nvPr/>
        </p:nvSpPr>
        <p:spPr>
          <a:xfrm>
            <a:off x="8127797" y="1691640"/>
            <a:ext cx="3515258" cy="1417320"/>
          </a:xfrm>
          <a:prstGeom prst="roundRect">
            <a:avLst>
              <a:gd name="adj" fmla="val 6452"/>
            </a:avLst>
          </a:prstGeom>
          <a:solidFill>
            <a:srgbClr val="FFFFFF"/>
          </a:solidFill>
          <a:ln w="15875">
            <a:solidFill>
              <a:srgbClr val="E4EDEA"/>
            </a:solidFill>
            <a:prstDash val="solid"/>
          </a:ln>
          <a:effectLst>
            <a:outerShdw sx="100000" sy="100000" kx="0" ky="0" algn="bl" rotWithShape="0" blurRad="127000" dist="25400" dir="5400000">
              <a:srgbClr val="000000">
                <a:alpha val="10000"/>
              </a:srgbClr>
            </a:outerShdw>
          </a:effectLst>
        </p:spPr>
      </p:sp>
      <p:sp>
        <p:nvSpPr>
          <p:cNvPr id="13" name="Shape 11"/>
          <p:cNvSpPr/>
          <p:nvPr/>
        </p:nvSpPr>
        <p:spPr>
          <a:xfrm>
            <a:off x="8402117" y="1984248"/>
            <a:ext cx="182880" cy="182880"/>
          </a:xfrm>
          <a:prstGeom prst="ellipse">
            <a:avLst/>
          </a:prstGeom>
          <a:solidFill>
            <a:srgbClr val="F2B705"/>
          </a:solidFill>
          <a:ln/>
        </p:spPr>
      </p:sp>
      <p:sp>
        <p:nvSpPr>
          <p:cNvPr id="14" name="Text 12"/>
          <p:cNvSpPr txBox="1"/>
          <p:nvPr/>
        </p:nvSpPr>
        <p:spPr>
          <a:xfrm>
            <a:off x="8694725" y="1911096"/>
            <a:ext cx="2646578" cy="329184"/>
          </a:xfrm>
          <a:prstGeom prst="rect">
            <a:avLst/>
          </a:prstGeom>
          <a:noFill/>
          <a:ln/>
        </p:spPr>
        <p:txBody>
          <a:bodyPr wrap="square" lIns="0" tIns="0" rIns="0" bIns="0" rtlCol="0" anchor="ctr"/>
          <a:lstStyle/>
          <a:p>
            <a:pPr indent="0" marL="0">
              <a:buNone/>
            </a:pPr>
            <a:r>
              <a:rPr lang="en-US" sz="1450" b="1" dirty="0">
                <a:solidFill>
                  <a:srgbClr val="1F2A28"/>
                </a:solidFill>
                <a:latin typeface="Calibri" pitchFamily="34" charset="0"/>
                <a:ea typeface="Calibri" pitchFamily="34" charset="-122"/>
                <a:cs typeface="Calibri" pitchFamily="34" charset="-120"/>
              </a:rPr>
              <a:t>Location pin capture</a:t>
            </a:r>
            <a:endParaRPr lang="en-US" sz="1450" dirty="0"/>
          </a:p>
        </p:txBody>
      </p:sp>
      <p:sp>
        <p:nvSpPr>
          <p:cNvPr id="15" name="Text 13"/>
          <p:cNvSpPr txBox="1"/>
          <p:nvPr/>
        </p:nvSpPr>
        <p:spPr>
          <a:xfrm>
            <a:off x="8402117" y="2313432"/>
            <a:ext cx="2966618" cy="658368"/>
          </a:xfrm>
          <a:prstGeom prst="rect">
            <a:avLst/>
          </a:prstGeom>
          <a:noFill/>
          <a:ln/>
        </p:spPr>
        <p:txBody>
          <a:bodyPr wrap="square" lIns="0" tIns="0" rIns="0" bIns="0" rtlCol="0" anchor="t"/>
          <a:lstStyle/>
          <a:p>
            <a:pPr indent="0" marL="0">
              <a:lnSpc>
                <a:spcPts val="1550"/>
              </a:lnSpc>
              <a:buNone/>
            </a:pPr>
            <a:r>
              <a:rPr lang="en-US" sz="1150" dirty="0">
                <a:solidFill>
                  <a:srgbClr val="6B8F87"/>
                </a:solidFill>
                <a:latin typeface="Calibri" pitchFamily="34" charset="0"/>
                <a:ea typeface="Calibri" pitchFamily="34" charset="-122"/>
                <a:cs typeface="Calibri" pitchFamily="34" charset="-120"/>
              </a:rPr>
              <a:t>In-chat location request, reverse geocoding, landmark notes, serviceability check.</a:t>
            </a:r>
            <a:endParaRPr lang="en-US" sz="1150" dirty="0"/>
          </a:p>
        </p:txBody>
      </p:sp>
      <p:sp>
        <p:nvSpPr>
          <p:cNvPr id="16" name="Shape 14"/>
          <p:cNvSpPr/>
          <p:nvPr/>
        </p:nvSpPr>
        <p:spPr>
          <a:xfrm>
            <a:off x="548640" y="3383280"/>
            <a:ext cx="3515258" cy="1417320"/>
          </a:xfrm>
          <a:prstGeom prst="roundRect">
            <a:avLst>
              <a:gd name="adj" fmla="val 6452"/>
            </a:avLst>
          </a:prstGeom>
          <a:solidFill>
            <a:srgbClr val="FFFFFF"/>
          </a:solidFill>
          <a:ln w="15875">
            <a:solidFill>
              <a:srgbClr val="E4EDEA"/>
            </a:solidFill>
            <a:prstDash val="solid"/>
          </a:ln>
          <a:effectLst>
            <a:outerShdw sx="100000" sy="100000" kx="0" ky="0" algn="bl" rotWithShape="0" blurRad="127000" dist="25400" dir="5400000">
              <a:srgbClr val="000000">
                <a:alpha val="10000"/>
              </a:srgbClr>
            </a:outerShdw>
          </a:effectLst>
        </p:spPr>
      </p:sp>
      <p:sp>
        <p:nvSpPr>
          <p:cNvPr id="17" name="Shape 15"/>
          <p:cNvSpPr/>
          <p:nvPr/>
        </p:nvSpPr>
        <p:spPr>
          <a:xfrm>
            <a:off x="822960" y="3675888"/>
            <a:ext cx="182880" cy="182880"/>
          </a:xfrm>
          <a:prstGeom prst="ellipse">
            <a:avLst/>
          </a:prstGeom>
          <a:solidFill>
            <a:srgbClr val="F2B705"/>
          </a:solidFill>
          <a:ln/>
        </p:spPr>
      </p:sp>
      <p:sp>
        <p:nvSpPr>
          <p:cNvPr id="18" name="Text 16"/>
          <p:cNvSpPr txBox="1"/>
          <p:nvPr/>
        </p:nvSpPr>
        <p:spPr>
          <a:xfrm>
            <a:off x="1115568" y="3602736"/>
            <a:ext cx="2646578" cy="329184"/>
          </a:xfrm>
          <a:prstGeom prst="rect">
            <a:avLst/>
          </a:prstGeom>
          <a:noFill/>
          <a:ln/>
        </p:spPr>
        <p:txBody>
          <a:bodyPr wrap="square" lIns="0" tIns="0" rIns="0" bIns="0" rtlCol="0" anchor="ctr"/>
          <a:lstStyle/>
          <a:p>
            <a:pPr indent="0" marL="0">
              <a:buNone/>
            </a:pPr>
            <a:r>
              <a:rPr lang="en-US" sz="1450" b="1" dirty="0">
                <a:solidFill>
                  <a:srgbClr val="1F2A28"/>
                </a:solidFill>
                <a:latin typeface="Calibri" pitchFamily="34" charset="0"/>
                <a:ea typeface="Calibri" pitchFamily="34" charset="-122"/>
                <a:cs typeface="Calibri" pitchFamily="34" charset="-120"/>
              </a:rPr>
              <a:t>COD + payment links</a:t>
            </a:r>
            <a:endParaRPr lang="en-US" sz="1450" dirty="0"/>
          </a:p>
        </p:txBody>
      </p:sp>
      <p:sp>
        <p:nvSpPr>
          <p:cNvPr id="19" name="Text 17"/>
          <p:cNvSpPr txBox="1"/>
          <p:nvPr/>
        </p:nvSpPr>
        <p:spPr>
          <a:xfrm>
            <a:off x="822960" y="4005072"/>
            <a:ext cx="2966618" cy="658368"/>
          </a:xfrm>
          <a:prstGeom prst="rect">
            <a:avLst/>
          </a:prstGeom>
          <a:noFill/>
          <a:ln/>
        </p:spPr>
        <p:txBody>
          <a:bodyPr wrap="square" lIns="0" tIns="0" rIns="0" bIns="0" rtlCol="0" anchor="t"/>
          <a:lstStyle/>
          <a:p>
            <a:pPr indent="0" marL="0">
              <a:lnSpc>
                <a:spcPts val="1550"/>
              </a:lnSpc>
              <a:buNone/>
            </a:pPr>
            <a:r>
              <a:rPr lang="en-US" sz="1150" dirty="0">
                <a:solidFill>
                  <a:srgbClr val="6B8F87"/>
                </a:solidFill>
                <a:latin typeface="Calibri" pitchFamily="34" charset="0"/>
                <a:ea typeface="Calibri" pitchFamily="34" charset="-122"/>
                <a:cs typeface="Calibri" pitchFamily="34" charset="-120"/>
              </a:rPr>
              <a:t>Cash on delivery with eligibility rules, or a secure expiring payment link.</a:t>
            </a:r>
            <a:endParaRPr lang="en-US" sz="1150" dirty="0"/>
          </a:p>
        </p:txBody>
      </p:sp>
      <p:sp>
        <p:nvSpPr>
          <p:cNvPr id="20" name="Shape 18"/>
          <p:cNvSpPr/>
          <p:nvPr/>
        </p:nvSpPr>
        <p:spPr>
          <a:xfrm>
            <a:off x="4338218" y="3383280"/>
            <a:ext cx="3515258" cy="1417320"/>
          </a:xfrm>
          <a:prstGeom prst="roundRect">
            <a:avLst>
              <a:gd name="adj" fmla="val 6452"/>
            </a:avLst>
          </a:prstGeom>
          <a:solidFill>
            <a:srgbClr val="FFFFFF"/>
          </a:solidFill>
          <a:ln w="15875">
            <a:solidFill>
              <a:srgbClr val="E4EDEA"/>
            </a:solidFill>
            <a:prstDash val="solid"/>
          </a:ln>
          <a:effectLst>
            <a:outerShdw sx="100000" sy="100000" kx="0" ky="0" algn="bl" rotWithShape="0" blurRad="127000" dist="25400" dir="5400000">
              <a:srgbClr val="000000">
                <a:alpha val="10000"/>
              </a:srgbClr>
            </a:outerShdw>
          </a:effectLst>
        </p:spPr>
      </p:sp>
      <p:sp>
        <p:nvSpPr>
          <p:cNvPr id="21" name="Shape 19"/>
          <p:cNvSpPr/>
          <p:nvPr/>
        </p:nvSpPr>
        <p:spPr>
          <a:xfrm>
            <a:off x="4612538" y="3675888"/>
            <a:ext cx="182880" cy="182880"/>
          </a:xfrm>
          <a:prstGeom prst="ellipse">
            <a:avLst/>
          </a:prstGeom>
          <a:solidFill>
            <a:srgbClr val="F2B705"/>
          </a:solidFill>
          <a:ln/>
        </p:spPr>
      </p:sp>
      <p:sp>
        <p:nvSpPr>
          <p:cNvPr id="22" name="Text 20"/>
          <p:cNvSpPr txBox="1"/>
          <p:nvPr/>
        </p:nvSpPr>
        <p:spPr>
          <a:xfrm>
            <a:off x="4905146" y="3602736"/>
            <a:ext cx="2646578" cy="329184"/>
          </a:xfrm>
          <a:prstGeom prst="rect">
            <a:avLst/>
          </a:prstGeom>
          <a:noFill/>
          <a:ln/>
        </p:spPr>
        <p:txBody>
          <a:bodyPr wrap="square" lIns="0" tIns="0" rIns="0" bIns="0" rtlCol="0" anchor="ctr"/>
          <a:lstStyle/>
          <a:p>
            <a:pPr indent="0" marL="0">
              <a:buNone/>
            </a:pPr>
            <a:r>
              <a:rPr lang="en-US" sz="1450" b="1" dirty="0">
                <a:solidFill>
                  <a:srgbClr val="1F2A28"/>
                </a:solidFill>
                <a:latin typeface="Calibri" pitchFamily="34" charset="0"/>
                <a:ea typeface="Calibri" pitchFamily="34" charset="-122"/>
                <a:cs typeface="Calibri" pitchFamily="34" charset="-120"/>
              </a:rPr>
              <a:t>Fulfilment &amp; tracking</a:t>
            </a:r>
            <a:endParaRPr lang="en-US" sz="1450" dirty="0"/>
          </a:p>
        </p:txBody>
      </p:sp>
      <p:sp>
        <p:nvSpPr>
          <p:cNvPr id="23" name="Text 21"/>
          <p:cNvSpPr txBox="1"/>
          <p:nvPr/>
        </p:nvSpPr>
        <p:spPr>
          <a:xfrm>
            <a:off x="4612538" y="4005072"/>
            <a:ext cx="2966618" cy="658368"/>
          </a:xfrm>
          <a:prstGeom prst="rect">
            <a:avLst/>
          </a:prstGeom>
          <a:noFill/>
          <a:ln/>
        </p:spPr>
        <p:txBody>
          <a:bodyPr wrap="square" lIns="0" tIns="0" rIns="0" bIns="0" rtlCol="0" anchor="t"/>
          <a:lstStyle/>
          <a:p>
            <a:pPr indent="0" marL="0">
              <a:lnSpc>
                <a:spcPts val="1550"/>
              </a:lnSpc>
              <a:buNone/>
            </a:pPr>
            <a:r>
              <a:rPr lang="en-US" sz="1150" dirty="0">
                <a:solidFill>
                  <a:srgbClr val="6B8F87"/>
                </a:solidFill>
                <a:latin typeface="Calibri" pitchFamily="34" charset="0"/>
                <a:ea typeface="Calibri" pitchFamily="34" charset="-122"/>
                <a:cs typeface="Calibri" pitchFamily="34" charset="-120"/>
              </a:rPr>
              <a:t>Shipment booking, normalised courier states, rider assignment, live tracking page.</a:t>
            </a:r>
            <a:endParaRPr lang="en-US" sz="1150" dirty="0"/>
          </a:p>
        </p:txBody>
      </p:sp>
      <p:sp>
        <p:nvSpPr>
          <p:cNvPr id="24" name="Shape 22"/>
          <p:cNvSpPr/>
          <p:nvPr/>
        </p:nvSpPr>
        <p:spPr>
          <a:xfrm>
            <a:off x="8127797" y="3383280"/>
            <a:ext cx="3515258" cy="1417320"/>
          </a:xfrm>
          <a:prstGeom prst="roundRect">
            <a:avLst>
              <a:gd name="adj" fmla="val 6452"/>
            </a:avLst>
          </a:prstGeom>
          <a:solidFill>
            <a:srgbClr val="FFFFFF"/>
          </a:solidFill>
          <a:ln w="15875">
            <a:solidFill>
              <a:srgbClr val="E4EDEA"/>
            </a:solidFill>
            <a:prstDash val="solid"/>
          </a:ln>
          <a:effectLst>
            <a:outerShdw sx="100000" sy="100000" kx="0" ky="0" algn="bl" rotWithShape="0" blurRad="127000" dist="25400" dir="5400000">
              <a:srgbClr val="000000">
                <a:alpha val="10000"/>
              </a:srgbClr>
            </a:outerShdw>
          </a:effectLst>
        </p:spPr>
      </p:sp>
      <p:sp>
        <p:nvSpPr>
          <p:cNvPr id="25" name="Shape 23"/>
          <p:cNvSpPr/>
          <p:nvPr/>
        </p:nvSpPr>
        <p:spPr>
          <a:xfrm>
            <a:off x="8402117" y="3675888"/>
            <a:ext cx="182880" cy="182880"/>
          </a:xfrm>
          <a:prstGeom prst="ellipse">
            <a:avLst/>
          </a:prstGeom>
          <a:solidFill>
            <a:srgbClr val="F2B705"/>
          </a:solidFill>
          <a:ln/>
        </p:spPr>
      </p:sp>
      <p:sp>
        <p:nvSpPr>
          <p:cNvPr id="26" name="Text 24"/>
          <p:cNvSpPr txBox="1"/>
          <p:nvPr/>
        </p:nvSpPr>
        <p:spPr>
          <a:xfrm>
            <a:off x="8694725" y="3602736"/>
            <a:ext cx="2646578" cy="329184"/>
          </a:xfrm>
          <a:prstGeom prst="rect">
            <a:avLst/>
          </a:prstGeom>
          <a:noFill/>
          <a:ln/>
        </p:spPr>
        <p:txBody>
          <a:bodyPr wrap="square" lIns="0" tIns="0" rIns="0" bIns="0" rtlCol="0" anchor="ctr"/>
          <a:lstStyle/>
          <a:p>
            <a:pPr indent="0" marL="0">
              <a:buNone/>
            </a:pPr>
            <a:r>
              <a:rPr lang="en-US" sz="1450" b="1" dirty="0">
                <a:solidFill>
                  <a:srgbClr val="1F2A28"/>
                </a:solidFill>
                <a:latin typeface="Calibri" pitchFamily="34" charset="0"/>
                <a:ea typeface="Calibri" pitchFamily="34" charset="-122"/>
                <a:cs typeface="Calibri" pitchFamily="34" charset="-120"/>
              </a:rPr>
              <a:t>Admin operations panel</a:t>
            </a:r>
            <a:endParaRPr lang="en-US" sz="1450" dirty="0"/>
          </a:p>
        </p:txBody>
      </p:sp>
      <p:sp>
        <p:nvSpPr>
          <p:cNvPr id="27" name="Text 25"/>
          <p:cNvSpPr txBox="1"/>
          <p:nvPr/>
        </p:nvSpPr>
        <p:spPr>
          <a:xfrm>
            <a:off x="8402117" y="4005072"/>
            <a:ext cx="2966618" cy="658368"/>
          </a:xfrm>
          <a:prstGeom prst="rect">
            <a:avLst/>
          </a:prstGeom>
          <a:noFill/>
          <a:ln/>
        </p:spPr>
        <p:txBody>
          <a:bodyPr wrap="square" lIns="0" tIns="0" rIns="0" bIns="0" rtlCol="0" anchor="t"/>
          <a:lstStyle/>
          <a:p>
            <a:pPr indent="0" marL="0">
              <a:lnSpc>
                <a:spcPts val="1550"/>
              </a:lnSpc>
              <a:buNone/>
            </a:pPr>
            <a:r>
              <a:rPr lang="en-US" sz="1150" dirty="0">
                <a:solidFill>
                  <a:srgbClr val="6B8F87"/>
                </a:solidFill>
                <a:latin typeface="Calibri" pitchFamily="34" charset="0"/>
                <a:ea typeface="Calibri" pitchFamily="34" charset="-122"/>
                <a:cs typeface="Calibri" pitchFamily="34" charset="-120"/>
              </a:rPr>
              <a:t>Orders, products, manual overrides, resends, pin correction, and reporting.</a:t>
            </a:r>
            <a:endParaRPr lang="en-US" sz="1150" dirty="0"/>
          </a:p>
        </p:txBody>
      </p:sp>
      <p:sp>
        <p:nvSpPr>
          <p:cNvPr id="28" name="Shape 26"/>
          <p:cNvSpPr/>
          <p:nvPr/>
        </p:nvSpPr>
        <p:spPr>
          <a:xfrm>
            <a:off x="548640" y="4846320"/>
            <a:ext cx="11094415" cy="960120"/>
          </a:xfrm>
          <a:prstGeom prst="roundRect">
            <a:avLst>
              <a:gd name="adj" fmla="val 9524"/>
            </a:avLst>
          </a:prstGeom>
          <a:solidFill>
            <a:srgbClr val="0B2B26"/>
          </a:solidFill>
          <a:ln/>
        </p:spPr>
      </p:sp>
      <p:sp>
        <p:nvSpPr>
          <p:cNvPr id="29" name="Text 27"/>
          <p:cNvSpPr txBox="1"/>
          <p:nvPr/>
        </p:nvSpPr>
        <p:spPr>
          <a:xfrm>
            <a:off x="868680" y="4983480"/>
            <a:ext cx="2743200" cy="292608"/>
          </a:xfrm>
          <a:prstGeom prst="rect">
            <a:avLst/>
          </a:prstGeom>
          <a:noFill/>
          <a:ln/>
        </p:spPr>
        <p:txBody>
          <a:bodyPr wrap="square" lIns="0" tIns="0" rIns="0" bIns="0" rtlCol="0" anchor="ctr"/>
          <a:lstStyle/>
          <a:p>
            <a:pPr indent="0" marL="0">
              <a:buNone/>
            </a:pPr>
            <a:r>
              <a:rPr lang="en-US" sz="1200" b="1" dirty="0">
                <a:solidFill>
                  <a:srgbClr val="F2B705"/>
                </a:solidFill>
                <a:latin typeface="Calibri" pitchFamily="34" charset="0"/>
                <a:ea typeface="Calibri" pitchFamily="34" charset="-122"/>
                <a:cs typeface="Calibri" pitchFamily="34" charset="-120"/>
              </a:rPr>
              <a:t>Deliberately out of v1</a:t>
            </a:r>
            <a:endParaRPr lang="en-US" sz="1200" dirty="0"/>
          </a:p>
        </p:txBody>
      </p:sp>
      <p:sp>
        <p:nvSpPr>
          <p:cNvPr id="30" name="Text 28"/>
          <p:cNvSpPr txBox="1"/>
          <p:nvPr/>
        </p:nvSpPr>
        <p:spPr>
          <a:xfrm>
            <a:off x="868680" y="5285232"/>
            <a:ext cx="10454335" cy="411480"/>
          </a:xfrm>
          <a:prstGeom prst="rect">
            <a:avLst/>
          </a:prstGeom>
          <a:noFill/>
          <a:ln/>
        </p:spPr>
        <p:txBody>
          <a:bodyPr wrap="square" lIns="0" tIns="0" rIns="0" bIns="0" rtlCol="0" anchor="t"/>
          <a:lstStyle/>
          <a:p>
            <a:pPr indent="0" marL="0">
              <a:buNone/>
            </a:pPr>
            <a:r>
              <a:rPr lang="en-US" sz="1200" dirty="0">
                <a:solidFill>
                  <a:srgbClr val="9DB8B1"/>
                </a:solidFill>
                <a:latin typeface="Calibri" pitchFamily="34" charset="0"/>
                <a:ea typeface="Calibri" pitchFamily="34" charset="-122"/>
                <a:cs typeface="Calibri" pitchFamily="34" charset="-120"/>
              </a:rPr>
              <a:t>Free-form AI shopping  ·  loyalty wallet  ·  automated returns engine  ·  multi-vendor marketplace  ·  marketing automation  ·  multi-rider route optimisation  ·  native in-chat payments</a:t>
            </a:r>
            <a:endParaRPr lang="en-US" sz="1200" dirty="0"/>
          </a:p>
        </p:txBody>
      </p:sp>
      <p:sp>
        <p:nvSpPr>
          <p:cNvPr id="32" name="Text 29"/>
          <p:cNvSpPr txBox="1"/>
          <p:nvPr/>
        </p:nvSpPr>
        <p:spPr>
          <a:xfrm>
            <a:off x="11094415" y="6199632"/>
            <a:ext cx="548640" cy="274320"/>
          </a:xfrm>
          <a:prstGeom prst="rect">
            <a:avLst/>
          </a:prstGeom>
          <a:noFill/>
          <a:ln/>
        </p:spPr>
        <p:txBody>
          <a:bodyPr wrap="square" lIns="0" tIns="0" rIns="0" bIns="0" rtlCol="0" anchor="ctr"/>
          <a:lstStyle/>
          <a:p>
            <a:pPr algn="r" indent="0" marL="0">
              <a:buNone/>
            </a:pPr>
            <a:r>
              <a:rPr lang="en-US" sz="1000" dirty="0">
                <a:solidFill>
                  <a:srgbClr val="9DB8B1"/>
                </a:solidFill>
                <a:latin typeface="Calibri" pitchFamily="34" charset="0"/>
                <a:ea typeface="Calibri" pitchFamily="34" charset="-122"/>
                <a:cs typeface="Calibri" pitchFamily="34" charset="-120"/>
              </a:rPr>
              <a:t>3</a:t>
            </a:r>
            <a:endParaRPr lang="en-US" sz="1000" dirty="0"/>
          </a:p>
        </p:txBody>
      </p:sp>
      <p:sp>
        <p:nvSpPr>
          <p:cNvPr id="33" name="Text 30"/>
          <p:cNvSpPr txBox="1"/>
          <p:nvPr/>
        </p:nvSpPr>
        <p:spPr>
          <a:xfrm>
            <a:off x="548640" y="6199632"/>
            <a:ext cx="4572000" cy="274320"/>
          </a:xfrm>
          <a:prstGeom prst="rect">
            <a:avLst/>
          </a:prstGeom>
          <a:noFill/>
          <a:ln/>
        </p:spPr>
        <p:txBody>
          <a:bodyPr wrap="square" lIns="0" tIns="0" rIns="0" bIns="0" rtlCol="0" anchor="ctr"/>
          <a:lstStyle/>
          <a:p>
            <a:pPr algn="l" indent="0" marL="0">
              <a:buNone/>
            </a:pPr>
            <a:r>
              <a:rPr lang="en-US" sz="900" dirty="0">
                <a:solidFill>
                  <a:srgbClr val="9DB8B1"/>
                </a:solidFill>
                <a:latin typeface="Calibri" pitchFamily="34" charset="0"/>
                <a:ea typeface="Calibri" pitchFamily="34" charset="-122"/>
                <a:cs typeface="Calibri" pitchFamily="34" charset="-120"/>
              </a:rPr>
              <a:t>WhatsApp Commerce Platform  ·  Implementation Plan v2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56032"/>
          </a:xfrm>
          <a:prstGeom prst="rect">
            <a:avLst/>
          </a:prstGeom>
          <a:noFill/>
          <a:ln/>
        </p:spPr>
        <p:txBody>
          <a:bodyPr wrap="square" lIns="0" tIns="0" rIns="0" bIns="0" rtlCol="0" anchor="ctr"/>
          <a:lstStyle/>
          <a:p>
            <a:pPr algn="l" indent="0" marL="0">
              <a:buNone/>
            </a:pPr>
            <a:r>
              <a:rPr lang="en-US" sz="1100" b="1" spc="200" kern="0" dirty="0">
                <a:solidFill>
                  <a:srgbClr val="0E6B5C"/>
                </a:solidFill>
                <a:latin typeface="Calibri" pitchFamily="34" charset="0"/>
                <a:ea typeface="Calibri" pitchFamily="34" charset="-122"/>
                <a:cs typeface="Calibri" pitchFamily="34" charset="-120"/>
              </a:rPr>
              <a:t>HOW IT FEELS TO THE CUSTOMER</a:t>
            </a:r>
            <a:endParaRPr lang="en-US" sz="1100" dirty="0"/>
          </a:p>
        </p:txBody>
      </p:sp>
      <p:sp>
        <p:nvSpPr>
          <p:cNvPr id="3" name="Text 1"/>
          <p:cNvSpPr txBox="1"/>
          <p:nvPr/>
        </p:nvSpPr>
        <p:spPr>
          <a:xfrm>
            <a:off x="548640" y="640080"/>
            <a:ext cx="11094415" cy="731520"/>
          </a:xfrm>
          <a:prstGeom prst="rect">
            <a:avLst/>
          </a:prstGeom>
          <a:noFill/>
          <a:ln/>
        </p:spPr>
        <p:txBody>
          <a:bodyPr wrap="square" lIns="0" tIns="0" rIns="0" bIns="0" rtlCol="0" anchor="ctr"/>
          <a:lstStyle/>
          <a:p>
            <a:pPr algn="l" indent="0" marL="0">
              <a:buNone/>
            </a:pPr>
            <a:r>
              <a:rPr lang="en-US" sz="3300" b="1" dirty="0">
                <a:solidFill>
                  <a:srgbClr val="1F2A28"/>
                </a:solidFill>
                <a:latin typeface="Cambria" pitchFamily="34" charset="0"/>
                <a:ea typeface="Cambria" pitchFamily="34" charset="-122"/>
                <a:cs typeface="Cambria" pitchFamily="34" charset="-120"/>
              </a:rPr>
              <a:t>Six stages, start to doorstep</a:t>
            </a:r>
            <a:endParaRPr lang="en-US" sz="3300" dirty="0"/>
          </a:p>
        </p:txBody>
      </p:sp>
      <p:sp>
        <p:nvSpPr>
          <p:cNvPr id="4" name="Shape 2"/>
          <p:cNvSpPr/>
          <p:nvPr/>
        </p:nvSpPr>
        <p:spPr>
          <a:xfrm>
            <a:off x="548640" y="1965960"/>
            <a:ext cx="1664208" cy="2103120"/>
          </a:xfrm>
          <a:prstGeom prst="roundRect">
            <a:avLst>
              <a:gd name="adj" fmla="val 5495"/>
            </a:avLst>
          </a:prstGeom>
          <a:solidFill>
            <a:srgbClr val="F1F6F4"/>
          </a:solidFill>
          <a:ln/>
        </p:spPr>
      </p:sp>
      <p:sp>
        <p:nvSpPr>
          <p:cNvPr id="5" name="Shape 3"/>
          <p:cNvSpPr/>
          <p:nvPr/>
        </p:nvSpPr>
        <p:spPr>
          <a:xfrm>
            <a:off x="1143000" y="2194560"/>
            <a:ext cx="475488" cy="475488"/>
          </a:xfrm>
          <a:prstGeom prst="ellipse">
            <a:avLst/>
          </a:prstGeom>
          <a:solidFill>
            <a:srgbClr val="0E6B5C"/>
          </a:solidFill>
          <a:ln/>
        </p:spPr>
      </p:sp>
      <p:sp>
        <p:nvSpPr>
          <p:cNvPr id="6" name="Text 4"/>
          <p:cNvSpPr txBox="1"/>
          <p:nvPr/>
        </p:nvSpPr>
        <p:spPr>
          <a:xfrm>
            <a:off x="1143000" y="2194560"/>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658368" y="2761488"/>
            <a:ext cx="1444752" cy="502920"/>
          </a:xfrm>
          <a:prstGeom prst="rect">
            <a:avLst/>
          </a:prstGeom>
          <a:noFill/>
          <a:ln/>
        </p:spPr>
        <p:txBody>
          <a:bodyPr wrap="square" lIns="0" tIns="0" rIns="0" bIns="0" rtlCol="0" anchor="ctr"/>
          <a:lstStyle/>
          <a:p>
            <a:pPr algn="ctr" indent="0" marL="0">
              <a:buNone/>
            </a:pPr>
            <a:r>
              <a:rPr lang="en-US" sz="1300" b="1" dirty="0">
                <a:solidFill>
                  <a:srgbClr val="1F2A28"/>
                </a:solidFill>
                <a:latin typeface="Calibri" pitchFamily="34" charset="0"/>
                <a:ea typeface="Calibri" pitchFamily="34" charset="-122"/>
                <a:cs typeface="Calibri" pitchFamily="34" charset="-120"/>
              </a:rPr>
              <a:t>Opt in &amp; greet</a:t>
            </a:r>
            <a:endParaRPr lang="en-US" sz="1300" dirty="0"/>
          </a:p>
        </p:txBody>
      </p:sp>
      <p:sp>
        <p:nvSpPr>
          <p:cNvPr id="8" name="Text 6"/>
          <p:cNvSpPr txBox="1"/>
          <p:nvPr/>
        </p:nvSpPr>
        <p:spPr>
          <a:xfrm>
            <a:off x="658368" y="3273552"/>
            <a:ext cx="1444752" cy="713232"/>
          </a:xfrm>
          <a:prstGeom prst="rect">
            <a:avLst/>
          </a:prstGeom>
          <a:noFill/>
          <a:ln/>
        </p:spPr>
        <p:txBody>
          <a:bodyPr wrap="square" lIns="0" tIns="0" rIns="0" bIns="0" rtlCol="0" anchor="t"/>
          <a:lstStyle/>
          <a:p>
            <a:pPr algn="ctr" indent="0" marL="0">
              <a:lnSpc>
                <a:spcPts val="1400"/>
              </a:lnSpc>
              <a:buNone/>
            </a:pPr>
            <a:r>
              <a:rPr lang="en-US" sz="1050" dirty="0">
                <a:solidFill>
                  <a:srgbClr val="6B8F87"/>
                </a:solidFill>
                <a:latin typeface="Calibri" pitchFamily="34" charset="0"/>
                <a:ea typeface="Calibri" pitchFamily="34" charset="-122"/>
                <a:cs typeface="Calibri" pitchFamily="34" charset="-120"/>
              </a:rPr>
              <a:t>Consent captured and logged with wording and timestamp.</a:t>
            </a:r>
            <a:endParaRPr lang="en-US" sz="1050" dirty="0"/>
          </a:p>
        </p:txBody>
      </p:sp>
      <p:sp>
        <p:nvSpPr>
          <p:cNvPr id="9" name="Shape 7"/>
          <p:cNvSpPr/>
          <p:nvPr/>
        </p:nvSpPr>
        <p:spPr>
          <a:xfrm>
            <a:off x="2249424" y="3017520"/>
            <a:ext cx="148681" cy="0"/>
          </a:xfrm>
          <a:prstGeom prst="line">
            <a:avLst/>
          </a:prstGeom>
          <a:noFill/>
          <a:ln w="22225">
            <a:solidFill>
              <a:srgbClr val="9DB8B1"/>
            </a:solidFill>
            <a:prstDash val="solid"/>
            <a:tailEnd type="triangle"/>
          </a:ln>
        </p:spPr>
      </p:sp>
      <p:sp>
        <p:nvSpPr>
          <p:cNvPr id="10" name="Shape 8"/>
          <p:cNvSpPr/>
          <p:nvPr/>
        </p:nvSpPr>
        <p:spPr>
          <a:xfrm>
            <a:off x="2434681" y="1965960"/>
            <a:ext cx="1664208" cy="2103120"/>
          </a:xfrm>
          <a:prstGeom prst="roundRect">
            <a:avLst>
              <a:gd name="adj" fmla="val 5495"/>
            </a:avLst>
          </a:prstGeom>
          <a:solidFill>
            <a:srgbClr val="F1F6F4"/>
          </a:solidFill>
          <a:ln/>
        </p:spPr>
      </p:sp>
      <p:sp>
        <p:nvSpPr>
          <p:cNvPr id="11" name="Shape 9"/>
          <p:cNvSpPr/>
          <p:nvPr/>
        </p:nvSpPr>
        <p:spPr>
          <a:xfrm>
            <a:off x="3029041" y="2194560"/>
            <a:ext cx="475488" cy="475488"/>
          </a:xfrm>
          <a:prstGeom prst="ellipse">
            <a:avLst/>
          </a:prstGeom>
          <a:solidFill>
            <a:srgbClr val="0E6B5C"/>
          </a:solidFill>
          <a:ln/>
        </p:spPr>
      </p:sp>
      <p:sp>
        <p:nvSpPr>
          <p:cNvPr id="12" name="Text 10"/>
          <p:cNvSpPr txBox="1"/>
          <p:nvPr/>
        </p:nvSpPr>
        <p:spPr>
          <a:xfrm>
            <a:off x="3029041" y="2194560"/>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2544409" y="2761488"/>
            <a:ext cx="1444752" cy="502920"/>
          </a:xfrm>
          <a:prstGeom prst="rect">
            <a:avLst/>
          </a:prstGeom>
          <a:noFill/>
          <a:ln/>
        </p:spPr>
        <p:txBody>
          <a:bodyPr wrap="square" lIns="0" tIns="0" rIns="0" bIns="0" rtlCol="0" anchor="ctr"/>
          <a:lstStyle/>
          <a:p>
            <a:pPr algn="ctr" indent="0" marL="0">
              <a:buNone/>
            </a:pPr>
            <a:r>
              <a:rPr lang="en-US" sz="1300" b="1" dirty="0">
                <a:solidFill>
                  <a:srgbClr val="1F2A28"/>
                </a:solidFill>
                <a:latin typeface="Calibri" pitchFamily="34" charset="0"/>
                <a:ea typeface="Calibri" pitchFamily="34" charset="-122"/>
                <a:cs typeface="Calibri" pitchFamily="34" charset="-120"/>
              </a:rPr>
              <a:t>Browse &amp; build cart</a:t>
            </a:r>
            <a:endParaRPr lang="en-US" sz="1300" dirty="0"/>
          </a:p>
        </p:txBody>
      </p:sp>
      <p:sp>
        <p:nvSpPr>
          <p:cNvPr id="14" name="Text 12"/>
          <p:cNvSpPr txBox="1"/>
          <p:nvPr/>
        </p:nvSpPr>
        <p:spPr>
          <a:xfrm>
            <a:off x="2544409" y="3273552"/>
            <a:ext cx="1444752" cy="713232"/>
          </a:xfrm>
          <a:prstGeom prst="rect">
            <a:avLst/>
          </a:prstGeom>
          <a:noFill/>
          <a:ln/>
        </p:spPr>
        <p:txBody>
          <a:bodyPr wrap="square" lIns="0" tIns="0" rIns="0" bIns="0" rtlCol="0" anchor="t"/>
          <a:lstStyle/>
          <a:p>
            <a:pPr algn="ctr" indent="0" marL="0">
              <a:lnSpc>
                <a:spcPts val="1400"/>
              </a:lnSpc>
              <a:buNone/>
            </a:pPr>
            <a:r>
              <a:rPr lang="en-US" sz="1050" dirty="0">
                <a:solidFill>
                  <a:srgbClr val="6B8F87"/>
                </a:solidFill>
                <a:latin typeface="Calibri" pitchFamily="34" charset="0"/>
                <a:ea typeface="Calibri" pitchFamily="34" charset="-122"/>
                <a:cs typeface="Calibri" pitchFamily="34" charset="-120"/>
              </a:rPr>
              <a:t>Categories, products, quantities — all interactive.</a:t>
            </a:r>
            <a:endParaRPr lang="en-US" sz="1050" dirty="0"/>
          </a:p>
        </p:txBody>
      </p:sp>
      <p:sp>
        <p:nvSpPr>
          <p:cNvPr id="15" name="Shape 13"/>
          <p:cNvSpPr/>
          <p:nvPr/>
        </p:nvSpPr>
        <p:spPr>
          <a:xfrm>
            <a:off x="4135465" y="3017520"/>
            <a:ext cx="148681" cy="0"/>
          </a:xfrm>
          <a:prstGeom prst="line">
            <a:avLst/>
          </a:prstGeom>
          <a:noFill/>
          <a:ln w="22225">
            <a:solidFill>
              <a:srgbClr val="9DB8B1"/>
            </a:solidFill>
            <a:prstDash val="solid"/>
            <a:tailEnd type="triangle"/>
          </a:ln>
        </p:spPr>
      </p:sp>
      <p:sp>
        <p:nvSpPr>
          <p:cNvPr id="16" name="Shape 14"/>
          <p:cNvSpPr/>
          <p:nvPr/>
        </p:nvSpPr>
        <p:spPr>
          <a:xfrm>
            <a:off x="4320723" y="1965960"/>
            <a:ext cx="1664208" cy="2103120"/>
          </a:xfrm>
          <a:prstGeom prst="roundRect">
            <a:avLst>
              <a:gd name="adj" fmla="val 5495"/>
            </a:avLst>
          </a:prstGeom>
          <a:solidFill>
            <a:srgbClr val="0E6B5C"/>
          </a:solidFill>
          <a:ln/>
          <a:effectLst>
            <a:outerShdw sx="100000" sy="100000" kx="0" ky="0" algn="bl" rotWithShape="0" blurRad="127000" dist="25400" dir="5400000">
              <a:srgbClr val="000000">
                <a:alpha val="10000"/>
              </a:srgbClr>
            </a:outerShdw>
          </a:effectLst>
        </p:spPr>
      </p:sp>
      <p:sp>
        <p:nvSpPr>
          <p:cNvPr id="17" name="Shape 15"/>
          <p:cNvSpPr/>
          <p:nvPr/>
        </p:nvSpPr>
        <p:spPr>
          <a:xfrm>
            <a:off x="4915083" y="2194560"/>
            <a:ext cx="475488" cy="475488"/>
          </a:xfrm>
          <a:prstGeom prst="ellipse">
            <a:avLst/>
          </a:prstGeom>
          <a:solidFill>
            <a:srgbClr val="F2B705"/>
          </a:solidFill>
          <a:ln/>
        </p:spPr>
      </p:sp>
      <p:sp>
        <p:nvSpPr>
          <p:cNvPr id="18" name="Text 16"/>
          <p:cNvSpPr txBox="1"/>
          <p:nvPr/>
        </p:nvSpPr>
        <p:spPr>
          <a:xfrm>
            <a:off x="4915083" y="2194560"/>
            <a:ext cx="475488" cy="475488"/>
          </a:xfrm>
          <a:prstGeom prst="rect">
            <a:avLst/>
          </a:prstGeom>
          <a:noFill/>
          <a:ln/>
        </p:spPr>
        <p:txBody>
          <a:bodyPr wrap="square" lIns="0" tIns="0" rIns="0" bIns="0" rtlCol="0" anchor="ctr"/>
          <a:lstStyle/>
          <a:p>
            <a:pPr algn="ctr" indent="0" marL="0">
              <a:buNone/>
            </a:pPr>
            <a:r>
              <a:rPr lang="en-US" sz="1200" b="1" dirty="0">
                <a:solidFill>
                  <a:srgbClr val="0B2B26"/>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4430451" y="2761488"/>
            <a:ext cx="1444752"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Share location</a:t>
            </a:r>
            <a:endParaRPr lang="en-US" sz="1300" dirty="0"/>
          </a:p>
        </p:txBody>
      </p:sp>
      <p:sp>
        <p:nvSpPr>
          <p:cNvPr id="20" name="Text 18"/>
          <p:cNvSpPr txBox="1"/>
          <p:nvPr/>
        </p:nvSpPr>
        <p:spPr>
          <a:xfrm>
            <a:off x="4430451" y="3273552"/>
            <a:ext cx="1444752" cy="713232"/>
          </a:xfrm>
          <a:prstGeom prst="rect">
            <a:avLst/>
          </a:prstGeom>
          <a:noFill/>
          <a:ln/>
        </p:spPr>
        <p:txBody>
          <a:bodyPr wrap="square" lIns="0" tIns="0" rIns="0" bIns="0" rtlCol="0" anchor="t"/>
          <a:lstStyle/>
          <a:p>
            <a:pPr algn="ctr" indent="0" marL="0">
              <a:lnSpc>
                <a:spcPts val="1400"/>
              </a:lnSpc>
              <a:buNone/>
            </a:pPr>
            <a:r>
              <a:rPr lang="en-US" sz="1050" dirty="0">
                <a:solidFill>
                  <a:srgbClr val="E4EDEA"/>
                </a:solidFill>
                <a:latin typeface="Calibri" pitchFamily="34" charset="0"/>
                <a:ea typeface="Calibri" pitchFamily="34" charset="-122"/>
                <a:cs typeface="Calibri" pitchFamily="34" charset="-120"/>
              </a:rPr>
              <a:t>Tap once. Pin plus landmark, validated against service area.</a:t>
            </a:r>
            <a:endParaRPr lang="en-US" sz="1050" dirty="0"/>
          </a:p>
        </p:txBody>
      </p:sp>
      <p:sp>
        <p:nvSpPr>
          <p:cNvPr id="21" name="Shape 19"/>
          <p:cNvSpPr/>
          <p:nvPr/>
        </p:nvSpPr>
        <p:spPr>
          <a:xfrm>
            <a:off x="6021507" y="3017520"/>
            <a:ext cx="148681" cy="0"/>
          </a:xfrm>
          <a:prstGeom prst="line">
            <a:avLst/>
          </a:prstGeom>
          <a:noFill/>
          <a:ln w="22225">
            <a:solidFill>
              <a:srgbClr val="9DB8B1"/>
            </a:solidFill>
            <a:prstDash val="solid"/>
            <a:tailEnd type="triangle"/>
          </a:ln>
        </p:spPr>
      </p:sp>
      <p:sp>
        <p:nvSpPr>
          <p:cNvPr id="22" name="Shape 20"/>
          <p:cNvSpPr/>
          <p:nvPr/>
        </p:nvSpPr>
        <p:spPr>
          <a:xfrm>
            <a:off x="6206764" y="1965960"/>
            <a:ext cx="1664208" cy="2103120"/>
          </a:xfrm>
          <a:prstGeom prst="roundRect">
            <a:avLst>
              <a:gd name="adj" fmla="val 5495"/>
            </a:avLst>
          </a:prstGeom>
          <a:solidFill>
            <a:srgbClr val="F1F6F4"/>
          </a:solidFill>
          <a:ln/>
        </p:spPr>
      </p:sp>
      <p:sp>
        <p:nvSpPr>
          <p:cNvPr id="23" name="Shape 21"/>
          <p:cNvSpPr/>
          <p:nvPr/>
        </p:nvSpPr>
        <p:spPr>
          <a:xfrm>
            <a:off x="6801124" y="2194560"/>
            <a:ext cx="475488" cy="475488"/>
          </a:xfrm>
          <a:prstGeom prst="ellipse">
            <a:avLst/>
          </a:prstGeom>
          <a:solidFill>
            <a:srgbClr val="0E6B5C"/>
          </a:solidFill>
          <a:ln/>
        </p:spPr>
      </p:sp>
      <p:sp>
        <p:nvSpPr>
          <p:cNvPr id="24" name="Text 22"/>
          <p:cNvSpPr txBox="1"/>
          <p:nvPr/>
        </p:nvSpPr>
        <p:spPr>
          <a:xfrm>
            <a:off x="6801124" y="2194560"/>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6316492" y="2761488"/>
            <a:ext cx="1444752" cy="502920"/>
          </a:xfrm>
          <a:prstGeom prst="rect">
            <a:avLst/>
          </a:prstGeom>
          <a:noFill/>
          <a:ln/>
        </p:spPr>
        <p:txBody>
          <a:bodyPr wrap="square" lIns="0" tIns="0" rIns="0" bIns="0" rtlCol="0" anchor="ctr"/>
          <a:lstStyle/>
          <a:p>
            <a:pPr algn="ctr" indent="0" marL="0">
              <a:buNone/>
            </a:pPr>
            <a:r>
              <a:rPr lang="en-US" sz="1300" b="1" dirty="0">
                <a:solidFill>
                  <a:srgbClr val="1F2A28"/>
                </a:solidFill>
                <a:latin typeface="Calibri" pitchFamily="34" charset="0"/>
                <a:ea typeface="Calibri" pitchFamily="34" charset="-122"/>
                <a:cs typeface="Calibri" pitchFamily="34" charset="-120"/>
              </a:rPr>
              <a:t>Choose payment</a:t>
            </a:r>
            <a:endParaRPr lang="en-US" sz="1300" dirty="0"/>
          </a:p>
        </p:txBody>
      </p:sp>
      <p:sp>
        <p:nvSpPr>
          <p:cNvPr id="26" name="Text 24"/>
          <p:cNvSpPr txBox="1"/>
          <p:nvPr/>
        </p:nvSpPr>
        <p:spPr>
          <a:xfrm>
            <a:off x="6316492" y="3273552"/>
            <a:ext cx="1444752" cy="713232"/>
          </a:xfrm>
          <a:prstGeom prst="rect">
            <a:avLst/>
          </a:prstGeom>
          <a:noFill/>
          <a:ln/>
        </p:spPr>
        <p:txBody>
          <a:bodyPr wrap="square" lIns="0" tIns="0" rIns="0" bIns="0" rtlCol="0" anchor="t"/>
          <a:lstStyle/>
          <a:p>
            <a:pPr algn="ctr" indent="0" marL="0">
              <a:lnSpc>
                <a:spcPts val="1400"/>
              </a:lnSpc>
              <a:buNone/>
            </a:pPr>
            <a:r>
              <a:rPr lang="en-US" sz="1050" dirty="0">
                <a:solidFill>
                  <a:srgbClr val="6B8F87"/>
                </a:solidFill>
                <a:latin typeface="Calibri" pitchFamily="34" charset="0"/>
                <a:ea typeface="Calibri" pitchFamily="34" charset="-122"/>
                <a:cs typeface="Calibri" pitchFamily="34" charset="-120"/>
              </a:rPr>
              <a:t>COD if eligible, or a secure expiring payment link.</a:t>
            </a:r>
            <a:endParaRPr lang="en-US" sz="1050" dirty="0"/>
          </a:p>
        </p:txBody>
      </p:sp>
      <p:sp>
        <p:nvSpPr>
          <p:cNvPr id="27" name="Shape 25"/>
          <p:cNvSpPr/>
          <p:nvPr/>
        </p:nvSpPr>
        <p:spPr>
          <a:xfrm>
            <a:off x="7907548" y="3017520"/>
            <a:ext cx="148681" cy="0"/>
          </a:xfrm>
          <a:prstGeom prst="line">
            <a:avLst/>
          </a:prstGeom>
          <a:noFill/>
          <a:ln w="22225">
            <a:solidFill>
              <a:srgbClr val="9DB8B1"/>
            </a:solidFill>
            <a:prstDash val="solid"/>
            <a:tailEnd type="triangle"/>
          </a:ln>
        </p:spPr>
      </p:sp>
      <p:sp>
        <p:nvSpPr>
          <p:cNvPr id="28" name="Shape 26"/>
          <p:cNvSpPr/>
          <p:nvPr/>
        </p:nvSpPr>
        <p:spPr>
          <a:xfrm>
            <a:off x="8092806" y="1965960"/>
            <a:ext cx="1664208" cy="2103120"/>
          </a:xfrm>
          <a:prstGeom prst="roundRect">
            <a:avLst>
              <a:gd name="adj" fmla="val 5495"/>
            </a:avLst>
          </a:prstGeom>
          <a:solidFill>
            <a:srgbClr val="F1F6F4"/>
          </a:solidFill>
          <a:ln/>
        </p:spPr>
      </p:sp>
      <p:sp>
        <p:nvSpPr>
          <p:cNvPr id="29" name="Shape 27"/>
          <p:cNvSpPr/>
          <p:nvPr/>
        </p:nvSpPr>
        <p:spPr>
          <a:xfrm>
            <a:off x="8687166" y="2194560"/>
            <a:ext cx="475488" cy="475488"/>
          </a:xfrm>
          <a:prstGeom prst="ellipse">
            <a:avLst/>
          </a:prstGeom>
          <a:solidFill>
            <a:srgbClr val="0E6B5C"/>
          </a:solidFill>
          <a:ln/>
        </p:spPr>
      </p:sp>
      <p:sp>
        <p:nvSpPr>
          <p:cNvPr id="30" name="Text 28"/>
          <p:cNvSpPr txBox="1"/>
          <p:nvPr/>
        </p:nvSpPr>
        <p:spPr>
          <a:xfrm>
            <a:off x="8687166" y="2194560"/>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1" name="Text 29"/>
          <p:cNvSpPr txBox="1"/>
          <p:nvPr/>
        </p:nvSpPr>
        <p:spPr>
          <a:xfrm>
            <a:off x="8202534" y="2761488"/>
            <a:ext cx="1444752" cy="502920"/>
          </a:xfrm>
          <a:prstGeom prst="rect">
            <a:avLst/>
          </a:prstGeom>
          <a:noFill/>
          <a:ln/>
        </p:spPr>
        <p:txBody>
          <a:bodyPr wrap="square" lIns="0" tIns="0" rIns="0" bIns="0" rtlCol="0" anchor="ctr"/>
          <a:lstStyle/>
          <a:p>
            <a:pPr algn="ctr" indent="0" marL="0">
              <a:buNone/>
            </a:pPr>
            <a:r>
              <a:rPr lang="en-US" sz="1300" b="1" dirty="0">
                <a:solidFill>
                  <a:srgbClr val="1F2A28"/>
                </a:solidFill>
                <a:latin typeface="Calibri" pitchFamily="34" charset="0"/>
                <a:ea typeface="Calibri" pitchFamily="34" charset="-122"/>
                <a:cs typeface="Calibri" pitchFamily="34" charset="-120"/>
              </a:rPr>
              <a:t>Order confirmed</a:t>
            </a:r>
            <a:endParaRPr lang="en-US" sz="1300" dirty="0"/>
          </a:p>
        </p:txBody>
      </p:sp>
      <p:sp>
        <p:nvSpPr>
          <p:cNvPr id="32" name="Text 30"/>
          <p:cNvSpPr txBox="1"/>
          <p:nvPr/>
        </p:nvSpPr>
        <p:spPr>
          <a:xfrm>
            <a:off x="8202534" y="3273552"/>
            <a:ext cx="1444752" cy="713232"/>
          </a:xfrm>
          <a:prstGeom prst="rect">
            <a:avLst/>
          </a:prstGeom>
          <a:noFill/>
          <a:ln/>
        </p:spPr>
        <p:txBody>
          <a:bodyPr wrap="square" lIns="0" tIns="0" rIns="0" bIns="0" rtlCol="0" anchor="t"/>
          <a:lstStyle/>
          <a:p>
            <a:pPr algn="ctr" indent="0" marL="0">
              <a:lnSpc>
                <a:spcPts val="1400"/>
              </a:lnSpc>
              <a:buNone/>
            </a:pPr>
            <a:r>
              <a:rPr lang="en-US" sz="1050" dirty="0">
                <a:solidFill>
                  <a:srgbClr val="6B8F87"/>
                </a:solidFill>
                <a:latin typeface="Calibri" pitchFamily="34" charset="0"/>
                <a:ea typeface="Calibri" pitchFamily="34" charset="-122"/>
                <a:cs typeface="Calibri" pitchFamily="34" charset="-120"/>
              </a:rPr>
              <a:t>Stock reserved with an expiry; confirmation sent.</a:t>
            </a:r>
            <a:endParaRPr lang="en-US" sz="1050" dirty="0"/>
          </a:p>
        </p:txBody>
      </p:sp>
      <p:sp>
        <p:nvSpPr>
          <p:cNvPr id="33" name="Shape 31"/>
          <p:cNvSpPr/>
          <p:nvPr/>
        </p:nvSpPr>
        <p:spPr>
          <a:xfrm>
            <a:off x="9793590" y="3017520"/>
            <a:ext cx="148681" cy="0"/>
          </a:xfrm>
          <a:prstGeom prst="line">
            <a:avLst/>
          </a:prstGeom>
          <a:noFill/>
          <a:ln w="22225">
            <a:solidFill>
              <a:srgbClr val="9DB8B1"/>
            </a:solidFill>
            <a:prstDash val="solid"/>
            <a:tailEnd type="triangle"/>
          </a:ln>
        </p:spPr>
      </p:sp>
      <p:sp>
        <p:nvSpPr>
          <p:cNvPr id="34" name="Shape 32"/>
          <p:cNvSpPr/>
          <p:nvPr/>
        </p:nvSpPr>
        <p:spPr>
          <a:xfrm>
            <a:off x="9978847" y="1965960"/>
            <a:ext cx="1664208" cy="2103120"/>
          </a:xfrm>
          <a:prstGeom prst="roundRect">
            <a:avLst>
              <a:gd name="adj" fmla="val 5495"/>
            </a:avLst>
          </a:prstGeom>
          <a:solidFill>
            <a:srgbClr val="F1F6F4"/>
          </a:solidFill>
          <a:ln/>
        </p:spPr>
      </p:sp>
      <p:sp>
        <p:nvSpPr>
          <p:cNvPr id="35" name="Shape 33"/>
          <p:cNvSpPr/>
          <p:nvPr/>
        </p:nvSpPr>
        <p:spPr>
          <a:xfrm>
            <a:off x="10573207" y="2194560"/>
            <a:ext cx="475488" cy="475488"/>
          </a:xfrm>
          <a:prstGeom prst="ellipse">
            <a:avLst/>
          </a:prstGeom>
          <a:solidFill>
            <a:srgbClr val="0E6B5C"/>
          </a:solidFill>
          <a:ln/>
        </p:spPr>
      </p:sp>
      <p:sp>
        <p:nvSpPr>
          <p:cNvPr id="36" name="Text 34"/>
          <p:cNvSpPr txBox="1"/>
          <p:nvPr/>
        </p:nvSpPr>
        <p:spPr>
          <a:xfrm>
            <a:off x="10573207" y="2194560"/>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7" name="Text 35"/>
          <p:cNvSpPr txBox="1"/>
          <p:nvPr/>
        </p:nvSpPr>
        <p:spPr>
          <a:xfrm>
            <a:off x="10088575" y="2761488"/>
            <a:ext cx="1444752" cy="502920"/>
          </a:xfrm>
          <a:prstGeom prst="rect">
            <a:avLst/>
          </a:prstGeom>
          <a:noFill/>
          <a:ln/>
        </p:spPr>
        <p:txBody>
          <a:bodyPr wrap="square" lIns="0" tIns="0" rIns="0" bIns="0" rtlCol="0" anchor="ctr"/>
          <a:lstStyle/>
          <a:p>
            <a:pPr algn="ctr" indent="0" marL="0">
              <a:buNone/>
            </a:pPr>
            <a:r>
              <a:rPr lang="en-US" sz="1300" b="1" dirty="0">
                <a:solidFill>
                  <a:srgbClr val="1F2A28"/>
                </a:solidFill>
                <a:latin typeface="Calibri" pitchFamily="34" charset="0"/>
                <a:ea typeface="Calibri" pitchFamily="34" charset="-122"/>
                <a:cs typeface="Calibri" pitchFamily="34" charset="-120"/>
              </a:rPr>
              <a:t>Track to the door</a:t>
            </a:r>
            <a:endParaRPr lang="en-US" sz="1300" dirty="0"/>
          </a:p>
        </p:txBody>
      </p:sp>
      <p:sp>
        <p:nvSpPr>
          <p:cNvPr id="38" name="Text 36"/>
          <p:cNvSpPr txBox="1"/>
          <p:nvPr/>
        </p:nvSpPr>
        <p:spPr>
          <a:xfrm>
            <a:off x="10088575" y="3273552"/>
            <a:ext cx="1444752" cy="713232"/>
          </a:xfrm>
          <a:prstGeom prst="rect">
            <a:avLst/>
          </a:prstGeom>
          <a:noFill/>
          <a:ln/>
        </p:spPr>
        <p:txBody>
          <a:bodyPr wrap="square" lIns="0" tIns="0" rIns="0" bIns="0" rtlCol="0" anchor="t"/>
          <a:lstStyle/>
          <a:p>
            <a:pPr algn="ctr" indent="0" marL="0">
              <a:lnSpc>
                <a:spcPts val="1400"/>
              </a:lnSpc>
              <a:buNone/>
            </a:pPr>
            <a:r>
              <a:rPr lang="en-US" sz="1050" dirty="0">
                <a:solidFill>
                  <a:srgbClr val="6B8F87"/>
                </a:solidFill>
                <a:latin typeface="Calibri" pitchFamily="34" charset="0"/>
                <a:ea typeface="Calibri" pitchFamily="34" charset="-122"/>
                <a:cs typeface="Calibri" pitchFamily="34" charset="-120"/>
              </a:rPr>
              <a:t>Status templates plus a live rider tracking link.</a:t>
            </a:r>
            <a:endParaRPr lang="en-US" sz="1050" dirty="0"/>
          </a:p>
        </p:txBody>
      </p:sp>
      <p:sp>
        <p:nvSpPr>
          <p:cNvPr id="39" name="Shape 37"/>
          <p:cNvSpPr/>
          <p:nvPr/>
        </p:nvSpPr>
        <p:spPr>
          <a:xfrm>
            <a:off x="548640" y="4617720"/>
            <a:ext cx="11094415" cy="1051560"/>
          </a:xfrm>
          <a:prstGeom prst="roundRect">
            <a:avLst>
              <a:gd name="adj" fmla="val 8696"/>
            </a:avLst>
          </a:prstGeom>
          <a:solidFill>
            <a:srgbClr val="F1F6F4"/>
          </a:solidFill>
          <a:ln/>
        </p:spPr>
      </p:sp>
      <p:sp>
        <p:nvSpPr>
          <p:cNvPr id="40" name="Text 38"/>
          <p:cNvSpPr txBox="1"/>
          <p:nvPr/>
        </p:nvSpPr>
        <p:spPr>
          <a:xfrm>
            <a:off x="868680" y="4800600"/>
            <a:ext cx="10454335" cy="685800"/>
          </a:xfrm>
          <a:prstGeom prst="rect">
            <a:avLst/>
          </a:prstGeom>
          <a:noFill/>
          <a:ln/>
        </p:spPr>
        <p:txBody>
          <a:bodyPr wrap="square" lIns="0" tIns="0" rIns="0" bIns="0" rtlCol="0" anchor="ctr"/>
          <a:lstStyle/>
          <a:p>
            <a:pPr indent="0" marL="0">
              <a:lnSpc>
                <a:spcPts val="1900"/>
              </a:lnSpc>
              <a:buNone/>
            </a:pPr>
            <a:r>
              <a:rPr lang="en-US" sz="1300" b="1" dirty="0">
                <a:solidFill>
                  <a:srgbClr val="1F2A28"/>
                </a:solidFill>
                <a:latin typeface="Calibri" pitchFamily="34" charset="0"/>
                <a:ea typeface="Calibri" pitchFamily="34" charset="-122"/>
                <a:cs typeface="Calibri" pitchFamily="34" charset="-120"/>
              </a:rPr>
              <a:t>Stages 1–5 happen inside the 24-hour service window</a:t>
            </a:r>
            <a:pPr indent="0" marL="0">
              <a:lnSpc>
                <a:spcPts val="1900"/>
              </a:lnSpc>
              <a:buNone/>
            </a:pPr>
            <a:r>
              <a:rPr lang="en-US" sz="1300" dirty="0">
                <a:solidFill>
                  <a:srgbClr val="6B8F87"/>
                </a:solidFill>
                <a:latin typeface="Calibri" pitchFamily="34" charset="0"/>
                <a:ea typeface="Calibri" pitchFamily="34" charset="-122"/>
                <a:cs typeface="Calibri" pitchFamily="34" charset="-120"/>
              </a:rPr>
              <a:t>  — free-form, interactive, and cheap. </a:t>
            </a:r>
            <a:pPr indent="0" marL="0">
              <a:lnSpc>
                <a:spcPts val="1900"/>
              </a:lnSpc>
              <a:buNone/>
            </a:pPr>
            <a:r>
              <a:rPr lang="en-US" sz="1300" b="1" dirty="0">
                <a:solidFill>
                  <a:srgbClr val="1F2A28"/>
                </a:solidFill>
                <a:latin typeface="Calibri" pitchFamily="34" charset="0"/>
                <a:ea typeface="Calibri" pitchFamily="34" charset="-122"/>
                <a:cs typeface="Calibri" pitchFamily="34" charset="-120"/>
              </a:rPr>
              <a:t>Stage 6 almost always falls outside it</a:t>
            </a:r>
            <a:pPr indent="0" marL="0">
              <a:lnSpc>
                <a:spcPts val="1900"/>
              </a:lnSpc>
              <a:buNone/>
            </a:pPr>
            <a:r>
              <a:rPr lang="en-US" sz="1300" dirty="0">
                <a:solidFill>
                  <a:srgbClr val="6B8F87"/>
                </a:solidFill>
                <a:latin typeface="Calibri" pitchFamily="34" charset="0"/>
                <a:ea typeface="Calibri" pitchFamily="34" charset="-122"/>
                <a:cs typeface="Calibri" pitchFamily="34" charset="-120"/>
              </a:rPr>
              <a:t>  — so every post-order update must be a pre-approved template. That single rule shapes the whole messaging design.</a:t>
            </a:r>
            <a:endParaRPr lang="en-US" sz="1300" dirty="0"/>
          </a:p>
        </p:txBody>
      </p:sp>
      <p:sp>
        <p:nvSpPr>
          <p:cNvPr id="42" name="Text 39"/>
          <p:cNvSpPr txBox="1"/>
          <p:nvPr/>
        </p:nvSpPr>
        <p:spPr>
          <a:xfrm>
            <a:off x="11094415" y="6199632"/>
            <a:ext cx="548640" cy="274320"/>
          </a:xfrm>
          <a:prstGeom prst="rect">
            <a:avLst/>
          </a:prstGeom>
          <a:noFill/>
          <a:ln/>
        </p:spPr>
        <p:txBody>
          <a:bodyPr wrap="square" lIns="0" tIns="0" rIns="0" bIns="0" rtlCol="0" anchor="ctr"/>
          <a:lstStyle/>
          <a:p>
            <a:pPr algn="r" indent="0" marL="0">
              <a:buNone/>
            </a:pPr>
            <a:r>
              <a:rPr lang="en-US" sz="1000" dirty="0">
                <a:solidFill>
                  <a:srgbClr val="9DB8B1"/>
                </a:solidFill>
                <a:latin typeface="Calibri" pitchFamily="34" charset="0"/>
                <a:ea typeface="Calibri" pitchFamily="34" charset="-122"/>
                <a:cs typeface="Calibri" pitchFamily="34" charset="-120"/>
              </a:rPr>
              <a:t>4</a:t>
            </a:r>
            <a:endParaRPr lang="en-US" sz="1000" dirty="0"/>
          </a:p>
        </p:txBody>
      </p:sp>
      <p:sp>
        <p:nvSpPr>
          <p:cNvPr id="43" name="Text 40"/>
          <p:cNvSpPr txBox="1"/>
          <p:nvPr/>
        </p:nvSpPr>
        <p:spPr>
          <a:xfrm>
            <a:off x="548640" y="6199632"/>
            <a:ext cx="4572000" cy="274320"/>
          </a:xfrm>
          <a:prstGeom prst="rect">
            <a:avLst/>
          </a:prstGeom>
          <a:noFill/>
          <a:ln/>
        </p:spPr>
        <p:txBody>
          <a:bodyPr wrap="square" lIns="0" tIns="0" rIns="0" bIns="0" rtlCol="0" anchor="ctr"/>
          <a:lstStyle/>
          <a:p>
            <a:pPr algn="l" indent="0" marL="0">
              <a:buNone/>
            </a:pPr>
            <a:r>
              <a:rPr lang="en-US" sz="900" dirty="0">
                <a:solidFill>
                  <a:srgbClr val="9DB8B1"/>
                </a:solidFill>
                <a:latin typeface="Calibri" pitchFamily="34" charset="0"/>
                <a:ea typeface="Calibri" pitchFamily="34" charset="-122"/>
                <a:cs typeface="Calibri" pitchFamily="34" charset="-120"/>
              </a:rPr>
              <a:t>WhatsApp Commerce Platform  ·  Implementation Plan v2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2B26"/>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56032"/>
          </a:xfrm>
          <a:prstGeom prst="rect">
            <a:avLst/>
          </a:prstGeom>
          <a:noFill/>
          <a:ln/>
        </p:spPr>
        <p:txBody>
          <a:bodyPr wrap="square" lIns="0" tIns="0" rIns="0" bIns="0" rtlCol="0" anchor="ctr"/>
          <a:lstStyle/>
          <a:p>
            <a:pPr algn="l" indent="0" marL="0">
              <a:buNone/>
            </a:pPr>
            <a:r>
              <a:rPr lang="en-US" sz="1100" b="1" spc="200" kern="0" dirty="0">
                <a:solidFill>
                  <a:srgbClr val="F2B705"/>
                </a:solidFill>
                <a:latin typeface="Calibri" pitchFamily="34" charset="0"/>
                <a:ea typeface="Calibri" pitchFamily="34" charset="-122"/>
                <a:cs typeface="Calibri" pitchFamily="34" charset="-120"/>
              </a:rPr>
              <a:t>ARCHITECTURE</a:t>
            </a:r>
            <a:endParaRPr lang="en-US" sz="1100" dirty="0"/>
          </a:p>
        </p:txBody>
      </p:sp>
      <p:sp>
        <p:nvSpPr>
          <p:cNvPr id="3" name="Text 1"/>
          <p:cNvSpPr txBox="1"/>
          <p:nvPr/>
        </p:nvSpPr>
        <p:spPr>
          <a:xfrm>
            <a:off x="548640" y="640080"/>
            <a:ext cx="11094415" cy="731520"/>
          </a:xfrm>
          <a:prstGeom prst="rect">
            <a:avLst/>
          </a:prstGeom>
          <a:noFill/>
          <a:ln/>
        </p:spPr>
        <p:txBody>
          <a:bodyPr wrap="square" lIns="0" tIns="0" rIns="0" bIns="0" rtlCol="0" anchor="ctr"/>
          <a:lstStyle/>
          <a:p>
            <a:pPr algn="l" indent="0" marL="0">
              <a:buNone/>
            </a:pPr>
            <a:r>
              <a:rPr lang="en-US" sz="3300" b="1" dirty="0">
                <a:solidFill>
                  <a:srgbClr val="FFFFFF"/>
                </a:solidFill>
                <a:latin typeface="Cambria" pitchFamily="34" charset="0"/>
                <a:ea typeface="Cambria" pitchFamily="34" charset="-122"/>
                <a:cs typeface="Cambria" pitchFamily="34" charset="-120"/>
              </a:rPr>
              <a:t>How the system is put together</a:t>
            </a:r>
            <a:endParaRPr lang="en-US" sz="3300" dirty="0"/>
          </a:p>
        </p:txBody>
      </p:sp>
      <p:sp>
        <p:nvSpPr>
          <p:cNvPr id="4" name="Text 2"/>
          <p:cNvSpPr txBox="1"/>
          <p:nvPr/>
        </p:nvSpPr>
        <p:spPr>
          <a:xfrm>
            <a:off x="548640" y="1572768"/>
            <a:ext cx="2286000" cy="237744"/>
          </a:xfrm>
          <a:prstGeom prst="rect">
            <a:avLst/>
          </a:prstGeom>
          <a:noFill/>
          <a:ln/>
        </p:spPr>
        <p:txBody>
          <a:bodyPr wrap="square" lIns="0" tIns="0" rIns="0" bIns="0" rtlCol="0" anchor="ctr"/>
          <a:lstStyle/>
          <a:p>
            <a:pPr indent="0" marL="0">
              <a:buNone/>
            </a:pPr>
            <a:r>
              <a:rPr lang="en-US" sz="950" b="1" spc="140" kern="0" dirty="0">
                <a:solidFill>
                  <a:srgbClr val="6B8F87"/>
                </a:solidFill>
                <a:latin typeface="Calibri" pitchFamily="34" charset="0"/>
                <a:ea typeface="Calibri" pitchFamily="34" charset="-122"/>
                <a:cs typeface="Calibri" pitchFamily="34" charset="-120"/>
              </a:rPr>
              <a:t>CUSTOMER CHANNEL</a:t>
            </a:r>
            <a:endParaRPr lang="en-US" sz="950" dirty="0"/>
          </a:p>
        </p:txBody>
      </p:sp>
      <p:sp>
        <p:nvSpPr>
          <p:cNvPr id="5" name="Shape 3"/>
          <p:cNvSpPr/>
          <p:nvPr/>
        </p:nvSpPr>
        <p:spPr>
          <a:xfrm>
            <a:off x="548640" y="1901952"/>
            <a:ext cx="2286000" cy="1051560"/>
          </a:xfrm>
          <a:prstGeom prst="roundRect">
            <a:avLst>
              <a:gd name="adj" fmla="val 8696"/>
            </a:avLst>
          </a:prstGeom>
          <a:solidFill>
            <a:srgbClr val="0E6B5C"/>
          </a:solidFill>
          <a:ln/>
        </p:spPr>
      </p:sp>
      <p:sp>
        <p:nvSpPr>
          <p:cNvPr id="6" name="Text 4"/>
          <p:cNvSpPr txBox="1"/>
          <p:nvPr/>
        </p:nvSpPr>
        <p:spPr>
          <a:xfrm>
            <a:off x="713232" y="2084832"/>
            <a:ext cx="1956816" cy="4572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Customer on WhatsApp</a:t>
            </a:r>
            <a:endParaRPr lang="en-US" sz="1250" dirty="0"/>
          </a:p>
        </p:txBody>
      </p:sp>
      <p:sp>
        <p:nvSpPr>
          <p:cNvPr id="7" name="Text 5"/>
          <p:cNvSpPr txBox="1"/>
          <p:nvPr/>
        </p:nvSpPr>
        <p:spPr>
          <a:xfrm>
            <a:off x="713232" y="2523744"/>
            <a:ext cx="1956816" cy="292608"/>
          </a:xfrm>
          <a:prstGeom prst="rect">
            <a:avLst/>
          </a:prstGeom>
          <a:noFill/>
          <a:ln/>
        </p:spPr>
        <p:txBody>
          <a:bodyPr wrap="square" lIns="0" tIns="0" rIns="0" bIns="0" rtlCol="0" anchor="ctr"/>
          <a:lstStyle/>
          <a:p>
            <a:pPr indent="0" marL="0">
              <a:buNone/>
            </a:pPr>
            <a:r>
              <a:rPr lang="en-US" sz="1000" dirty="0">
                <a:solidFill>
                  <a:srgbClr val="E4EDEA"/>
                </a:solidFill>
                <a:latin typeface="Calibri" pitchFamily="34" charset="0"/>
                <a:ea typeface="Calibri" pitchFamily="34" charset="-122"/>
                <a:cs typeface="Calibri" pitchFamily="34" charset="-120"/>
              </a:rPr>
              <a:t>Catalogue, buttons, location</a:t>
            </a:r>
            <a:endParaRPr lang="en-US" sz="1000" dirty="0"/>
          </a:p>
        </p:txBody>
      </p:sp>
      <p:sp>
        <p:nvSpPr>
          <p:cNvPr id="8" name="Shape 6"/>
          <p:cNvSpPr/>
          <p:nvPr/>
        </p:nvSpPr>
        <p:spPr>
          <a:xfrm>
            <a:off x="548640" y="3246120"/>
            <a:ext cx="2286000" cy="1051560"/>
          </a:xfrm>
          <a:prstGeom prst="roundRect">
            <a:avLst>
              <a:gd name="adj" fmla="val 8696"/>
            </a:avLst>
          </a:prstGeom>
          <a:solidFill>
            <a:srgbClr val="12403A"/>
          </a:solidFill>
          <a:ln/>
        </p:spPr>
      </p:sp>
      <p:sp>
        <p:nvSpPr>
          <p:cNvPr id="9" name="Text 7"/>
          <p:cNvSpPr txBox="1"/>
          <p:nvPr/>
        </p:nvSpPr>
        <p:spPr>
          <a:xfrm>
            <a:off x="713232" y="3429000"/>
            <a:ext cx="1956816" cy="4572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WhatsApp Cloud API</a:t>
            </a:r>
            <a:endParaRPr lang="en-US" sz="1250" dirty="0"/>
          </a:p>
        </p:txBody>
      </p:sp>
      <p:sp>
        <p:nvSpPr>
          <p:cNvPr id="10" name="Text 8"/>
          <p:cNvSpPr txBox="1"/>
          <p:nvPr/>
        </p:nvSpPr>
        <p:spPr>
          <a:xfrm>
            <a:off x="713232" y="3867912"/>
            <a:ext cx="1956816" cy="292608"/>
          </a:xfrm>
          <a:prstGeom prst="rect">
            <a:avLst/>
          </a:prstGeom>
          <a:noFill/>
          <a:ln/>
        </p:spPr>
        <p:txBody>
          <a:bodyPr wrap="square" lIns="0" tIns="0" rIns="0" bIns="0" rtlCol="0" anchor="ctr"/>
          <a:lstStyle/>
          <a:p>
            <a:pPr indent="0" marL="0">
              <a:buNone/>
            </a:pPr>
            <a:r>
              <a:rPr lang="en-US" sz="1000" dirty="0">
                <a:solidFill>
                  <a:srgbClr val="9DB8B1"/>
                </a:solidFill>
                <a:latin typeface="Calibri" pitchFamily="34" charset="0"/>
                <a:ea typeface="Calibri" pitchFamily="34" charset="-122"/>
                <a:cs typeface="Calibri" pitchFamily="34" charset="-120"/>
              </a:rPr>
              <a:t>Webhooks · templates</a:t>
            </a:r>
            <a:endParaRPr lang="en-US" sz="1000" dirty="0"/>
          </a:p>
        </p:txBody>
      </p:sp>
      <p:sp>
        <p:nvSpPr>
          <p:cNvPr id="11" name="Shape 9"/>
          <p:cNvSpPr/>
          <p:nvPr/>
        </p:nvSpPr>
        <p:spPr>
          <a:xfrm>
            <a:off x="1691640" y="2971800"/>
            <a:ext cx="0" cy="256032"/>
          </a:xfrm>
          <a:prstGeom prst="line">
            <a:avLst/>
          </a:prstGeom>
          <a:noFill/>
          <a:ln w="22225">
            <a:solidFill>
              <a:srgbClr val="6B8F87"/>
            </a:solidFill>
            <a:prstDash val="solid"/>
            <a:tailEnd type="triangle"/>
          </a:ln>
        </p:spPr>
      </p:sp>
      <p:sp>
        <p:nvSpPr>
          <p:cNvPr id="12" name="Shape 10"/>
          <p:cNvSpPr/>
          <p:nvPr/>
        </p:nvSpPr>
        <p:spPr>
          <a:xfrm>
            <a:off x="2880360" y="3749040"/>
            <a:ext cx="640080" cy="0"/>
          </a:xfrm>
          <a:prstGeom prst="line">
            <a:avLst/>
          </a:prstGeom>
          <a:noFill/>
          <a:ln w="22225">
            <a:solidFill>
              <a:srgbClr val="F2B705"/>
            </a:solidFill>
            <a:prstDash val="solid"/>
            <a:tailEnd type="triangle"/>
          </a:ln>
        </p:spPr>
      </p:sp>
      <p:sp>
        <p:nvSpPr>
          <p:cNvPr id="13" name="Shape 11"/>
          <p:cNvSpPr/>
          <p:nvPr/>
        </p:nvSpPr>
        <p:spPr>
          <a:xfrm>
            <a:off x="3063240" y="1481328"/>
            <a:ext cx="5440680" cy="3913632"/>
          </a:xfrm>
          <a:prstGeom prst="roundRect">
            <a:avLst>
              <a:gd name="adj" fmla="val 1869"/>
            </a:avLst>
          </a:prstGeom>
          <a:solidFill>
            <a:srgbClr val="12403A"/>
          </a:solidFill>
          <a:ln w="15875">
            <a:solidFill>
              <a:srgbClr val="0E6B5C"/>
            </a:solidFill>
            <a:prstDash val="solid"/>
          </a:ln>
        </p:spPr>
      </p:sp>
      <p:sp>
        <p:nvSpPr>
          <p:cNvPr id="14" name="Text 12"/>
          <p:cNvSpPr txBox="1"/>
          <p:nvPr/>
        </p:nvSpPr>
        <p:spPr>
          <a:xfrm>
            <a:off x="3264408" y="1609344"/>
            <a:ext cx="2743200" cy="237744"/>
          </a:xfrm>
          <a:prstGeom prst="rect">
            <a:avLst/>
          </a:prstGeom>
          <a:noFill/>
          <a:ln/>
        </p:spPr>
        <p:txBody>
          <a:bodyPr wrap="square" lIns="0" tIns="0" rIns="0" bIns="0" rtlCol="0" anchor="ctr"/>
          <a:lstStyle/>
          <a:p>
            <a:pPr indent="0" marL="0">
              <a:buNone/>
            </a:pPr>
            <a:r>
              <a:rPr lang="en-US" sz="950" b="1" spc="140" kern="0" dirty="0">
                <a:solidFill>
                  <a:srgbClr val="F2B705"/>
                </a:solidFill>
                <a:latin typeface="Calibri" pitchFamily="34" charset="0"/>
                <a:ea typeface="Calibri" pitchFamily="34" charset="-122"/>
                <a:cs typeface="Calibri" pitchFamily="34" charset="-120"/>
              </a:rPr>
              <a:t>OUR PLATFORM</a:t>
            </a:r>
            <a:endParaRPr lang="en-US" sz="950" dirty="0"/>
          </a:p>
        </p:txBody>
      </p:sp>
      <p:sp>
        <p:nvSpPr>
          <p:cNvPr id="15" name="Shape 13"/>
          <p:cNvSpPr/>
          <p:nvPr/>
        </p:nvSpPr>
        <p:spPr>
          <a:xfrm>
            <a:off x="3264408" y="1956816"/>
            <a:ext cx="1636776" cy="786384"/>
          </a:xfrm>
          <a:prstGeom prst="roundRect">
            <a:avLst>
              <a:gd name="adj" fmla="val 11628"/>
            </a:avLst>
          </a:prstGeom>
          <a:solidFill>
            <a:srgbClr val="0B2B26"/>
          </a:solidFill>
          <a:ln w="9525">
            <a:solidFill>
              <a:srgbClr val="0E6B5C"/>
            </a:solidFill>
            <a:prstDash val="solid"/>
          </a:ln>
        </p:spPr>
      </p:sp>
      <p:sp>
        <p:nvSpPr>
          <p:cNvPr id="16" name="Text 14"/>
          <p:cNvSpPr txBox="1"/>
          <p:nvPr/>
        </p:nvSpPr>
        <p:spPr>
          <a:xfrm>
            <a:off x="3355848" y="1956816"/>
            <a:ext cx="1453896" cy="7863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API  ·  NestJS</a:t>
            </a:r>
            <a:endParaRPr lang="en-US" sz="1150" dirty="0"/>
          </a:p>
        </p:txBody>
      </p:sp>
      <p:sp>
        <p:nvSpPr>
          <p:cNvPr id="17" name="Shape 15"/>
          <p:cNvSpPr/>
          <p:nvPr/>
        </p:nvSpPr>
        <p:spPr>
          <a:xfrm>
            <a:off x="5024628" y="1956816"/>
            <a:ext cx="1636776" cy="786384"/>
          </a:xfrm>
          <a:prstGeom prst="roundRect">
            <a:avLst>
              <a:gd name="adj" fmla="val 11628"/>
            </a:avLst>
          </a:prstGeom>
          <a:solidFill>
            <a:srgbClr val="0B2B26"/>
          </a:solidFill>
          <a:ln w="9525">
            <a:solidFill>
              <a:srgbClr val="0E6B5C"/>
            </a:solidFill>
            <a:prstDash val="solid"/>
          </a:ln>
        </p:spPr>
      </p:sp>
      <p:sp>
        <p:nvSpPr>
          <p:cNvPr id="18" name="Text 16"/>
          <p:cNvSpPr txBox="1"/>
          <p:nvPr/>
        </p:nvSpPr>
        <p:spPr>
          <a:xfrm>
            <a:off x="5116068" y="1956816"/>
            <a:ext cx="1453896" cy="7863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Worker  ·  BullMQ</a:t>
            </a:r>
            <a:endParaRPr lang="en-US" sz="1150" dirty="0"/>
          </a:p>
        </p:txBody>
      </p:sp>
      <p:sp>
        <p:nvSpPr>
          <p:cNvPr id="19" name="Shape 17"/>
          <p:cNvSpPr/>
          <p:nvPr/>
        </p:nvSpPr>
        <p:spPr>
          <a:xfrm>
            <a:off x="6784848" y="1956816"/>
            <a:ext cx="1636776" cy="786384"/>
          </a:xfrm>
          <a:prstGeom prst="roundRect">
            <a:avLst>
              <a:gd name="adj" fmla="val 11628"/>
            </a:avLst>
          </a:prstGeom>
          <a:solidFill>
            <a:srgbClr val="0B2B26"/>
          </a:solidFill>
          <a:ln w="9525">
            <a:solidFill>
              <a:srgbClr val="0E6B5C"/>
            </a:solidFill>
            <a:prstDash val="solid"/>
          </a:ln>
        </p:spPr>
      </p:sp>
      <p:sp>
        <p:nvSpPr>
          <p:cNvPr id="20" name="Text 18"/>
          <p:cNvSpPr txBox="1"/>
          <p:nvPr/>
        </p:nvSpPr>
        <p:spPr>
          <a:xfrm>
            <a:off x="6876288" y="1956816"/>
            <a:ext cx="1453896" cy="7863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Geo Service</a:t>
            </a:r>
            <a:endParaRPr lang="en-US" sz="1150" dirty="0"/>
          </a:p>
        </p:txBody>
      </p:sp>
      <p:sp>
        <p:nvSpPr>
          <p:cNvPr id="21" name="Shape 19"/>
          <p:cNvSpPr/>
          <p:nvPr/>
        </p:nvSpPr>
        <p:spPr>
          <a:xfrm>
            <a:off x="3264408" y="2889504"/>
            <a:ext cx="1636776" cy="786384"/>
          </a:xfrm>
          <a:prstGeom prst="roundRect">
            <a:avLst>
              <a:gd name="adj" fmla="val 11628"/>
            </a:avLst>
          </a:prstGeom>
          <a:solidFill>
            <a:srgbClr val="0B2B26"/>
          </a:solidFill>
          <a:ln w="9525">
            <a:solidFill>
              <a:srgbClr val="0E6B5C"/>
            </a:solidFill>
            <a:prstDash val="solid"/>
          </a:ln>
        </p:spPr>
      </p:sp>
      <p:sp>
        <p:nvSpPr>
          <p:cNvPr id="22" name="Text 20"/>
          <p:cNvSpPr txBox="1"/>
          <p:nvPr/>
        </p:nvSpPr>
        <p:spPr>
          <a:xfrm>
            <a:off x="3355848" y="2889504"/>
            <a:ext cx="1453896" cy="7863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Admin Panel</a:t>
            </a:r>
            <a:endParaRPr lang="en-US" sz="1150" dirty="0"/>
          </a:p>
        </p:txBody>
      </p:sp>
      <p:sp>
        <p:nvSpPr>
          <p:cNvPr id="23" name="Shape 21"/>
          <p:cNvSpPr/>
          <p:nvPr/>
        </p:nvSpPr>
        <p:spPr>
          <a:xfrm>
            <a:off x="5024628" y="2889504"/>
            <a:ext cx="1636776" cy="786384"/>
          </a:xfrm>
          <a:prstGeom prst="roundRect">
            <a:avLst>
              <a:gd name="adj" fmla="val 11628"/>
            </a:avLst>
          </a:prstGeom>
          <a:solidFill>
            <a:srgbClr val="0B2B26"/>
          </a:solidFill>
          <a:ln w="9525">
            <a:solidFill>
              <a:srgbClr val="0E6B5C"/>
            </a:solidFill>
            <a:prstDash val="solid"/>
          </a:ln>
        </p:spPr>
      </p:sp>
      <p:sp>
        <p:nvSpPr>
          <p:cNvPr id="24" name="Text 22"/>
          <p:cNvSpPr txBox="1"/>
          <p:nvPr/>
        </p:nvSpPr>
        <p:spPr>
          <a:xfrm>
            <a:off x="5116068" y="2889504"/>
            <a:ext cx="1453896" cy="7863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Rider PWA</a:t>
            </a:r>
            <a:endParaRPr lang="en-US" sz="1150" dirty="0"/>
          </a:p>
        </p:txBody>
      </p:sp>
      <p:sp>
        <p:nvSpPr>
          <p:cNvPr id="25" name="Shape 23"/>
          <p:cNvSpPr/>
          <p:nvPr/>
        </p:nvSpPr>
        <p:spPr>
          <a:xfrm>
            <a:off x="6784848" y="2889504"/>
            <a:ext cx="1636776" cy="786384"/>
          </a:xfrm>
          <a:prstGeom prst="roundRect">
            <a:avLst>
              <a:gd name="adj" fmla="val 11628"/>
            </a:avLst>
          </a:prstGeom>
          <a:solidFill>
            <a:srgbClr val="0B2B26"/>
          </a:solidFill>
          <a:ln w="9525">
            <a:solidFill>
              <a:srgbClr val="0E6B5C"/>
            </a:solidFill>
            <a:prstDash val="solid"/>
          </a:ln>
        </p:spPr>
      </p:sp>
      <p:sp>
        <p:nvSpPr>
          <p:cNvPr id="26" name="Text 24"/>
          <p:cNvSpPr txBox="1"/>
          <p:nvPr/>
        </p:nvSpPr>
        <p:spPr>
          <a:xfrm>
            <a:off x="6876288" y="2889504"/>
            <a:ext cx="1453896" cy="78638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Tracking Page</a:t>
            </a:r>
            <a:endParaRPr lang="en-US" sz="1150" dirty="0"/>
          </a:p>
        </p:txBody>
      </p:sp>
      <p:sp>
        <p:nvSpPr>
          <p:cNvPr id="27" name="Text 25"/>
          <p:cNvSpPr txBox="1"/>
          <p:nvPr/>
        </p:nvSpPr>
        <p:spPr>
          <a:xfrm>
            <a:off x="3264408" y="3913632"/>
            <a:ext cx="2743200" cy="219456"/>
          </a:xfrm>
          <a:prstGeom prst="rect">
            <a:avLst/>
          </a:prstGeom>
          <a:noFill/>
          <a:ln/>
        </p:spPr>
        <p:txBody>
          <a:bodyPr wrap="square" lIns="0" tIns="0" rIns="0" bIns="0" rtlCol="0" anchor="ctr"/>
          <a:lstStyle/>
          <a:p>
            <a:pPr indent="0" marL="0">
              <a:buNone/>
            </a:pPr>
            <a:r>
              <a:rPr lang="en-US" sz="900" b="1" spc="120" kern="0" dirty="0">
                <a:solidFill>
                  <a:srgbClr val="6B8F87"/>
                </a:solidFill>
                <a:latin typeface="Calibri" pitchFamily="34" charset="0"/>
                <a:ea typeface="Calibri" pitchFamily="34" charset="-122"/>
                <a:cs typeface="Calibri" pitchFamily="34" charset="-120"/>
              </a:rPr>
              <a:t>DATA LAYER</a:t>
            </a:r>
            <a:endParaRPr lang="en-US" sz="900" dirty="0"/>
          </a:p>
        </p:txBody>
      </p:sp>
      <p:sp>
        <p:nvSpPr>
          <p:cNvPr id="28" name="Shape 26"/>
          <p:cNvSpPr/>
          <p:nvPr/>
        </p:nvSpPr>
        <p:spPr>
          <a:xfrm>
            <a:off x="3264408" y="4169664"/>
            <a:ext cx="1636776" cy="731520"/>
          </a:xfrm>
          <a:prstGeom prst="roundRect">
            <a:avLst>
              <a:gd name="adj" fmla="val 12500"/>
            </a:avLst>
          </a:prstGeom>
          <a:solidFill>
            <a:srgbClr val="0E6B5C"/>
          </a:solidFill>
          <a:ln/>
        </p:spPr>
      </p:sp>
      <p:sp>
        <p:nvSpPr>
          <p:cNvPr id="29" name="Text 27"/>
          <p:cNvSpPr txBox="1"/>
          <p:nvPr/>
        </p:nvSpPr>
        <p:spPr>
          <a:xfrm>
            <a:off x="3337560" y="4169664"/>
            <a:ext cx="1490472" cy="7315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PostgreSQL + PostGIS</a:t>
            </a:r>
            <a:endParaRPr lang="en-US" sz="1050" dirty="0"/>
          </a:p>
        </p:txBody>
      </p:sp>
      <p:sp>
        <p:nvSpPr>
          <p:cNvPr id="30" name="Shape 28"/>
          <p:cNvSpPr/>
          <p:nvPr/>
        </p:nvSpPr>
        <p:spPr>
          <a:xfrm>
            <a:off x="5024628" y="4169664"/>
            <a:ext cx="1636776" cy="731520"/>
          </a:xfrm>
          <a:prstGeom prst="roundRect">
            <a:avLst>
              <a:gd name="adj" fmla="val 12500"/>
            </a:avLst>
          </a:prstGeom>
          <a:solidFill>
            <a:srgbClr val="0E6B5C"/>
          </a:solidFill>
          <a:ln/>
        </p:spPr>
      </p:sp>
      <p:sp>
        <p:nvSpPr>
          <p:cNvPr id="31" name="Text 29"/>
          <p:cNvSpPr txBox="1"/>
          <p:nvPr/>
        </p:nvSpPr>
        <p:spPr>
          <a:xfrm>
            <a:off x="5097780" y="4169664"/>
            <a:ext cx="1490472" cy="7315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Redis</a:t>
            </a:r>
            <a:endParaRPr lang="en-US" sz="1050" dirty="0"/>
          </a:p>
        </p:txBody>
      </p:sp>
      <p:sp>
        <p:nvSpPr>
          <p:cNvPr id="32" name="Shape 30"/>
          <p:cNvSpPr/>
          <p:nvPr/>
        </p:nvSpPr>
        <p:spPr>
          <a:xfrm>
            <a:off x="6784848" y="4169664"/>
            <a:ext cx="1636776" cy="731520"/>
          </a:xfrm>
          <a:prstGeom prst="roundRect">
            <a:avLst>
              <a:gd name="adj" fmla="val 12500"/>
            </a:avLst>
          </a:prstGeom>
          <a:solidFill>
            <a:srgbClr val="0E6B5C"/>
          </a:solidFill>
          <a:ln/>
        </p:spPr>
      </p:sp>
      <p:sp>
        <p:nvSpPr>
          <p:cNvPr id="33" name="Text 31"/>
          <p:cNvSpPr txBox="1"/>
          <p:nvPr/>
        </p:nvSpPr>
        <p:spPr>
          <a:xfrm>
            <a:off x="6858000" y="4169664"/>
            <a:ext cx="1490472" cy="7315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Object Storage</a:t>
            </a:r>
            <a:endParaRPr lang="en-US" sz="1050" dirty="0"/>
          </a:p>
        </p:txBody>
      </p:sp>
      <p:sp>
        <p:nvSpPr>
          <p:cNvPr id="34" name="Text 32"/>
          <p:cNvSpPr txBox="1"/>
          <p:nvPr/>
        </p:nvSpPr>
        <p:spPr>
          <a:xfrm>
            <a:off x="3264408" y="4974336"/>
            <a:ext cx="5038344" cy="274320"/>
          </a:xfrm>
          <a:prstGeom prst="rect">
            <a:avLst/>
          </a:prstGeom>
          <a:noFill/>
          <a:ln/>
        </p:spPr>
        <p:txBody>
          <a:bodyPr wrap="square" lIns="0" tIns="0" rIns="0" bIns="0" rtlCol="0" anchor="ctr"/>
          <a:lstStyle/>
          <a:p>
            <a:pPr algn="ctr" indent="0" marL="0">
              <a:buNone/>
            </a:pPr>
            <a:r>
              <a:rPr lang="en-US" sz="1000" i="1" dirty="0">
                <a:solidFill>
                  <a:srgbClr val="6B8F87"/>
                </a:solidFill>
                <a:latin typeface="Calibri" pitchFamily="34" charset="0"/>
                <a:ea typeface="Calibri" pitchFamily="34" charset="-122"/>
                <a:cs typeface="Calibri" pitchFamily="34" charset="-120"/>
              </a:rPr>
              <a:t>Queues · retries · dead-letter · idempotency</a:t>
            </a:r>
            <a:endParaRPr lang="en-US" sz="1000" dirty="0"/>
          </a:p>
        </p:txBody>
      </p:sp>
      <p:sp>
        <p:nvSpPr>
          <p:cNvPr id="35" name="Text 33"/>
          <p:cNvSpPr txBox="1"/>
          <p:nvPr/>
        </p:nvSpPr>
        <p:spPr>
          <a:xfrm>
            <a:off x="8887968" y="1572768"/>
            <a:ext cx="2743200" cy="237744"/>
          </a:xfrm>
          <a:prstGeom prst="rect">
            <a:avLst/>
          </a:prstGeom>
          <a:noFill/>
          <a:ln/>
        </p:spPr>
        <p:txBody>
          <a:bodyPr wrap="square" lIns="0" tIns="0" rIns="0" bIns="0" rtlCol="0" anchor="ctr"/>
          <a:lstStyle/>
          <a:p>
            <a:pPr indent="0" marL="0">
              <a:buNone/>
            </a:pPr>
            <a:r>
              <a:rPr lang="en-US" sz="950" b="1" spc="140" kern="0" dirty="0">
                <a:solidFill>
                  <a:srgbClr val="6B8F87"/>
                </a:solidFill>
                <a:latin typeface="Calibri" pitchFamily="34" charset="0"/>
                <a:ea typeface="Calibri" pitchFamily="34" charset="-122"/>
                <a:cs typeface="Calibri" pitchFamily="34" charset="-120"/>
              </a:rPr>
              <a:t>EXTERNAL PROVIDERS</a:t>
            </a:r>
            <a:endParaRPr lang="en-US" sz="950" dirty="0"/>
          </a:p>
        </p:txBody>
      </p:sp>
      <p:sp>
        <p:nvSpPr>
          <p:cNvPr id="36" name="Shape 34"/>
          <p:cNvSpPr/>
          <p:nvPr/>
        </p:nvSpPr>
        <p:spPr>
          <a:xfrm>
            <a:off x="8887968" y="1901952"/>
            <a:ext cx="2788920" cy="877824"/>
          </a:xfrm>
          <a:prstGeom prst="roundRect">
            <a:avLst>
              <a:gd name="adj" fmla="val 10417"/>
            </a:avLst>
          </a:prstGeom>
          <a:solidFill>
            <a:srgbClr val="12403A"/>
          </a:solidFill>
          <a:ln w="9525">
            <a:solidFill>
              <a:srgbClr val="6B8F87"/>
            </a:solidFill>
            <a:prstDash val="solid"/>
          </a:ln>
        </p:spPr>
      </p:sp>
      <p:sp>
        <p:nvSpPr>
          <p:cNvPr id="37" name="Text 35"/>
          <p:cNvSpPr txBox="1"/>
          <p:nvPr/>
        </p:nvSpPr>
        <p:spPr>
          <a:xfrm>
            <a:off x="9052560" y="2020824"/>
            <a:ext cx="246888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Razorpay</a:t>
            </a:r>
            <a:endParaRPr lang="en-US" sz="1200" dirty="0"/>
          </a:p>
        </p:txBody>
      </p:sp>
      <p:sp>
        <p:nvSpPr>
          <p:cNvPr id="38" name="Text 36"/>
          <p:cNvSpPr txBox="1"/>
          <p:nvPr/>
        </p:nvSpPr>
        <p:spPr>
          <a:xfrm>
            <a:off x="9052560" y="2359152"/>
            <a:ext cx="2468880" cy="292608"/>
          </a:xfrm>
          <a:prstGeom prst="rect">
            <a:avLst/>
          </a:prstGeom>
          <a:noFill/>
          <a:ln/>
        </p:spPr>
        <p:txBody>
          <a:bodyPr wrap="square" lIns="0" tIns="0" rIns="0" bIns="0" rtlCol="0" anchor="ctr"/>
          <a:lstStyle/>
          <a:p>
            <a:pPr indent="0" marL="0">
              <a:buNone/>
            </a:pPr>
            <a:r>
              <a:rPr lang="en-US" sz="1000" dirty="0">
                <a:solidFill>
                  <a:srgbClr val="9DB8B1"/>
                </a:solidFill>
                <a:latin typeface="Calibri" pitchFamily="34" charset="0"/>
                <a:ea typeface="Calibri" pitchFamily="34" charset="-122"/>
                <a:cs typeface="Calibri" pitchFamily="34" charset="-120"/>
              </a:rPr>
              <a:t>Payment links, callbacks</a:t>
            </a:r>
            <a:endParaRPr lang="en-US" sz="1000" dirty="0"/>
          </a:p>
        </p:txBody>
      </p:sp>
      <p:sp>
        <p:nvSpPr>
          <p:cNvPr id="39" name="Shape 37"/>
          <p:cNvSpPr/>
          <p:nvPr/>
        </p:nvSpPr>
        <p:spPr>
          <a:xfrm>
            <a:off x="8540496" y="2340864"/>
            <a:ext cx="292608" cy="0"/>
          </a:xfrm>
          <a:prstGeom prst="line">
            <a:avLst/>
          </a:prstGeom>
          <a:noFill/>
          <a:ln w="22225">
            <a:solidFill>
              <a:srgbClr val="F2B705"/>
            </a:solidFill>
            <a:prstDash val="solid"/>
            <a:tailEnd type="triangle"/>
          </a:ln>
        </p:spPr>
      </p:sp>
      <p:sp>
        <p:nvSpPr>
          <p:cNvPr id="40" name="Shape 38"/>
          <p:cNvSpPr/>
          <p:nvPr/>
        </p:nvSpPr>
        <p:spPr>
          <a:xfrm>
            <a:off x="8887968" y="2935224"/>
            <a:ext cx="2788920" cy="877824"/>
          </a:xfrm>
          <a:prstGeom prst="roundRect">
            <a:avLst>
              <a:gd name="adj" fmla="val 10417"/>
            </a:avLst>
          </a:prstGeom>
          <a:solidFill>
            <a:srgbClr val="12403A"/>
          </a:solidFill>
          <a:ln w="9525">
            <a:solidFill>
              <a:srgbClr val="6B8F87"/>
            </a:solidFill>
            <a:prstDash val="solid"/>
          </a:ln>
        </p:spPr>
      </p:sp>
      <p:sp>
        <p:nvSpPr>
          <p:cNvPr id="41" name="Text 39"/>
          <p:cNvSpPr txBox="1"/>
          <p:nvPr/>
        </p:nvSpPr>
        <p:spPr>
          <a:xfrm>
            <a:off x="9052560" y="3054096"/>
            <a:ext cx="246888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Shiprocket / Delhivery</a:t>
            </a:r>
            <a:endParaRPr lang="en-US" sz="1200" dirty="0"/>
          </a:p>
        </p:txBody>
      </p:sp>
      <p:sp>
        <p:nvSpPr>
          <p:cNvPr id="42" name="Text 40"/>
          <p:cNvSpPr txBox="1"/>
          <p:nvPr/>
        </p:nvSpPr>
        <p:spPr>
          <a:xfrm>
            <a:off x="9052560" y="3392424"/>
            <a:ext cx="2468880" cy="292608"/>
          </a:xfrm>
          <a:prstGeom prst="rect">
            <a:avLst/>
          </a:prstGeom>
          <a:noFill/>
          <a:ln/>
        </p:spPr>
        <p:txBody>
          <a:bodyPr wrap="square" lIns="0" tIns="0" rIns="0" bIns="0" rtlCol="0" anchor="ctr"/>
          <a:lstStyle/>
          <a:p>
            <a:pPr indent="0" marL="0">
              <a:buNone/>
            </a:pPr>
            <a:r>
              <a:rPr lang="en-US" sz="1000" dirty="0">
                <a:solidFill>
                  <a:srgbClr val="9DB8B1"/>
                </a:solidFill>
                <a:latin typeface="Calibri" pitchFamily="34" charset="0"/>
                <a:ea typeface="Calibri" pitchFamily="34" charset="-122"/>
                <a:cs typeface="Calibri" pitchFamily="34" charset="-120"/>
              </a:rPr>
              <a:t>Shipments, AWB, status</a:t>
            </a:r>
            <a:endParaRPr lang="en-US" sz="1000" dirty="0"/>
          </a:p>
        </p:txBody>
      </p:sp>
      <p:sp>
        <p:nvSpPr>
          <p:cNvPr id="43" name="Shape 41"/>
          <p:cNvSpPr/>
          <p:nvPr/>
        </p:nvSpPr>
        <p:spPr>
          <a:xfrm>
            <a:off x="8540496" y="3374136"/>
            <a:ext cx="292608" cy="0"/>
          </a:xfrm>
          <a:prstGeom prst="line">
            <a:avLst/>
          </a:prstGeom>
          <a:noFill/>
          <a:ln w="22225">
            <a:solidFill>
              <a:srgbClr val="F2B705"/>
            </a:solidFill>
            <a:prstDash val="solid"/>
            <a:tailEnd type="triangle"/>
          </a:ln>
        </p:spPr>
      </p:sp>
      <p:sp>
        <p:nvSpPr>
          <p:cNvPr id="44" name="Shape 42"/>
          <p:cNvSpPr/>
          <p:nvPr/>
        </p:nvSpPr>
        <p:spPr>
          <a:xfrm>
            <a:off x="8887968" y="3968496"/>
            <a:ext cx="2788920" cy="877824"/>
          </a:xfrm>
          <a:prstGeom prst="roundRect">
            <a:avLst>
              <a:gd name="adj" fmla="val 10417"/>
            </a:avLst>
          </a:prstGeom>
          <a:solidFill>
            <a:srgbClr val="12403A"/>
          </a:solidFill>
          <a:ln w="9525">
            <a:solidFill>
              <a:srgbClr val="6B8F87"/>
            </a:solidFill>
            <a:prstDash val="solid"/>
          </a:ln>
        </p:spPr>
      </p:sp>
      <p:sp>
        <p:nvSpPr>
          <p:cNvPr id="45" name="Text 43"/>
          <p:cNvSpPr txBox="1"/>
          <p:nvPr/>
        </p:nvSpPr>
        <p:spPr>
          <a:xfrm>
            <a:off x="9052560" y="4087368"/>
            <a:ext cx="246888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Maps platform</a:t>
            </a:r>
            <a:endParaRPr lang="en-US" sz="1200" dirty="0"/>
          </a:p>
        </p:txBody>
      </p:sp>
      <p:sp>
        <p:nvSpPr>
          <p:cNvPr id="46" name="Text 44"/>
          <p:cNvSpPr txBox="1"/>
          <p:nvPr/>
        </p:nvSpPr>
        <p:spPr>
          <a:xfrm>
            <a:off x="9052560" y="4425696"/>
            <a:ext cx="2468880" cy="292608"/>
          </a:xfrm>
          <a:prstGeom prst="rect">
            <a:avLst/>
          </a:prstGeom>
          <a:noFill/>
          <a:ln/>
        </p:spPr>
        <p:txBody>
          <a:bodyPr wrap="square" lIns="0" tIns="0" rIns="0" bIns="0" rtlCol="0" anchor="ctr"/>
          <a:lstStyle/>
          <a:p>
            <a:pPr indent="0" marL="0">
              <a:buNone/>
            </a:pPr>
            <a:r>
              <a:rPr lang="en-US" sz="1000" dirty="0">
                <a:solidFill>
                  <a:srgbClr val="9DB8B1"/>
                </a:solidFill>
                <a:latin typeface="Calibri" pitchFamily="34" charset="0"/>
                <a:ea typeface="Calibri" pitchFamily="34" charset="-122"/>
                <a:cs typeface="Calibri" pitchFamily="34" charset="-120"/>
              </a:rPr>
              <a:t>Geocoding, tracking map</a:t>
            </a:r>
            <a:endParaRPr lang="en-US" sz="1000" dirty="0"/>
          </a:p>
        </p:txBody>
      </p:sp>
      <p:sp>
        <p:nvSpPr>
          <p:cNvPr id="47" name="Shape 45"/>
          <p:cNvSpPr/>
          <p:nvPr/>
        </p:nvSpPr>
        <p:spPr>
          <a:xfrm>
            <a:off x="8540496" y="4407408"/>
            <a:ext cx="292608" cy="0"/>
          </a:xfrm>
          <a:prstGeom prst="line">
            <a:avLst/>
          </a:prstGeom>
          <a:noFill/>
          <a:ln w="22225">
            <a:solidFill>
              <a:srgbClr val="F2B705"/>
            </a:solidFill>
            <a:prstDash val="solid"/>
            <a:tailEnd type="triangle"/>
          </a:ln>
        </p:spPr>
      </p:sp>
      <p:sp>
        <p:nvSpPr>
          <p:cNvPr id="48" name="Shape 46"/>
          <p:cNvSpPr/>
          <p:nvPr/>
        </p:nvSpPr>
        <p:spPr>
          <a:xfrm>
            <a:off x="548640" y="5504688"/>
            <a:ext cx="11094415" cy="640080"/>
          </a:xfrm>
          <a:prstGeom prst="roundRect">
            <a:avLst>
              <a:gd name="adj" fmla="val 14286"/>
            </a:avLst>
          </a:prstGeom>
          <a:solidFill>
            <a:srgbClr val="0E6B5C"/>
          </a:solidFill>
          <a:ln/>
        </p:spPr>
      </p:sp>
      <p:sp>
        <p:nvSpPr>
          <p:cNvPr id="49" name="Text 47"/>
          <p:cNvSpPr txBox="1"/>
          <p:nvPr/>
        </p:nvSpPr>
        <p:spPr>
          <a:xfrm>
            <a:off x="822960" y="5504688"/>
            <a:ext cx="10545775" cy="6400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Every provider sits behind an interface — WhatsAppProvider, PaymentProvider, LogisticsProvider, GeoProvider. Swap the courier, the gateway, or the BSP without touching business logic.</a:t>
            </a:r>
            <a:endParaRPr lang="en-US" sz="1200" dirty="0"/>
          </a:p>
        </p:txBody>
      </p:sp>
      <p:sp>
        <p:nvSpPr>
          <p:cNvPr id="51" name="Text 48"/>
          <p:cNvSpPr txBox="1"/>
          <p:nvPr/>
        </p:nvSpPr>
        <p:spPr>
          <a:xfrm>
            <a:off x="11094415" y="6199632"/>
            <a:ext cx="548640" cy="274320"/>
          </a:xfrm>
          <a:prstGeom prst="rect">
            <a:avLst/>
          </a:prstGeom>
          <a:noFill/>
          <a:ln/>
        </p:spPr>
        <p:txBody>
          <a:bodyPr wrap="square" lIns="0" tIns="0" rIns="0" bIns="0" rtlCol="0" anchor="ctr"/>
          <a:lstStyle/>
          <a:p>
            <a:pPr algn="r" indent="0" marL="0">
              <a:buNone/>
            </a:pPr>
            <a:r>
              <a:rPr lang="en-US" sz="1000" dirty="0">
                <a:solidFill>
                  <a:srgbClr val="6B8F87"/>
                </a:solidFill>
                <a:latin typeface="Calibri" pitchFamily="34" charset="0"/>
                <a:ea typeface="Calibri" pitchFamily="34" charset="-122"/>
                <a:cs typeface="Calibri" pitchFamily="34" charset="-120"/>
              </a:rPr>
              <a:t>5</a:t>
            </a:r>
            <a:endParaRPr lang="en-US" sz="1000" dirty="0"/>
          </a:p>
        </p:txBody>
      </p:sp>
      <p:sp>
        <p:nvSpPr>
          <p:cNvPr id="52" name="Text 49"/>
          <p:cNvSpPr txBox="1"/>
          <p:nvPr/>
        </p:nvSpPr>
        <p:spPr>
          <a:xfrm>
            <a:off x="548640" y="6199632"/>
            <a:ext cx="4572000" cy="274320"/>
          </a:xfrm>
          <a:prstGeom prst="rect">
            <a:avLst/>
          </a:prstGeom>
          <a:noFill/>
          <a:ln/>
        </p:spPr>
        <p:txBody>
          <a:bodyPr wrap="square" lIns="0" tIns="0" rIns="0" bIns="0" rtlCol="0" anchor="ctr"/>
          <a:lstStyle/>
          <a:p>
            <a:pPr algn="l" indent="0" marL="0">
              <a:buNone/>
            </a:pPr>
            <a:r>
              <a:rPr lang="en-US" sz="900" dirty="0">
                <a:solidFill>
                  <a:srgbClr val="6B8F87"/>
                </a:solidFill>
                <a:latin typeface="Calibri" pitchFamily="34" charset="0"/>
                <a:ea typeface="Calibri" pitchFamily="34" charset="-122"/>
                <a:cs typeface="Calibri" pitchFamily="34" charset="-120"/>
              </a:rPr>
              <a:t>WhatsApp Commerce Platform  ·  Implementation Plan v2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56032"/>
          </a:xfrm>
          <a:prstGeom prst="rect">
            <a:avLst/>
          </a:prstGeom>
          <a:noFill/>
          <a:ln/>
        </p:spPr>
        <p:txBody>
          <a:bodyPr wrap="square" lIns="0" tIns="0" rIns="0" bIns="0" rtlCol="0" anchor="ctr"/>
          <a:lstStyle/>
          <a:p>
            <a:pPr algn="l" indent="0" marL="0">
              <a:buNone/>
            </a:pPr>
            <a:r>
              <a:rPr lang="en-US" sz="1100" b="1" spc="200" kern="0" dirty="0">
                <a:solidFill>
                  <a:srgbClr val="0E6B5C"/>
                </a:solidFill>
                <a:latin typeface="Calibri" pitchFamily="34" charset="0"/>
                <a:ea typeface="Calibri" pitchFamily="34" charset="-122"/>
                <a:cs typeface="Calibri" pitchFamily="34" charset="-120"/>
              </a:rPr>
              <a:t>MECHANICS</a:t>
            </a:r>
            <a:endParaRPr lang="en-US" sz="1100" dirty="0"/>
          </a:p>
        </p:txBody>
      </p:sp>
      <p:sp>
        <p:nvSpPr>
          <p:cNvPr id="3" name="Text 1"/>
          <p:cNvSpPr txBox="1"/>
          <p:nvPr/>
        </p:nvSpPr>
        <p:spPr>
          <a:xfrm>
            <a:off x="548640" y="640080"/>
            <a:ext cx="11094415" cy="731520"/>
          </a:xfrm>
          <a:prstGeom prst="rect">
            <a:avLst/>
          </a:prstGeom>
          <a:noFill/>
          <a:ln/>
        </p:spPr>
        <p:txBody>
          <a:bodyPr wrap="square" lIns="0" tIns="0" rIns="0" bIns="0" rtlCol="0" anchor="ctr"/>
          <a:lstStyle/>
          <a:p>
            <a:pPr algn="l" indent="0" marL="0">
              <a:buNone/>
            </a:pPr>
            <a:r>
              <a:rPr lang="en-US" sz="3300" b="1" dirty="0">
                <a:solidFill>
                  <a:srgbClr val="1F2A28"/>
                </a:solidFill>
                <a:latin typeface="Cambria" pitchFamily="34" charset="0"/>
                <a:ea typeface="Cambria" pitchFamily="34" charset="-122"/>
                <a:cs typeface="Cambria" pitchFamily="34" charset="-120"/>
              </a:rPr>
              <a:t>What happens when a customer sends a message</a:t>
            </a:r>
            <a:endParaRPr lang="en-US" sz="3300" dirty="0"/>
          </a:p>
        </p:txBody>
      </p:sp>
      <p:sp>
        <p:nvSpPr>
          <p:cNvPr id="4" name="Shape 2"/>
          <p:cNvSpPr/>
          <p:nvPr/>
        </p:nvSpPr>
        <p:spPr>
          <a:xfrm>
            <a:off x="548640" y="1645920"/>
            <a:ext cx="11094415" cy="768096"/>
          </a:xfrm>
          <a:prstGeom prst="roundRect">
            <a:avLst>
              <a:gd name="adj" fmla="val 11905"/>
            </a:avLst>
          </a:prstGeom>
          <a:solidFill>
            <a:srgbClr val="F1F6F4"/>
          </a:solidFill>
          <a:ln w="12700">
            <a:solidFill>
              <a:srgbClr val="E4EDEA"/>
            </a:solidFill>
            <a:prstDash val="solid"/>
          </a:ln>
        </p:spPr>
      </p:sp>
      <p:sp>
        <p:nvSpPr>
          <p:cNvPr id="5" name="Shape 3"/>
          <p:cNvSpPr/>
          <p:nvPr/>
        </p:nvSpPr>
        <p:spPr>
          <a:xfrm>
            <a:off x="804672" y="1792224"/>
            <a:ext cx="475488" cy="475488"/>
          </a:xfrm>
          <a:prstGeom prst="ellipse">
            <a:avLst/>
          </a:prstGeom>
          <a:solidFill>
            <a:srgbClr val="0E6B5C"/>
          </a:solidFill>
          <a:ln/>
        </p:spPr>
      </p:sp>
      <p:sp>
        <p:nvSpPr>
          <p:cNvPr id="6" name="Text 4"/>
          <p:cNvSpPr txBox="1"/>
          <p:nvPr/>
        </p:nvSpPr>
        <p:spPr>
          <a:xfrm>
            <a:off x="804672" y="1792224"/>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463040" y="1645920"/>
            <a:ext cx="1234440" cy="768096"/>
          </a:xfrm>
          <a:prstGeom prst="rect">
            <a:avLst/>
          </a:prstGeom>
          <a:noFill/>
          <a:ln/>
        </p:spPr>
        <p:txBody>
          <a:bodyPr wrap="square" lIns="0" tIns="0" rIns="0" bIns="0" rtlCol="0" anchor="ctr"/>
          <a:lstStyle/>
          <a:p>
            <a:pPr indent="0" marL="0">
              <a:buNone/>
            </a:pPr>
            <a:r>
              <a:rPr lang="en-US" sz="1400" b="1" dirty="0">
                <a:solidFill>
                  <a:srgbClr val="1F2A28"/>
                </a:solidFill>
                <a:latin typeface="Calibri" pitchFamily="34" charset="0"/>
                <a:ea typeface="Calibri" pitchFamily="34" charset="-122"/>
                <a:cs typeface="Calibri" pitchFamily="34" charset="-120"/>
              </a:rPr>
              <a:t>Receive</a:t>
            </a:r>
            <a:endParaRPr lang="en-US" sz="1400" dirty="0"/>
          </a:p>
        </p:txBody>
      </p:sp>
      <p:sp>
        <p:nvSpPr>
          <p:cNvPr id="8" name="Text 6"/>
          <p:cNvSpPr txBox="1"/>
          <p:nvPr/>
        </p:nvSpPr>
        <p:spPr>
          <a:xfrm>
            <a:off x="2743200" y="1645920"/>
            <a:ext cx="5806440" cy="768096"/>
          </a:xfrm>
          <a:prstGeom prst="rect">
            <a:avLst/>
          </a:prstGeom>
          <a:noFill/>
          <a:ln/>
        </p:spPr>
        <p:txBody>
          <a:bodyPr wrap="square" lIns="0" tIns="0" rIns="0" bIns="0" rtlCol="0" anchor="ctr"/>
          <a:lstStyle/>
          <a:p>
            <a:pPr indent="0" marL="0">
              <a:lnSpc>
                <a:spcPts val="1500"/>
              </a:lnSpc>
              <a:buNone/>
            </a:pPr>
            <a:r>
              <a:rPr lang="en-US" sz="1150" dirty="0">
                <a:solidFill>
                  <a:srgbClr val="6B8F87"/>
                </a:solidFill>
                <a:latin typeface="Calibri" pitchFamily="34" charset="0"/>
                <a:ea typeface="Calibri" pitchFamily="34" charset="-122"/>
                <a:cs typeface="Calibri" pitchFamily="34" charset="-120"/>
              </a:rPr>
              <a:t>The message hits POST /webhooks/whatsapp. We verify the payload signature, store the raw event for replay, and acknowledge in under 500 ms.</a:t>
            </a:r>
            <a:endParaRPr lang="en-US" sz="1150" dirty="0"/>
          </a:p>
        </p:txBody>
      </p:sp>
      <p:sp>
        <p:nvSpPr>
          <p:cNvPr id="9" name="Text 7"/>
          <p:cNvSpPr txBox="1"/>
          <p:nvPr/>
        </p:nvSpPr>
        <p:spPr>
          <a:xfrm>
            <a:off x="8732520" y="1645920"/>
            <a:ext cx="2788920" cy="768096"/>
          </a:xfrm>
          <a:prstGeom prst="rect">
            <a:avLst/>
          </a:prstGeom>
          <a:noFill/>
          <a:ln/>
        </p:spPr>
        <p:txBody>
          <a:bodyPr wrap="square" lIns="0" tIns="0" rIns="0" bIns="0" rtlCol="0" anchor="ctr"/>
          <a:lstStyle/>
          <a:p>
            <a:pPr algn="r" indent="0" marL="0">
              <a:buNone/>
            </a:pPr>
            <a:r>
              <a:rPr lang="en-US" sz="1000" i="1" dirty="0">
                <a:solidFill>
                  <a:srgbClr val="0E6B5C"/>
                </a:solidFill>
                <a:latin typeface="Calibri" pitchFamily="34" charset="0"/>
                <a:ea typeface="Calibri" pitchFamily="34" charset="-122"/>
                <a:cs typeface="Calibri" pitchFamily="34" charset="-120"/>
              </a:rPr>
              <a:t>Signature verified · raw event stored</a:t>
            </a:r>
            <a:endParaRPr lang="en-US" sz="1000" dirty="0"/>
          </a:p>
        </p:txBody>
      </p:sp>
      <p:sp>
        <p:nvSpPr>
          <p:cNvPr id="10" name="Shape 8"/>
          <p:cNvSpPr/>
          <p:nvPr/>
        </p:nvSpPr>
        <p:spPr>
          <a:xfrm>
            <a:off x="548640" y="2505456"/>
            <a:ext cx="11094415" cy="768096"/>
          </a:xfrm>
          <a:prstGeom prst="roundRect">
            <a:avLst>
              <a:gd name="adj" fmla="val 11905"/>
            </a:avLst>
          </a:prstGeom>
          <a:solidFill>
            <a:srgbClr val="FFFFFF"/>
          </a:solidFill>
          <a:ln w="12700">
            <a:solidFill>
              <a:srgbClr val="E4EDEA"/>
            </a:solidFill>
            <a:prstDash val="solid"/>
          </a:ln>
        </p:spPr>
      </p:sp>
      <p:sp>
        <p:nvSpPr>
          <p:cNvPr id="11" name="Shape 9"/>
          <p:cNvSpPr/>
          <p:nvPr/>
        </p:nvSpPr>
        <p:spPr>
          <a:xfrm>
            <a:off x="804672" y="2651760"/>
            <a:ext cx="475488" cy="475488"/>
          </a:xfrm>
          <a:prstGeom prst="ellipse">
            <a:avLst/>
          </a:prstGeom>
          <a:solidFill>
            <a:srgbClr val="0E6B5C"/>
          </a:solidFill>
          <a:ln/>
        </p:spPr>
      </p:sp>
      <p:sp>
        <p:nvSpPr>
          <p:cNvPr id="12" name="Text 10"/>
          <p:cNvSpPr txBox="1"/>
          <p:nvPr/>
        </p:nvSpPr>
        <p:spPr>
          <a:xfrm>
            <a:off x="804672" y="2651760"/>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1463040" y="2505456"/>
            <a:ext cx="1234440" cy="768096"/>
          </a:xfrm>
          <a:prstGeom prst="rect">
            <a:avLst/>
          </a:prstGeom>
          <a:noFill/>
          <a:ln/>
        </p:spPr>
        <p:txBody>
          <a:bodyPr wrap="square" lIns="0" tIns="0" rIns="0" bIns="0" rtlCol="0" anchor="ctr"/>
          <a:lstStyle/>
          <a:p>
            <a:pPr indent="0" marL="0">
              <a:buNone/>
            </a:pPr>
            <a:r>
              <a:rPr lang="en-US" sz="1400" b="1" dirty="0">
                <a:solidFill>
                  <a:srgbClr val="1F2A28"/>
                </a:solidFill>
                <a:latin typeface="Calibri" pitchFamily="34" charset="0"/>
                <a:ea typeface="Calibri" pitchFamily="34" charset="-122"/>
                <a:cs typeface="Calibri" pitchFamily="34" charset="-120"/>
              </a:rPr>
              <a:t>Route</a:t>
            </a:r>
            <a:endParaRPr lang="en-US" sz="1400" dirty="0"/>
          </a:p>
        </p:txBody>
      </p:sp>
      <p:sp>
        <p:nvSpPr>
          <p:cNvPr id="14" name="Text 12"/>
          <p:cNvSpPr txBox="1"/>
          <p:nvPr/>
        </p:nvSpPr>
        <p:spPr>
          <a:xfrm>
            <a:off x="2743200" y="2505456"/>
            <a:ext cx="5806440" cy="768096"/>
          </a:xfrm>
          <a:prstGeom prst="rect">
            <a:avLst/>
          </a:prstGeom>
          <a:noFill/>
          <a:ln/>
        </p:spPr>
        <p:txBody>
          <a:bodyPr wrap="square" lIns="0" tIns="0" rIns="0" bIns="0" rtlCol="0" anchor="ctr"/>
          <a:lstStyle/>
          <a:p>
            <a:pPr indent="0" marL="0">
              <a:lnSpc>
                <a:spcPts val="1500"/>
              </a:lnSpc>
              <a:buNone/>
            </a:pPr>
            <a:r>
              <a:rPr lang="en-US" sz="1150" dirty="0">
                <a:solidFill>
                  <a:srgbClr val="6B8F87"/>
                </a:solidFill>
                <a:latin typeface="Calibri" pitchFamily="34" charset="0"/>
                <a:ea typeface="Calibri" pitchFamily="34" charset="-122"/>
                <a:cs typeface="Calibri" pitchFamily="34" charset="-120"/>
              </a:rPr>
              <a:t>Session state is loaded from Redis. The reply is mapped to a flow step — browsing, cart update, location capture, or checkout.</a:t>
            </a:r>
            <a:endParaRPr lang="en-US" sz="1150" dirty="0"/>
          </a:p>
        </p:txBody>
      </p:sp>
      <p:sp>
        <p:nvSpPr>
          <p:cNvPr id="15" name="Text 13"/>
          <p:cNvSpPr txBox="1"/>
          <p:nvPr/>
        </p:nvSpPr>
        <p:spPr>
          <a:xfrm>
            <a:off x="8732520" y="2505456"/>
            <a:ext cx="2788920" cy="768096"/>
          </a:xfrm>
          <a:prstGeom prst="rect">
            <a:avLst/>
          </a:prstGeom>
          <a:noFill/>
          <a:ln/>
        </p:spPr>
        <p:txBody>
          <a:bodyPr wrap="square" lIns="0" tIns="0" rIns="0" bIns="0" rtlCol="0" anchor="ctr"/>
          <a:lstStyle/>
          <a:p>
            <a:pPr algn="r" indent="0" marL="0">
              <a:buNone/>
            </a:pPr>
            <a:r>
              <a:rPr lang="en-US" sz="1000" i="1" dirty="0">
                <a:solidFill>
                  <a:srgbClr val="0E6B5C"/>
                </a:solidFill>
                <a:latin typeface="Calibri" pitchFamily="34" charset="0"/>
                <a:ea typeface="Calibri" pitchFamily="34" charset="-122"/>
                <a:cs typeface="Calibri" pitchFamily="34" charset="-120"/>
              </a:rPr>
              <a:t>Session TTL 30 min · cart survives</a:t>
            </a:r>
            <a:endParaRPr lang="en-US" sz="1000" dirty="0"/>
          </a:p>
        </p:txBody>
      </p:sp>
      <p:sp>
        <p:nvSpPr>
          <p:cNvPr id="16" name="Shape 14"/>
          <p:cNvSpPr/>
          <p:nvPr/>
        </p:nvSpPr>
        <p:spPr>
          <a:xfrm>
            <a:off x="548640" y="3364992"/>
            <a:ext cx="11094415" cy="768096"/>
          </a:xfrm>
          <a:prstGeom prst="roundRect">
            <a:avLst>
              <a:gd name="adj" fmla="val 11905"/>
            </a:avLst>
          </a:prstGeom>
          <a:solidFill>
            <a:srgbClr val="F1F6F4"/>
          </a:solidFill>
          <a:ln w="12700">
            <a:solidFill>
              <a:srgbClr val="E4EDEA"/>
            </a:solidFill>
            <a:prstDash val="solid"/>
          </a:ln>
        </p:spPr>
      </p:sp>
      <p:sp>
        <p:nvSpPr>
          <p:cNvPr id="17" name="Shape 15"/>
          <p:cNvSpPr/>
          <p:nvPr/>
        </p:nvSpPr>
        <p:spPr>
          <a:xfrm>
            <a:off x="804672" y="3511296"/>
            <a:ext cx="475488" cy="475488"/>
          </a:xfrm>
          <a:prstGeom prst="ellipse">
            <a:avLst/>
          </a:prstGeom>
          <a:solidFill>
            <a:srgbClr val="0E6B5C"/>
          </a:solidFill>
          <a:ln/>
        </p:spPr>
      </p:sp>
      <p:sp>
        <p:nvSpPr>
          <p:cNvPr id="18" name="Text 16"/>
          <p:cNvSpPr txBox="1"/>
          <p:nvPr/>
        </p:nvSpPr>
        <p:spPr>
          <a:xfrm>
            <a:off x="804672" y="3511296"/>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463040" y="3364992"/>
            <a:ext cx="1234440" cy="768096"/>
          </a:xfrm>
          <a:prstGeom prst="rect">
            <a:avLst/>
          </a:prstGeom>
          <a:noFill/>
          <a:ln/>
        </p:spPr>
        <p:txBody>
          <a:bodyPr wrap="square" lIns="0" tIns="0" rIns="0" bIns="0" rtlCol="0" anchor="ctr"/>
          <a:lstStyle/>
          <a:p>
            <a:pPr indent="0" marL="0">
              <a:buNone/>
            </a:pPr>
            <a:r>
              <a:rPr lang="en-US" sz="1400" b="1" dirty="0">
                <a:solidFill>
                  <a:srgbClr val="1F2A28"/>
                </a:solidFill>
                <a:latin typeface="Calibri" pitchFamily="34" charset="0"/>
                <a:ea typeface="Calibri" pitchFamily="34" charset="-122"/>
                <a:cs typeface="Calibri" pitchFamily="34" charset="-120"/>
              </a:rPr>
              <a:t>Act</a:t>
            </a:r>
            <a:endParaRPr lang="en-US" sz="1400" dirty="0"/>
          </a:p>
        </p:txBody>
      </p:sp>
      <p:sp>
        <p:nvSpPr>
          <p:cNvPr id="20" name="Text 18"/>
          <p:cNvSpPr txBox="1"/>
          <p:nvPr/>
        </p:nvSpPr>
        <p:spPr>
          <a:xfrm>
            <a:off x="2743200" y="3364992"/>
            <a:ext cx="5806440" cy="768096"/>
          </a:xfrm>
          <a:prstGeom prst="rect">
            <a:avLst/>
          </a:prstGeom>
          <a:noFill/>
          <a:ln/>
        </p:spPr>
        <p:txBody>
          <a:bodyPr wrap="square" lIns="0" tIns="0" rIns="0" bIns="0" rtlCol="0" anchor="ctr"/>
          <a:lstStyle/>
          <a:p>
            <a:pPr indent="0" marL="0">
              <a:lnSpc>
                <a:spcPts val="1500"/>
              </a:lnSpc>
              <a:buNone/>
            </a:pPr>
            <a:r>
              <a:rPr lang="en-US" sz="1150" dirty="0">
                <a:solidFill>
                  <a:srgbClr val="6B8F87"/>
                </a:solidFill>
                <a:latin typeface="Calibri" pitchFamily="34" charset="0"/>
                <a:ea typeface="Calibri" pitchFamily="34" charset="-122"/>
                <a:cs typeface="Calibri" pitchFamily="34" charset="-120"/>
              </a:rPr>
              <a:t>Business logic runs: validate product and price, reserve stock with an expiry, check serviceability against the delivery pin, create the order.</a:t>
            </a:r>
            <a:endParaRPr lang="en-US" sz="1150" dirty="0"/>
          </a:p>
        </p:txBody>
      </p:sp>
      <p:sp>
        <p:nvSpPr>
          <p:cNvPr id="21" name="Text 19"/>
          <p:cNvSpPr txBox="1"/>
          <p:nvPr/>
        </p:nvSpPr>
        <p:spPr>
          <a:xfrm>
            <a:off x="8732520" y="3364992"/>
            <a:ext cx="2788920" cy="768096"/>
          </a:xfrm>
          <a:prstGeom prst="rect">
            <a:avLst/>
          </a:prstGeom>
          <a:noFill/>
          <a:ln/>
        </p:spPr>
        <p:txBody>
          <a:bodyPr wrap="square" lIns="0" tIns="0" rIns="0" bIns="0" rtlCol="0" anchor="ctr"/>
          <a:lstStyle/>
          <a:p>
            <a:pPr algn="r" indent="0" marL="0">
              <a:buNone/>
            </a:pPr>
            <a:r>
              <a:rPr lang="en-US" sz="1000" i="1" dirty="0">
                <a:solidFill>
                  <a:srgbClr val="0E6B5C"/>
                </a:solidFill>
                <a:latin typeface="Calibri" pitchFamily="34" charset="0"/>
                <a:ea typeface="Calibri" pitchFamily="34" charset="-122"/>
                <a:cs typeface="Calibri" pitchFamily="34" charset="-120"/>
              </a:rPr>
              <a:t>Guarded state transitions · audit logged</a:t>
            </a:r>
            <a:endParaRPr lang="en-US" sz="1000" dirty="0"/>
          </a:p>
        </p:txBody>
      </p:sp>
      <p:sp>
        <p:nvSpPr>
          <p:cNvPr id="22" name="Shape 20"/>
          <p:cNvSpPr/>
          <p:nvPr/>
        </p:nvSpPr>
        <p:spPr>
          <a:xfrm>
            <a:off x="548640" y="4224528"/>
            <a:ext cx="11094415" cy="768096"/>
          </a:xfrm>
          <a:prstGeom prst="roundRect">
            <a:avLst>
              <a:gd name="adj" fmla="val 11905"/>
            </a:avLst>
          </a:prstGeom>
          <a:solidFill>
            <a:srgbClr val="FFFFFF"/>
          </a:solidFill>
          <a:ln w="12700">
            <a:solidFill>
              <a:srgbClr val="E4EDEA"/>
            </a:solidFill>
            <a:prstDash val="solid"/>
          </a:ln>
        </p:spPr>
      </p:sp>
      <p:sp>
        <p:nvSpPr>
          <p:cNvPr id="23" name="Shape 21"/>
          <p:cNvSpPr/>
          <p:nvPr/>
        </p:nvSpPr>
        <p:spPr>
          <a:xfrm>
            <a:off x="804672" y="4370832"/>
            <a:ext cx="475488" cy="475488"/>
          </a:xfrm>
          <a:prstGeom prst="ellipse">
            <a:avLst/>
          </a:prstGeom>
          <a:solidFill>
            <a:srgbClr val="0E6B5C"/>
          </a:solidFill>
          <a:ln/>
        </p:spPr>
      </p:sp>
      <p:sp>
        <p:nvSpPr>
          <p:cNvPr id="24" name="Text 22"/>
          <p:cNvSpPr txBox="1"/>
          <p:nvPr/>
        </p:nvSpPr>
        <p:spPr>
          <a:xfrm>
            <a:off x="804672" y="4370832"/>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1463040" y="4224528"/>
            <a:ext cx="1234440" cy="768096"/>
          </a:xfrm>
          <a:prstGeom prst="rect">
            <a:avLst/>
          </a:prstGeom>
          <a:noFill/>
          <a:ln/>
        </p:spPr>
        <p:txBody>
          <a:bodyPr wrap="square" lIns="0" tIns="0" rIns="0" bIns="0" rtlCol="0" anchor="ctr"/>
          <a:lstStyle/>
          <a:p>
            <a:pPr indent="0" marL="0">
              <a:buNone/>
            </a:pPr>
            <a:r>
              <a:rPr lang="en-US" sz="1400" b="1" dirty="0">
                <a:solidFill>
                  <a:srgbClr val="1F2A28"/>
                </a:solidFill>
                <a:latin typeface="Calibri" pitchFamily="34" charset="0"/>
                <a:ea typeface="Calibri" pitchFamily="34" charset="-122"/>
                <a:cs typeface="Calibri" pitchFamily="34" charset="-120"/>
              </a:rPr>
              <a:t>Reply</a:t>
            </a:r>
            <a:endParaRPr lang="en-US" sz="1400" dirty="0"/>
          </a:p>
        </p:txBody>
      </p:sp>
      <p:sp>
        <p:nvSpPr>
          <p:cNvPr id="26" name="Text 24"/>
          <p:cNvSpPr txBox="1"/>
          <p:nvPr/>
        </p:nvSpPr>
        <p:spPr>
          <a:xfrm>
            <a:off x="2743200" y="4224528"/>
            <a:ext cx="5806440" cy="768096"/>
          </a:xfrm>
          <a:prstGeom prst="rect">
            <a:avLst/>
          </a:prstGeom>
          <a:noFill/>
          <a:ln/>
        </p:spPr>
        <p:txBody>
          <a:bodyPr wrap="square" lIns="0" tIns="0" rIns="0" bIns="0" rtlCol="0" anchor="ctr"/>
          <a:lstStyle/>
          <a:p>
            <a:pPr indent="0" marL="0">
              <a:lnSpc>
                <a:spcPts val="1500"/>
              </a:lnSpc>
              <a:buNone/>
            </a:pPr>
            <a:r>
              <a:rPr lang="en-US" sz="1150" dirty="0">
                <a:solidFill>
                  <a:srgbClr val="6B8F87"/>
                </a:solidFill>
                <a:latin typeface="Calibri" pitchFamily="34" charset="0"/>
                <a:ea typeface="Calibri" pitchFamily="34" charset="-122"/>
                <a:cs typeface="Calibri" pitchFamily="34" charset="-120"/>
              </a:rPr>
              <a:t>If the 24-hour window is open we answer free-form. If it is closed, a free-form send is rejected at the service boundary and queued as a template instead.</a:t>
            </a:r>
            <a:endParaRPr lang="en-US" sz="1150" dirty="0"/>
          </a:p>
        </p:txBody>
      </p:sp>
      <p:sp>
        <p:nvSpPr>
          <p:cNvPr id="27" name="Text 25"/>
          <p:cNvSpPr txBox="1"/>
          <p:nvPr/>
        </p:nvSpPr>
        <p:spPr>
          <a:xfrm>
            <a:off x="8732520" y="4224528"/>
            <a:ext cx="2788920" cy="768096"/>
          </a:xfrm>
          <a:prstGeom prst="rect">
            <a:avLst/>
          </a:prstGeom>
          <a:noFill/>
          <a:ln/>
        </p:spPr>
        <p:txBody>
          <a:bodyPr wrap="square" lIns="0" tIns="0" rIns="0" bIns="0" rtlCol="0" anchor="ctr"/>
          <a:lstStyle/>
          <a:p>
            <a:pPr algn="r" indent="0" marL="0">
              <a:buNone/>
            </a:pPr>
            <a:r>
              <a:rPr lang="en-US" sz="1000" i="1" dirty="0">
                <a:solidFill>
                  <a:srgbClr val="0E6B5C"/>
                </a:solidFill>
                <a:latin typeface="Calibri" pitchFamily="34" charset="0"/>
                <a:ea typeface="Calibri" pitchFamily="34" charset="-122"/>
                <a:cs typeface="Calibri" pitchFamily="34" charset="-120"/>
              </a:rPr>
              <a:t>Window checked before every send</a:t>
            </a:r>
            <a:endParaRPr lang="en-US" sz="1000" dirty="0"/>
          </a:p>
        </p:txBody>
      </p:sp>
      <p:sp>
        <p:nvSpPr>
          <p:cNvPr id="28" name="Shape 26"/>
          <p:cNvSpPr/>
          <p:nvPr/>
        </p:nvSpPr>
        <p:spPr>
          <a:xfrm>
            <a:off x="548640" y="5084064"/>
            <a:ext cx="11094415" cy="768096"/>
          </a:xfrm>
          <a:prstGeom prst="roundRect">
            <a:avLst>
              <a:gd name="adj" fmla="val 11905"/>
            </a:avLst>
          </a:prstGeom>
          <a:solidFill>
            <a:srgbClr val="F1F6F4"/>
          </a:solidFill>
          <a:ln w="12700">
            <a:solidFill>
              <a:srgbClr val="E4EDEA"/>
            </a:solidFill>
            <a:prstDash val="solid"/>
          </a:ln>
        </p:spPr>
      </p:sp>
      <p:sp>
        <p:nvSpPr>
          <p:cNvPr id="29" name="Shape 27"/>
          <p:cNvSpPr/>
          <p:nvPr/>
        </p:nvSpPr>
        <p:spPr>
          <a:xfrm>
            <a:off x="804672" y="5230368"/>
            <a:ext cx="475488" cy="475488"/>
          </a:xfrm>
          <a:prstGeom prst="ellipse">
            <a:avLst/>
          </a:prstGeom>
          <a:solidFill>
            <a:srgbClr val="0E6B5C"/>
          </a:solidFill>
          <a:ln/>
        </p:spPr>
      </p:sp>
      <p:sp>
        <p:nvSpPr>
          <p:cNvPr id="30" name="Text 28"/>
          <p:cNvSpPr txBox="1"/>
          <p:nvPr/>
        </p:nvSpPr>
        <p:spPr>
          <a:xfrm>
            <a:off x="804672" y="5230368"/>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1" name="Text 29"/>
          <p:cNvSpPr txBox="1"/>
          <p:nvPr/>
        </p:nvSpPr>
        <p:spPr>
          <a:xfrm>
            <a:off x="1463040" y="5084064"/>
            <a:ext cx="1234440" cy="768096"/>
          </a:xfrm>
          <a:prstGeom prst="rect">
            <a:avLst/>
          </a:prstGeom>
          <a:noFill/>
          <a:ln/>
        </p:spPr>
        <p:txBody>
          <a:bodyPr wrap="square" lIns="0" tIns="0" rIns="0" bIns="0" rtlCol="0" anchor="ctr"/>
          <a:lstStyle/>
          <a:p>
            <a:pPr indent="0" marL="0">
              <a:buNone/>
            </a:pPr>
            <a:r>
              <a:rPr lang="en-US" sz="1400" b="1" dirty="0">
                <a:solidFill>
                  <a:srgbClr val="1F2A28"/>
                </a:solidFill>
                <a:latin typeface="Calibri" pitchFamily="34" charset="0"/>
                <a:ea typeface="Calibri" pitchFamily="34" charset="-122"/>
                <a:cs typeface="Calibri" pitchFamily="34" charset="-120"/>
              </a:rPr>
              <a:t>Notify</a:t>
            </a:r>
            <a:endParaRPr lang="en-US" sz="1400" dirty="0"/>
          </a:p>
        </p:txBody>
      </p:sp>
      <p:sp>
        <p:nvSpPr>
          <p:cNvPr id="32" name="Text 30"/>
          <p:cNvSpPr txBox="1"/>
          <p:nvPr/>
        </p:nvSpPr>
        <p:spPr>
          <a:xfrm>
            <a:off x="2743200" y="5084064"/>
            <a:ext cx="5806440" cy="768096"/>
          </a:xfrm>
          <a:prstGeom prst="rect">
            <a:avLst/>
          </a:prstGeom>
          <a:noFill/>
          <a:ln/>
        </p:spPr>
        <p:txBody>
          <a:bodyPr wrap="square" lIns="0" tIns="0" rIns="0" bIns="0" rtlCol="0" anchor="ctr"/>
          <a:lstStyle/>
          <a:p>
            <a:pPr indent="0" marL="0">
              <a:lnSpc>
                <a:spcPts val="1500"/>
              </a:lnSpc>
              <a:buNone/>
            </a:pPr>
            <a:r>
              <a:rPr lang="en-US" sz="1150" dirty="0">
                <a:solidFill>
                  <a:srgbClr val="6B8F87"/>
                </a:solidFill>
                <a:latin typeface="Calibri" pitchFamily="34" charset="0"/>
                <a:ea typeface="Calibri" pitchFamily="34" charset="-122"/>
                <a:cs typeface="Calibri" pitchFamily="34" charset="-120"/>
              </a:rPr>
              <a:t>Workers fire approved templates on fulfilment transitions, with retries, dead-letter handling, and a delivery receipt recorded per send.</a:t>
            </a:r>
            <a:endParaRPr lang="en-US" sz="1150" dirty="0"/>
          </a:p>
        </p:txBody>
      </p:sp>
      <p:sp>
        <p:nvSpPr>
          <p:cNvPr id="33" name="Text 31"/>
          <p:cNvSpPr txBox="1"/>
          <p:nvPr/>
        </p:nvSpPr>
        <p:spPr>
          <a:xfrm>
            <a:off x="8732520" y="5084064"/>
            <a:ext cx="2788920" cy="768096"/>
          </a:xfrm>
          <a:prstGeom prst="rect">
            <a:avLst/>
          </a:prstGeom>
          <a:noFill/>
          <a:ln/>
        </p:spPr>
        <p:txBody>
          <a:bodyPr wrap="square" lIns="0" tIns="0" rIns="0" bIns="0" rtlCol="0" anchor="ctr"/>
          <a:lstStyle/>
          <a:p>
            <a:pPr algn="r" indent="0" marL="0">
              <a:buNone/>
            </a:pPr>
            <a:r>
              <a:rPr lang="en-US" sz="1000" i="1" dirty="0">
                <a:solidFill>
                  <a:srgbClr val="0E6B5C"/>
                </a:solidFill>
                <a:latin typeface="Calibri" pitchFamily="34" charset="0"/>
                <a:ea typeface="Calibri" pitchFamily="34" charset="-122"/>
                <a:cs typeface="Calibri" pitchFamily="34" charset="-120"/>
              </a:rPr>
              <a:t>Retryable · idempotent · observable</a:t>
            </a:r>
            <a:endParaRPr lang="en-US" sz="1000" dirty="0"/>
          </a:p>
        </p:txBody>
      </p:sp>
      <p:sp>
        <p:nvSpPr>
          <p:cNvPr id="34" name="Text 32"/>
          <p:cNvSpPr txBox="1"/>
          <p:nvPr/>
        </p:nvSpPr>
        <p:spPr>
          <a:xfrm>
            <a:off x="548640" y="5870448"/>
            <a:ext cx="11094415" cy="274320"/>
          </a:xfrm>
          <a:prstGeom prst="rect">
            <a:avLst/>
          </a:prstGeom>
          <a:noFill/>
          <a:ln/>
        </p:spPr>
        <p:txBody>
          <a:bodyPr wrap="square" lIns="0" tIns="0" rIns="0" bIns="0" rtlCol="0" anchor="ctr"/>
          <a:lstStyle/>
          <a:p>
            <a:pPr indent="0" marL="0">
              <a:buNone/>
            </a:pPr>
            <a:r>
              <a:rPr lang="en-US" sz="1250" i="1" dirty="0">
                <a:solidFill>
                  <a:srgbClr val="0E6B5C"/>
                </a:solidFill>
                <a:latin typeface="Calibri" pitchFamily="34" charset="0"/>
                <a:ea typeface="Calibri" pitchFamily="34" charset="-122"/>
                <a:cs typeface="Calibri" pitchFamily="34" charset="-120"/>
              </a:rPr>
              <a:t>Every inbound event is stored raw and replayable. Every outbound send is tracked to a delivery outcome.</a:t>
            </a:r>
            <a:endParaRPr lang="en-US" sz="1250" dirty="0"/>
          </a:p>
        </p:txBody>
      </p:sp>
      <p:sp>
        <p:nvSpPr>
          <p:cNvPr id="36" name="Text 33"/>
          <p:cNvSpPr txBox="1"/>
          <p:nvPr/>
        </p:nvSpPr>
        <p:spPr>
          <a:xfrm>
            <a:off x="11094415" y="6199632"/>
            <a:ext cx="548640" cy="274320"/>
          </a:xfrm>
          <a:prstGeom prst="rect">
            <a:avLst/>
          </a:prstGeom>
          <a:noFill/>
          <a:ln/>
        </p:spPr>
        <p:txBody>
          <a:bodyPr wrap="square" lIns="0" tIns="0" rIns="0" bIns="0" rtlCol="0" anchor="ctr"/>
          <a:lstStyle/>
          <a:p>
            <a:pPr algn="r" indent="0" marL="0">
              <a:buNone/>
            </a:pPr>
            <a:r>
              <a:rPr lang="en-US" sz="1000" dirty="0">
                <a:solidFill>
                  <a:srgbClr val="9DB8B1"/>
                </a:solidFill>
                <a:latin typeface="Calibri" pitchFamily="34" charset="0"/>
                <a:ea typeface="Calibri" pitchFamily="34" charset="-122"/>
                <a:cs typeface="Calibri" pitchFamily="34" charset="-120"/>
              </a:rPr>
              <a:t>6</a:t>
            </a:r>
            <a:endParaRPr lang="en-US" sz="1000" dirty="0"/>
          </a:p>
        </p:txBody>
      </p:sp>
      <p:sp>
        <p:nvSpPr>
          <p:cNvPr id="37" name="Text 34"/>
          <p:cNvSpPr txBox="1"/>
          <p:nvPr/>
        </p:nvSpPr>
        <p:spPr>
          <a:xfrm>
            <a:off x="548640" y="6199632"/>
            <a:ext cx="4572000" cy="274320"/>
          </a:xfrm>
          <a:prstGeom prst="rect">
            <a:avLst/>
          </a:prstGeom>
          <a:noFill/>
          <a:ln/>
        </p:spPr>
        <p:txBody>
          <a:bodyPr wrap="square" lIns="0" tIns="0" rIns="0" bIns="0" rtlCol="0" anchor="ctr"/>
          <a:lstStyle/>
          <a:p>
            <a:pPr algn="l" indent="0" marL="0">
              <a:buNone/>
            </a:pPr>
            <a:r>
              <a:rPr lang="en-US" sz="900" dirty="0">
                <a:solidFill>
                  <a:srgbClr val="9DB8B1"/>
                </a:solidFill>
                <a:latin typeface="Calibri" pitchFamily="34" charset="0"/>
                <a:ea typeface="Calibri" pitchFamily="34" charset="-122"/>
                <a:cs typeface="Calibri" pitchFamily="34" charset="-120"/>
              </a:rPr>
              <a:t>WhatsApp Commerce Platform  ·  Implementation Plan v2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2B26"/>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56032"/>
          </a:xfrm>
          <a:prstGeom prst="rect">
            <a:avLst/>
          </a:prstGeom>
          <a:noFill/>
          <a:ln/>
        </p:spPr>
        <p:txBody>
          <a:bodyPr wrap="square" lIns="0" tIns="0" rIns="0" bIns="0" rtlCol="0" anchor="ctr"/>
          <a:lstStyle/>
          <a:p>
            <a:pPr algn="l" indent="0" marL="0">
              <a:buNone/>
            </a:pPr>
            <a:r>
              <a:rPr lang="en-US" sz="1100" b="1" spc="200" kern="0" dirty="0">
                <a:solidFill>
                  <a:srgbClr val="F2B705"/>
                </a:solidFill>
                <a:latin typeface="Calibri" pitchFamily="34" charset="0"/>
                <a:ea typeface="Calibri" pitchFamily="34" charset="-122"/>
                <a:cs typeface="Calibri" pitchFamily="34" charset="-120"/>
              </a:rPr>
              <a:t>THE CONSTRAINT THAT SHAPES EVERYTHING</a:t>
            </a:r>
            <a:endParaRPr lang="en-US" sz="1100" dirty="0"/>
          </a:p>
        </p:txBody>
      </p:sp>
      <p:sp>
        <p:nvSpPr>
          <p:cNvPr id="3" name="Text 1"/>
          <p:cNvSpPr txBox="1"/>
          <p:nvPr/>
        </p:nvSpPr>
        <p:spPr>
          <a:xfrm>
            <a:off x="548640" y="640080"/>
            <a:ext cx="11094415" cy="731520"/>
          </a:xfrm>
          <a:prstGeom prst="rect">
            <a:avLst/>
          </a:prstGeom>
          <a:noFill/>
          <a:ln/>
        </p:spPr>
        <p:txBody>
          <a:bodyPr wrap="square" lIns="0" tIns="0" rIns="0" bIns="0" rtlCol="0" anchor="ctr"/>
          <a:lstStyle/>
          <a:p>
            <a:pPr algn="l" indent="0" marL="0">
              <a:buNone/>
            </a:pPr>
            <a:r>
              <a:rPr lang="en-US" sz="3300" b="1" dirty="0">
                <a:solidFill>
                  <a:srgbClr val="FFFFFF"/>
                </a:solidFill>
                <a:latin typeface="Cambria" pitchFamily="34" charset="0"/>
                <a:ea typeface="Cambria" pitchFamily="34" charset="-122"/>
                <a:cs typeface="Cambria" pitchFamily="34" charset="-120"/>
              </a:rPr>
              <a:t>The 24-hour service window</a:t>
            </a:r>
            <a:endParaRPr lang="en-US" sz="3300" dirty="0"/>
          </a:p>
        </p:txBody>
      </p:sp>
      <p:sp>
        <p:nvSpPr>
          <p:cNvPr id="4" name="Shape 2"/>
          <p:cNvSpPr/>
          <p:nvPr/>
        </p:nvSpPr>
        <p:spPr>
          <a:xfrm>
            <a:off x="548640" y="1737360"/>
            <a:ext cx="5318608" cy="3246120"/>
          </a:xfrm>
          <a:prstGeom prst="roundRect">
            <a:avLst>
              <a:gd name="adj" fmla="val 2817"/>
            </a:avLst>
          </a:prstGeom>
          <a:solidFill>
            <a:srgbClr val="0E6B5C"/>
          </a:solidFill>
          <a:ln/>
        </p:spPr>
      </p:sp>
      <p:sp>
        <p:nvSpPr>
          <p:cNvPr id="5" name="Text 3"/>
          <p:cNvSpPr txBox="1"/>
          <p:nvPr/>
        </p:nvSpPr>
        <p:spPr>
          <a:xfrm>
            <a:off x="896112" y="1938528"/>
            <a:ext cx="4623664" cy="274320"/>
          </a:xfrm>
          <a:prstGeom prst="rect">
            <a:avLst/>
          </a:prstGeom>
          <a:noFill/>
          <a:ln/>
        </p:spPr>
        <p:txBody>
          <a:bodyPr wrap="square" lIns="0" tIns="0" rIns="0" bIns="0" rtlCol="0" anchor="ctr"/>
          <a:lstStyle/>
          <a:p>
            <a:pPr indent="0" marL="0">
              <a:buNone/>
            </a:pPr>
            <a:r>
              <a:rPr lang="en-US" sz="1100" b="1" spc="160" kern="0" dirty="0">
                <a:solidFill>
                  <a:srgbClr val="FFFFFF"/>
                </a:solidFill>
                <a:latin typeface="Calibri" pitchFamily="34" charset="0"/>
                <a:ea typeface="Calibri" pitchFamily="34" charset="-122"/>
                <a:cs typeface="Calibri" pitchFamily="34" charset="-120"/>
              </a:rPr>
              <a:t>INSIDE THE WINDOW</a:t>
            </a:r>
            <a:endParaRPr lang="en-US" sz="1100" dirty="0"/>
          </a:p>
        </p:txBody>
      </p:sp>
      <p:sp>
        <p:nvSpPr>
          <p:cNvPr id="6" name="Text 4"/>
          <p:cNvSpPr txBox="1"/>
          <p:nvPr/>
        </p:nvSpPr>
        <p:spPr>
          <a:xfrm>
            <a:off x="896112" y="2249424"/>
            <a:ext cx="4623664" cy="438912"/>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Free-form. Anything goes.</a:t>
            </a:r>
            <a:endParaRPr lang="en-US" sz="2200" dirty="0"/>
          </a:p>
        </p:txBody>
      </p:sp>
      <p:sp>
        <p:nvSpPr>
          <p:cNvPr id="7" name="Text 5"/>
          <p:cNvSpPr txBox="1"/>
          <p:nvPr/>
        </p:nvSpPr>
        <p:spPr>
          <a:xfrm>
            <a:off x="896112" y="2788920"/>
            <a:ext cx="4623664" cy="196596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50" dirty="0">
                <a:solidFill>
                  <a:srgbClr val="F1F6F4"/>
                </a:solidFill>
                <a:latin typeface="Calibri" pitchFamily="34" charset="0"/>
                <a:ea typeface="Calibri" pitchFamily="34" charset="-122"/>
                <a:cs typeface="Calibri" pitchFamily="34" charset="-120"/>
              </a:rPr>
              <a:t>Interactive menus and buttons</a:t>
            </a:r>
            <a:endParaRPr lang="en-US" sz="1250" dirty="0"/>
          </a:p>
          <a:p>
            <a:pPr marL="342900" indent="-342900">
              <a:lnSpc>
                <a:spcPts val="1700"/>
              </a:lnSpc>
              <a:spcAft>
                <a:spcPts val="700"/>
              </a:spcAft>
              <a:buSzPct val="100000"/>
              <a:buChar char="•"/>
            </a:pPr>
            <a:r>
              <a:rPr lang="en-US" sz="1250" dirty="0">
                <a:solidFill>
                  <a:srgbClr val="F1F6F4"/>
                </a:solidFill>
                <a:latin typeface="Calibri" pitchFamily="34" charset="0"/>
                <a:ea typeface="Calibri" pitchFamily="34" charset="-122"/>
                <a:cs typeface="Calibri" pitchFamily="34" charset="-120"/>
              </a:rPr>
              <a:t>Location requests and location messages</a:t>
            </a:r>
            <a:endParaRPr lang="en-US" sz="1250" dirty="0"/>
          </a:p>
          <a:p>
            <a:pPr marL="342900" indent="-342900">
              <a:lnSpc>
                <a:spcPts val="1700"/>
              </a:lnSpc>
              <a:spcAft>
                <a:spcPts val="700"/>
              </a:spcAft>
              <a:buSzPct val="100000"/>
              <a:buChar char="•"/>
            </a:pPr>
            <a:r>
              <a:rPr lang="en-US" sz="1250" dirty="0">
                <a:solidFill>
                  <a:srgbClr val="F1F6F4"/>
                </a:solidFill>
                <a:latin typeface="Calibri" pitchFamily="34" charset="0"/>
                <a:ea typeface="Calibri" pitchFamily="34" charset="-122"/>
                <a:cs typeface="Calibri" pitchFamily="34" charset="-120"/>
              </a:rPr>
              <a:t>Images, documents, free text</a:t>
            </a:r>
            <a:endParaRPr lang="en-US" sz="1250" dirty="0"/>
          </a:p>
          <a:p>
            <a:pPr marL="342900" indent="-342900">
              <a:lnSpc>
                <a:spcPts val="1700"/>
              </a:lnSpc>
              <a:spcAft>
                <a:spcPts val="700"/>
              </a:spcAft>
              <a:buSzPct val="100000"/>
              <a:buChar char="•"/>
            </a:pPr>
            <a:r>
              <a:rPr lang="en-US" sz="1250" dirty="0">
                <a:solidFill>
                  <a:srgbClr val="F1F6F4"/>
                </a:solidFill>
                <a:latin typeface="Calibri" pitchFamily="34" charset="0"/>
                <a:ea typeface="Calibri" pitchFamily="34" charset="-122"/>
                <a:cs typeface="Calibri" pitchFamily="34" charset="-120"/>
              </a:rPr>
              <a:t>No template approval needed</a:t>
            </a:r>
            <a:endParaRPr lang="en-US" sz="1250" dirty="0"/>
          </a:p>
          <a:p>
            <a:pPr marL="342900" indent="-342900">
              <a:lnSpc>
                <a:spcPts val="1700"/>
              </a:lnSpc>
              <a:spcAft>
                <a:spcPts val="700"/>
              </a:spcAft>
              <a:buSzPct val="100000"/>
              <a:buChar char="•"/>
            </a:pPr>
            <a:r>
              <a:rPr lang="en-US" sz="1250" dirty="0">
                <a:solidFill>
                  <a:srgbClr val="F1F6F4"/>
                </a:solidFill>
                <a:latin typeface="Calibri" pitchFamily="34" charset="0"/>
                <a:ea typeface="Calibri" pitchFamily="34" charset="-122"/>
                <a:cs typeface="Calibri" pitchFamily="34" charset="-120"/>
              </a:rPr>
              <a:t>Opened by the customer messaging us; any reply extends it</a:t>
            </a:r>
            <a:endParaRPr lang="en-US" sz="1250" dirty="0"/>
          </a:p>
        </p:txBody>
      </p:sp>
      <p:sp>
        <p:nvSpPr>
          <p:cNvPr id="8" name="Shape 6"/>
          <p:cNvSpPr/>
          <p:nvPr/>
        </p:nvSpPr>
        <p:spPr>
          <a:xfrm>
            <a:off x="6324448" y="1737360"/>
            <a:ext cx="5318608" cy="3246120"/>
          </a:xfrm>
          <a:prstGeom prst="roundRect">
            <a:avLst>
              <a:gd name="adj" fmla="val 2817"/>
            </a:avLst>
          </a:prstGeom>
          <a:solidFill>
            <a:srgbClr val="12403A"/>
          </a:solidFill>
          <a:ln w="19050">
            <a:solidFill>
              <a:srgbClr val="F2B705"/>
            </a:solidFill>
            <a:prstDash val="solid"/>
          </a:ln>
        </p:spPr>
      </p:sp>
      <p:sp>
        <p:nvSpPr>
          <p:cNvPr id="9" name="Text 7"/>
          <p:cNvSpPr txBox="1"/>
          <p:nvPr/>
        </p:nvSpPr>
        <p:spPr>
          <a:xfrm>
            <a:off x="6671920" y="1938528"/>
            <a:ext cx="4623664" cy="274320"/>
          </a:xfrm>
          <a:prstGeom prst="rect">
            <a:avLst/>
          </a:prstGeom>
          <a:noFill/>
          <a:ln/>
        </p:spPr>
        <p:txBody>
          <a:bodyPr wrap="square" lIns="0" tIns="0" rIns="0" bIns="0" rtlCol="0" anchor="ctr"/>
          <a:lstStyle/>
          <a:p>
            <a:pPr indent="0" marL="0">
              <a:buNone/>
            </a:pPr>
            <a:r>
              <a:rPr lang="en-US" sz="1100" b="1" spc="160" kern="0" dirty="0">
                <a:solidFill>
                  <a:srgbClr val="F2B705"/>
                </a:solidFill>
                <a:latin typeface="Calibri" pitchFamily="34" charset="0"/>
                <a:ea typeface="Calibri" pitchFamily="34" charset="-122"/>
                <a:cs typeface="Calibri" pitchFamily="34" charset="-120"/>
              </a:rPr>
              <a:t>OUTSIDE THE WINDOW</a:t>
            </a:r>
            <a:endParaRPr lang="en-US" sz="1100" dirty="0"/>
          </a:p>
        </p:txBody>
      </p:sp>
      <p:sp>
        <p:nvSpPr>
          <p:cNvPr id="10" name="Text 8"/>
          <p:cNvSpPr txBox="1"/>
          <p:nvPr/>
        </p:nvSpPr>
        <p:spPr>
          <a:xfrm>
            <a:off x="6671920" y="2249424"/>
            <a:ext cx="4623664" cy="438912"/>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Approved templates only.</a:t>
            </a:r>
            <a:endParaRPr lang="en-US" sz="2200" dirty="0"/>
          </a:p>
        </p:txBody>
      </p:sp>
      <p:sp>
        <p:nvSpPr>
          <p:cNvPr id="11" name="Text 9"/>
          <p:cNvSpPr txBox="1"/>
          <p:nvPr/>
        </p:nvSpPr>
        <p:spPr>
          <a:xfrm>
            <a:off x="6671920" y="2788920"/>
            <a:ext cx="4623664" cy="196596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50" dirty="0">
                <a:solidFill>
                  <a:srgbClr val="9DB8B1"/>
                </a:solidFill>
                <a:latin typeface="Calibri" pitchFamily="34" charset="0"/>
                <a:ea typeface="Calibri" pitchFamily="34" charset="-122"/>
                <a:cs typeface="Calibri" pitchFamily="34" charset="-120"/>
              </a:rPr>
              <a:t>Pre-approved by Meta, per template, per language</a:t>
            </a:r>
            <a:endParaRPr lang="en-US" sz="1250" dirty="0"/>
          </a:p>
          <a:p>
            <a:pPr marL="342900" indent="-342900">
              <a:lnSpc>
                <a:spcPts val="1700"/>
              </a:lnSpc>
              <a:spcAft>
                <a:spcPts val="700"/>
              </a:spcAft>
              <a:buSzPct val="100000"/>
              <a:buChar char="•"/>
            </a:pPr>
            <a:r>
              <a:rPr lang="en-US" sz="1250" dirty="0">
                <a:solidFill>
                  <a:srgbClr val="9DB8B1"/>
                </a:solidFill>
                <a:latin typeface="Calibri" pitchFamily="34" charset="0"/>
                <a:ea typeface="Calibri" pitchFamily="34" charset="-122"/>
                <a:cs typeface="Calibri" pitchFamily="34" charset="-120"/>
              </a:rPr>
              <a:t>Billed per message — a recurring per-order cost</a:t>
            </a:r>
            <a:endParaRPr lang="en-US" sz="1250" dirty="0"/>
          </a:p>
          <a:p>
            <a:pPr marL="342900" indent="-342900">
              <a:lnSpc>
                <a:spcPts val="1700"/>
              </a:lnSpc>
              <a:spcAft>
                <a:spcPts val="700"/>
              </a:spcAft>
              <a:buSzPct val="100000"/>
              <a:buChar char="•"/>
            </a:pPr>
            <a:r>
              <a:rPr lang="en-US" sz="1250" dirty="0">
                <a:solidFill>
                  <a:srgbClr val="9DB8B1"/>
                </a:solidFill>
                <a:latin typeface="Calibri" pitchFamily="34" charset="0"/>
                <a:ea typeface="Calibri" pitchFamily="34" charset="-122"/>
                <a:cs typeface="Calibri" pitchFamily="34" charset="-120"/>
              </a:rPr>
              <a:t>Requires demonstrable customer opt-in</a:t>
            </a:r>
            <a:endParaRPr lang="en-US" sz="1250" dirty="0"/>
          </a:p>
          <a:p>
            <a:pPr marL="342900" indent="-342900">
              <a:lnSpc>
                <a:spcPts val="1700"/>
              </a:lnSpc>
              <a:spcAft>
                <a:spcPts val="700"/>
              </a:spcAft>
              <a:buSzPct val="100000"/>
              <a:buChar char="•"/>
            </a:pPr>
            <a:r>
              <a:rPr lang="en-US" sz="1250" dirty="0">
                <a:solidFill>
                  <a:srgbClr val="9DB8B1"/>
                </a:solidFill>
                <a:latin typeface="Calibri" pitchFamily="34" charset="0"/>
                <a:ea typeface="Calibri" pitchFamily="34" charset="-122"/>
                <a:cs typeface="Calibri" pitchFamily="34" charset="-120"/>
              </a:rPr>
              <a:t>No free-form replies, no raw location messages</a:t>
            </a:r>
            <a:endParaRPr lang="en-US" sz="1250" dirty="0"/>
          </a:p>
          <a:p>
            <a:pPr marL="342900" indent="-342900">
              <a:lnSpc>
                <a:spcPts val="1700"/>
              </a:lnSpc>
              <a:spcAft>
                <a:spcPts val="700"/>
              </a:spcAft>
              <a:buSzPct val="100000"/>
              <a:buChar char="•"/>
            </a:pPr>
            <a:r>
              <a:rPr lang="en-US" sz="1250" dirty="0">
                <a:solidFill>
                  <a:srgbClr val="9DB8B1"/>
                </a:solidFill>
                <a:latin typeface="Calibri" pitchFamily="34" charset="0"/>
                <a:ea typeface="Calibri" pitchFamily="34" charset="-122"/>
                <a:cs typeface="Calibri" pitchFamily="34" charset="-120"/>
              </a:rPr>
              <a:t>This is where every post-order update lives</a:t>
            </a:r>
            <a:endParaRPr lang="en-US" sz="1250" dirty="0"/>
          </a:p>
        </p:txBody>
      </p:sp>
      <p:sp>
        <p:nvSpPr>
          <p:cNvPr id="12" name="Shape 10"/>
          <p:cNvSpPr/>
          <p:nvPr/>
        </p:nvSpPr>
        <p:spPr>
          <a:xfrm>
            <a:off x="548640" y="5230368"/>
            <a:ext cx="11094415" cy="960120"/>
          </a:xfrm>
          <a:prstGeom prst="roundRect">
            <a:avLst>
              <a:gd name="adj" fmla="val 9524"/>
            </a:avLst>
          </a:prstGeom>
          <a:solidFill>
            <a:srgbClr val="F2B705"/>
          </a:solidFill>
          <a:ln/>
        </p:spPr>
      </p:sp>
      <p:sp>
        <p:nvSpPr>
          <p:cNvPr id="13" name="Text 11"/>
          <p:cNvSpPr txBox="1"/>
          <p:nvPr/>
        </p:nvSpPr>
        <p:spPr>
          <a:xfrm>
            <a:off x="868680" y="5230368"/>
            <a:ext cx="10454335" cy="960120"/>
          </a:xfrm>
          <a:prstGeom prst="rect">
            <a:avLst/>
          </a:prstGeom>
          <a:noFill/>
          <a:ln/>
        </p:spPr>
        <p:txBody>
          <a:bodyPr wrap="square" lIns="0" tIns="0" rIns="0" bIns="0" rtlCol="0" anchor="ctr"/>
          <a:lstStyle/>
          <a:p>
            <a:pPr indent="0" marL="0">
              <a:lnSpc>
                <a:spcPts val="1900"/>
              </a:lnSpc>
              <a:buNone/>
            </a:pPr>
            <a:r>
              <a:rPr lang="en-US" sz="1300" b="1" dirty="0">
                <a:solidFill>
                  <a:srgbClr val="0B2B26"/>
                </a:solidFill>
                <a:latin typeface="Calibri" pitchFamily="34" charset="0"/>
                <a:ea typeface="Calibri" pitchFamily="34" charset="-122"/>
                <a:cs typeface="Calibri" pitchFamily="34" charset="-120"/>
              </a:rPr>
              <a:t>Design implication:  </a:t>
            </a:r>
            <a:pPr indent="0" marL="0">
              <a:lnSpc>
                <a:spcPts val="1900"/>
              </a:lnSpc>
              <a:buNone/>
            </a:pPr>
            <a:r>
              <a:rPr lang="en-US" sz="1300" dirty="0">
                <a:solidFill>
                  <a:srgbClr val="0B2B26"/>
                </a:solidFill>
                <a:latin typeface="Calibri" pitchFamily="34" charset="0"/>
                <a:ea typeface="Calibri" pitchFamily="34" charset="-122"/>
                <a:cs typeface="Calibri" pitchFamily="34" charset="-120"/>
              </a:rPr>
              <a:t>complete every conversation inside the window, and consolidate post-order notifications. This is a cost decision as much as a UX one — every avoidable template send is a recurring charge on every order.</a:t>
            </a:r>
            <a:endParaRPr lang="en-US" sz="1300" dirty="0"/>
          </a:p>
        </p:txBody>
      </p:sp>
      <p:sp>
        <p:nvSpPr>
          <p:cNvPr id="15" name="Text 12"/>
          <p:cNvSpPr txBox="1"/>
          <p:nvPr/>
        </p:nvSpPr>
        <p:spPr>
          <a:xfrm>
            <a:off x="11094415" y="6199632"/>
            <a:ext cx="548640" cy="274320"/>
          </a:xfrm>
          <a:prstGeom prst="rect">
            <a:avLst/>
          </a:prstGeom>
          <a:noFill/>
          <a:ln/>
        </p:spPr>
        <p:txBody>
          <a:bodyPr wrap="square" lIns="0" tIns="0" rIns="0" bIns="0" rtlCol="0" anchor="ctr"/>
          <a:lstStyle/>
          <a:p>
            <a:pPr algn="r" indent="0" marL="0">
              <a:buNone/>
            </a:pPr>
            <a:r>
              <a:rPr lang="en-US" sz="1000" dirty="0">
                <a:solidFill>
                  <a:srgbClr val="6B8F87"/>
                </a:solidFill>
                <a:latin typeface="Calibri" pitchFamily="34" charset="0"/>
                <a:ea typeface="Calibri" pitchFamily="34" charset="-122"/>
                <a:cs typeface="Calibri" pitchFamily="34" charset="-120"/>
              </a:rPr>
              <a:t>7</a:t>
            </a:r>
            <a:endParaRPr lang="en-US" sz="1000" dirty="0"/>
          </a:p>
        </p:txBody>
      </p:sp>
      <p:sp>
        <p:nvSpPr>
          <p:cNvPr id="16" name="Text 13"/>
          <p:cNvSpPr txBox="1"/>
          <p:nvPr/>
        </p:nvSpPr>
        <p:spPr>
          <a:xfrm>
            <a:off x="548640" y="6199632"/>
            <a:ext cx="4572000" cy="274320"/>
          </a:xfrm>
          <a:prstGeom prst="rect">
            <a:avLst/>
          </a:prstGeom>
          <a:noFill/>
          <a:ln/>
        </p:spPr>
        <p:txBody>
          <a:bodyPr wrap="square" lIns="0" tIns="0" rIns="0" bIns="0" rtlCol="0" anchor="ctr"/>
          <a:lstStyle/>
          <a:p>
            <a:pPr algn="l" indent="0" marL="0">
              <a:buNone/>
            </a:pPr>
            <a:r>
              <a:rPr lang="en-US" sz="900" dirty="0">
                <a:solidFill>
                  <a:srgbClr val="6B8F87"/>
                </a:solidFill>
                <a:latin typeface="Calibri" pitchFamily="34" charset="0"/>
                <a:ea typeface="Calibri" pitchFamily="34" charset="-122"/>
                <a:cs typeface="Calibri" pitchFamily="34" charset="-120"/>
              </a:rPr>
              <a:t>WhatsApp Commerce Platform  ·  Implementation Plan v2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56032"/>
          </a:xfrm>
          <a:prstGeom prst="rect">
            <a:avLst/>
          </a:prstGeom>
          <a:noFill/>
          <a:ln/>
        </p:spPr>
        <p:txBody>
          <a:bodyPr wrap="square" lIns="0" tIns="0" rIns="0" bIns="0" rtlCol="0" anchor="ctr"/>
          <a:lstStyle/>
          <a:p>
            <a:pPr algn="l" indent="0" marL="0">
              <a:buNone/>
            </a:pPr>
            <a:r>
              <a:rPr lang="en-US" sz="1100" b="1" spc="200" kern="0" dirty="0">
                <a:solidFill>
                  <a:srgbClr val="0E6B5C"/>
                </a:solidFill>
                <a:latin typeface="Calibri" pitchFamily="34" charset="0"/>
                <a:ea typeface="Calibri" pitchFamily="34" charset="-122"/>
                <a:cs typeface="Calibri" pitchFamily="34" charset="-120"/>
              </a:rPr>
              <a:t>DELIVERY PRECISION</a:t>
            </a:r>
            <a:endParaRPr lang="en-US" sz="1100" dirty="0"/>
          </a:p>
        </p:txBody>
      </p:sp>
      <p:sp>
        <p:nvSpPr>
          <p:cNvPr id="3" name="Text 1"/>
          <p:cNvSpPr txBox="1"/>
          <p:nvPr/>
        </p:nvSpPr>
        <p:spPr>
          <a:xfrm>
            <a:off x="548640" y="640080"/>
            <a:ext cx="11094415" cy="731520"/>
          </a:xfrm>
          <a:prstGeom prst="rect">
            <a:avLst/>
          </a:prstGeom>
          <a:noFill/>
          <a:ln/>
        </p:spPr>
        <p:txBody>
          <a:bodyPr wrap="square" lIns="0" tIns="0" rIns="0" bIns="0" rtlCol="0" anchor="ctr"/>
          <a:lstStyle/>
          <a:p>
            <a:pPr algn="l" indent="0" marL="0">
              <a:buNone/>
            </a:pPr>
            <a:r>
              <a:rPr lang="en-US" sz="3300" b="1" dirty="0">
                <a:solidFill>
                  <a:srgbClr val="1F2A28"/>
                </a:solidFill>
                <a:latin typeface="Cambria" pitchFamily="34" charset="0"/>
                <a:ea typeface="Cambria" pitchFamily="34" charset="-122"/>
                <a:cs typeface="Cambria" pitchFamily="34" charset="-120"/>
              </a:rPr>
              <a:t>Location in WhatsApp: what is real</a:t>
            </a:r>
            <a:endParaRPr lang="en-US" sz="3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880360"/>
                <a:gridCol w="2103120"/>
                <a:gridCol w="1417320"/>
                <a:gridCol w="4690872"/>
              </a:tblGrid>
              <a:tr h="40233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Capability</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0B2B2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Direction</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0B2B26"/>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Supported</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0B2B2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means for us</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0B2B26"/>
                    </a:solidFill>
                  </a:tcPr>
                </a:tc>
              </a:tr>
              <a:tr h="548640">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Location request message</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Business → customer</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E6B5C"/>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A tappable “Send location” button in the checkout flow</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r>
              <a:tr h="658368">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Location message from customer</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Customer → business</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0E6B5C"/>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Webhook returns latitude and longitude; address only if the pin maps to a known place</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r>
              <a:tr h="548640">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Location message to customer</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Business → customer</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B98A04"/>
                          </a:solidFill>
                          <a:latin typeface="Calibri" pitchFamily="34" charset="0"/>
                          <a:ea typeface="Calibri" pitchFamily="34" charset="-122"/>
                          <a:cs typeface="Calibri" pitchFamily="34" charset="-120"/>
                        </a:rPr>
                        <a:t>Window only</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Free-form, so unavailable once the 24-hour window has closed</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r>
              <a:tr h="548640">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Continuous live-location streaming</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4453F"/>
                          </a:solidFill>
                          <a:latin typeface="Calibri" pitchFamily="34" charset="0"/>
                          <a:ea typeface="Calibri" pitchFamily="34" charset="-122"/>
                          <a:cs typeface="Calibri" pitchFamily="34" charset="-120"/>
                        </a:rPr>
                        <a:t>Not available</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Not a documented Business Platform capability — we must not promise it</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4663440"/>
            <a:ext cx="11094415" cy="1463040"/>
          </a:xfrm>
          <a:prstGeom prst="roundRect">
            <a:avLst>
              <a:gd name="adj" fmla="val 6250"/>
            </a:avLst>
          </a:prstGeom>
          <a:solidFill>
            <a:srgbClr val="0E6B5C"/>
          </a:solidFill>
          <a:ln/>
        </p:spPr>
      </p:sp>
      <p:sp>
        <p:nvSpPr>
          <p:cNvPr id="6" name="Text 3"/>
          <p:cNvSpPr txBox="1"/>
          <p:nvPr/>
        </p:nvSpPr>
        <p:spPr>
          <a:xfrm>
            <a:off x="896112" y="4828032"/>
            <a:ext cx="10399471" cy="329184"/>
          </a:xfrm>
          <a:prstGeom prst="rect">
            <a:avLst/>
          </a:prstGeom>
          <a:noFill/>
          <a:ln/>
        </p:spPr>
        <p:txBody>
          <a:bodyPr wrap="square" lIns="0" tIns="0" rIns="0" bIns="0" rtlCol="0" anchor="ctr"/>
          <a:lstStyle/>
          <a:p>
            <a:pPr indent="0" marL="0">
              <a:buNone/>
            </a:pPr>
            <a:r>
              <a:rPr lang="en-US" sz="1200" b="1" spc="120" kern="0" dirty="0">
                <a:solidFill>
                  <a:srgbClr val="F2B705"/>
                </a:solidFill>
                <a:latin typeface="Calibri" pitchFamily="34" charset="0"/>
                <a:ea typeface="Calibri" pitchFamily="34" charset="-122"/>
                <a:cs typeface="Calibri" pitchFamily="34" charset="-120"/>
              </a:rPr>
              <a:t>So here is the honest design</a:t>
            </a:r>
            <a:endParaRPr lang="en-US" sz="1200" dirty="0"/>
          </a:p>
        </p:txBody>
      </p:sp>
      <p:sp>
        <p:nvSpPr>
          <p:cNvPr id="7" name="Text 4"/>
          <p:cNvSpPr txBox="1"/>
          <p:nvPr/>
        </p:nvSpPr>
        <p:spPr>
          <a:xfrm>
            <a:off x="896112" y="5175504"/>
            <a:ext cx="10399471" cy="777240"/>
          </a:xfrm>
          <a:prstGeom prst="rect">
            <a:avLst/>
          </a:prstGeom>
          <a:noFill/>
          <a:ln/>
        </p:spPr>
        <p:txBody>
          <a:bodyPr wrap="square" lIns="0" tIns="0" rIns="0" bIns="0" rtlCol="0" anchor="t"/>
          <a:lstStyle/>
          <a:p>
            <a:pPr indent="0" marL="0">
              <a:lnSpc>
                <a:spcPts val="1900"/>
              </a:lnSpc>
              <a:buNone/>
            </a:pPr>
            <a:r>
              <a:rPr lang="en-US" sz="1300" dirty="0">
                <a:solidFill>
                  <a:srgbClr val="FFFFFF"/>
                </a:solidFill>
                <a:latin typeface="Calibri" pitchFamily="34" charset="0"/>
                <a:ea typeface="Calibri" pitchFamily="34" charset="-122"/>
                <a:cs typeface="Calibri" pitchFamily="34" charset="-120"/>
              </a:rPr>
              <a:t>We capture an accurate one-shot delivery pin in chat — which is the part that actually improves delivery success. Live rider movement runs on our own tracking page, opened from an approved WhatsApp template. Designed this way the feature ships. Promised as “live location inside WhatsApp”, it fails at UAT.</a:t>
            </a:r>
            <a:endParaRPr lang="en-US" sz="1300" dirty="0"/>
          </a:p>
        </p:txBody>
      </p:sp>
      <p:sp>
        <p:nvSpPr>
          <p:cNvPr id="9" name="Text 5"/>
          <p:cNvSpPr txBox="1"/>
          <p:nvPr/>
        </p:nvSpPr>
        <p:spPr>
          <a:xfrm>
            <a:off x="11094415" y="6199632"/>
            <a:ext cx="548640" cy="274320"/>
          </a:xfrm>
          <a:prstGeom prst="rect">
            <a:avLst/>
          </a:prstGeom>
          <a:noFill/>
          <a:ln/>
        </p:spPr>
        <p:txBody>
          <a:bodyPr wrap="square" lIns="0" tIns="0" rIns="0" bIns="0" rtlCol="0" anchor="ctr"/>
          <a:lstStyle/>
          <a:p>
            <a:pPr algn="r" indent="0" marL="0">
              <a:buNone/>
            </a:pPr>
            <a:r>
              <a:rPr lang="en-US" sz="1000" dirty="0">
                <a:solidFill>
                  <a:srgbClr val="9DB8B1"/>
                </a:solidFill>
                <a:latin typeface="Calibri" pitchFamily="34" charset="0"/>
                <a:ea typeface="Calibri" pitchFamily="34" charset="-122"/>
                <a:cs typeface="Calibri" pitchFamily="34" charset="-120"/>
              </a:rPr>
              <a:t>8</a:t>
            </a:r>
            <a:endParaRPr lang="en-US" sz="1000" dirty="0"/>
          </a:p>
        </p:txBody>
      </p:sp>
      <p:sp>
        <p:nvSpPr>
          <p:cNvPr id="10" name="Text 6"/>
          <p:cNvSpPr txBox="1"/>
          <p:nvPr/>
        </p:nvSpPr>
        <p:spPr>
          <a:xfrm>
            <a:off x="548640" y="6199632"/>
            <a:ext cx="4572000" cy="274320"/>
          </a:xfrm>
          <a:prstGeom prst="rect">
            <a:avLst/>
          </a:prstGeom>
          <a:noFill/>
          <a:ln/>
        </p:spPr>
        <p:txBody>
          <a:bodyPr wrap="square" lIns="0" tIns="0" rIns="0" bIns="0" rtlCol="0" anchor="ctr"/>
          <a:lstStyle/>
          <a:p>
            <a:pPr algn="l" indent="0" marL="0">
              <a:buNone/>
            </a:pPr>
            <a:r>
              <a:rPr lang="en-US" sz="900" dirty="0">
                <a:solidFill>
                  <a:srgbClr val="9DB8B1"/>
                </a:solidFill>
                <a:latin typeface="Calibri" pitchFamily="34" charset="0"/>
                <a:ea typeface="Calibri" pitchFamily="34" charset="-122"/>
                <a:cs typeface="Calibri" pitchFamily="34" charset="-120"/>
              </a:rPr>
              <a:t>WhatsApp Commerce Platform  ·  Implementation Plan v2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2B26"/>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56032"/>
          </a:xfrm>
          <a:prstGeom prst="rect">
            <a:avLst/>
          </a:prstGeom>
          <a:noFill/>
          <a:ln/>
        </p:spPr>
        <p:txBody>
          <a:bodyPr wrap="square" lIns="0" tIns="0" rIns="0" bIns="0" rtlCol="0" anchor="ctr"/>
          <a:lstStyle/>
          <a:p>
            <a:pPr algn="l" indent="0" marL="0">
              <a:buNone/>
            </a:pPr>
            <a:r>
              <a:rPr lang="en-US" sz="1100" b="1" spc="200" kern="0" dirty="0">
                <a:solidFill>
                  <a:srgbClr val="F2B705"/>
                </a:solidFill>
                <a:latin typeface="Calibri" pitchFamily="34" charset="0"/>
                <a:ea typeface="Calibri" pitchFamily="34" charset="-122"/>
                <a:cs typeface="Calibri" pitchFamily="34" charset="-120"/>
              </a:rPr>
              <a:t>DELIVERY PRECISION</a:t>
            </a:r>
            <a:endParaRPr lang="en-US" sz="1100" dirty="0"/>
          </a:p>
        </p:txBody>
      </p:sp>
      <p:sp>
        <p:nvSpPr>
          <p:cNvPr id="3" name="Text 1"/>
          <p:cNvSpPr txBox="1"/>
          <p:nvPr/>
        </p:nvSpPr>
        <p:spPr>
          <a:xfrm>
            <a:off x="548640" y="640080"/>
            <a:ext cx="11094415" cy="731520"/>
          </a:xfrm>
          <a:prstGeom prst="rect">
            <a:avLst/>
          </a:prstGeom>
          <a:noFill/>
          <a:ln/>
        </p:spPr>
        <p:txBody>
          <a:bodyPr wrap="square" lIns="0" tIns="0" rIns="0" bIns="0" rtlCol="0" anchor="ctr"/>
          <a:lstStyle/>
          <a:p>
            <a:pPr algn="l" indent="0" marL="0">
              <a:buNone/>
            </a:pPr>
            <a:r>
              <a:rPr lang="en-US" sz="3300" b="1" dirty="0">
                <a:solidFill>
                  <a:srgbClr val="FFFFFF"/>
                </a:solidFill>
                <a:latin typeface="Cambria" pitchFamily="34" charset="0"/>
                <a:ea typeface="Cambria" pitchFamily="34" charset="-122"/>
                <a:cs typeface="Cambria" pitchFamily="34" charset="-120"/>
              </a:rPr>
              <a:t>How live tracking actually works</a:t>
            </a:r>
            <a:endParaRPr lang="en-US" sz="3300" dirty="0"/>
          </a:p>
        </p:txBody>
      </p:sp>
      <p:sp>
        <p:nvSpPr>
          <p:cNvPr id="4" name="Shape 2"/>
          <p:cNvSpPr/>
          <p:nvPr/>
        </p:nvSpPr>
        <p:spPr>
          <a:xfrm>
            <a:off x="548640" y="2011680"/>
            <a:ext cx="1874520" cy="1508760"/>
          </a:xfrm>
          <a:prstGeom prst="roundRect">
            <a:avLst>
              <a:gd name="adj" fmla="val 6061"/>
            </a:avLst>
          </a:prstGeom>
          <a:solidFill>
            <a:srgbClr val="0E6B5C"/>
          </a:solidFill>
          <a:ln/>
        </p:spPr>
      </p:sp>
      <p:sp>
        <p:nvSpPr>
          <p:cNvPr id="5" name="Text 3"/>
          <p:cNvSpPr txBox="1"/>
          <p:nvPr/>
        </p:nvSpPr>
        <p:spPr>
          <a:xfrm>
            <a:off x="658368" y="2212848"/>
            <a:ext cx="1655064" cy="384048"/>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Rider PWA</a:t>
            </a:r>
            <a:endParaRPr lang="en-US" sz="1350" dirty="0"/>
          </a:p>
        </p:txBody>
      </p:sp>
      <p:sp>
        <p:nvSpPr>
          <p:cNvPr id="6" name="Text 4"/>
          <p:cNvSpPr txBox="1"/>
          <p:nvPr/>
        </p:nvSpPr>
        <p:spPr>
          <a:xfrm>
            <a:off x="658368" y="2633472"/>
            <a:ext cx="1655064" cy="658368"/>
          </a:xfrm>
          <a:prstGeom prst="rect">
            <a:avLst/>
          </a:prstGeom>
          <a:noFill/>
          <a:ln/>
        </p:spPr>
        <p:txBody>
          <a:bodyPr wrap="square" lIns="0" tIns="0" rIns="0" bIns="0" rtlCol="0" anchor="t"/>
          <a:lstStyle/>
          <a:p>
            <a:pPr algn="ctr" indent="0" marL="0">
              <a:lnSpc>
                <a:spcPts val="1400"/>
              </a:lnSpc>
              <a:buNone/>
            </a:pPr>
            <a:r>
              <a:rPr lang="en-US" sz="1050" dirty="0">
                <a:solidFill>
                  <a:srgbClr val="E4EDEA"/>
                </a:solidFill>
                <a:latin typeface="Calibri" pitchFamily="34" charset="0"/>
                <a:ea typeface="Calibri" pitchFamily="34" charset="-122"/>
                <a:cs typeface="Calibri" pitchFamily="34" charset="-120"/>
              </a:rPr>
              <a:t>GPS every</a:t>
            </a:r>
            <a:endParaRPr lang="en-US" sz="1050" dirty="0"/>
          </a:p>
          <a:p>
            <a:pPr algn="ctr" indent="0" marL="0">
              <a:lnSpc>
                <a:spcPts val="1400"/>
              </a:lnSpc>
              <a:buNone/>
            </a:pPr>
            <a:r>
              <a:rPr lang="en-US" sz="1050" dirty="0">
                <a:solidFill>
                  <a:srgbClr val="E4EDEA"/>
                </a:solidFill>
                <a:latin typeface="Calibri" pitchFamily="34" charset="0"/>
                <a:ea typeface="Calibri" pitchFamily="34" charset="-122"/>
                <a:cs typeface="Calibri" pitchFamily="34" charset="-120"/>
              </a:rPr>
              <a:t>10–15 s</a:t>
            </a:r>
            <a:endParaRPr lang="en-US" sz="1050" dirty="0"/>
          </a:p>
        </p:txBody>
      </p:sp>
      <p:sp>
        <p:nvSpPr>
          <p:cNvPr id="7" name="Shape 5"/>
          <p:cNvSpPr/>
          <p:nvPr/>
        </p:nvSpPr>
        <p:spPr>
          <a:xfrm>
            <a:off x="2478024" y="2761488"/>
            <a:ext cx="320726" cy="0"/>
          </a:xfrm>
          <a:prstGeom prst="line">
            <a:avLst/>
          </a:prstGeom>
          <a:noFill/>
          <a:ln w="22225">
            <a:solidFill>
              <a:srgbClr val="6B8F87"/>
            </a:solidFill>
            <a:prstDash val="solid"/>
            <a:tailEnd type="triangle"/>
          </a:ln>
        </p:spPr>
      </p:sp>
      <p:sp>
        <p:nvSpPr>
          <p:cNvPr id="8" name="Shape 6"/>
          <p:cNvSpPr/>
          <p:nvPr/>
        </p:nvSpPr>
        <p:spPr>
          <a:xfrm>
            <a:off x="2853614" y="2011680"/>
            <a:ext cx="1874520" cy="1508760"/>
          </a:xfrm>
          <a:prstGeom prst="roundRect">
            <a:avLst>
              <a:gd name="adj" fmla="val 6061"/>
            </a:avLst>
          </a:prstGeom>
          <a:solidFill>
            <a:srgbClr val="12403A"/>
          </a:solidFill>
          <a:ln/>
        </p:spPr>
      </p:sp>
      <p:sp>
        <p:nvSpPr>
          <p:cNvPr id="9" name="Text 7"/>
          <p:cNvSpPr txBox="1"/>
          <p:nvPr/>
        </p:nvSpPr>
        <p:spPr>
          <a:xfrm>
            <a:off x="2963342" y="2212848"/>
            <a:ext cx="1655064" cy="384048"/>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Redis</a:t>
            </a:r>
            <a:endParaRPr lang="en-US" sz="1350" dirty="0"/>
          </a:p>
        </p:txBody>
      </p:sp>
      <p:sp>
        <p:nvSpPr>
          <p:cNvPr id="10" name="Text 8"/>
          <p:cNvSpPr txBox="1"/>
          <p:nvPr/>
        </p:nvSpPr>
        <p:spPr>
          <a:xfrm>
            <a:off x="2963342" y="2633472"/>
            <a:ext cx="1655064" cy="658368"/>
          </a:xfrm>
          <a:prstGeom prst="rect">
            <a:avLst/>
          </a:prstGeom>
          <a:noFill/>
          <a:ln/>
        </p:spPr>
        <p:txBody>
          <a:bodyPr wrap="square" lIns="0" tIns="0" rIns="0" bIns="0" rtlCol="0" anchor="t"/>
          <a:lstStyle/>
          <a:p>
            <a:pPr algn="ctr" indent="0" marL="0">
              <a:lnSpc>
                <a:spcPts val="1400"/>
              </a:lnSpc>
              <a:buNone/>
            </a:pPr>
            <a:r>
              <a:rPr lang="en-US" sz="1050" dirty="0">
                <a:solidFill>
                  <a:srgbClr val="9DB8B1"/>
                </a:solidFill>
                <a:latin typeface="Calibri" pitchFamily="34" charset="0"/>
                <a:ea typeface="Calibri" pitchFamily="34" charset="-122"/>
                <a:cs typeface="Calibri" pitchFamily="34" charset="-120"/>
              </a:rPr>
              <a:t>Hot position</a:t>
            </a:r>
            <a:endParaRPr lang="en-US" sz="1050" dirty="0"/>
          </a:p>
          <a:p>
            <a:pPr algn="ctr" indent="0" marL="0">
              <a:lnSpc>
                <a:spcPts val="1400"/>
              </a:lnSpc>
              <a:buNone/>
            </a:pPr>
            <a:r>
              <a:rPr lang="en-US" sz="1050" dirty="0">
                <a:solidFill>
                  <a:srgbClr val="9DB8B1"/>
                </a:solidFill>
                <a:latin typeface="Calibri" pitchFamily="34" charset="0"/>
                <a:ea typeface="Calibri" pitchFamily="34" charset="-122"/>
                <a:cs typeface="Calibri" pitchFamily="34" charset="-120"/>
              </a:rPr>
              <a:t>cache</a:t>
            </a:r>
            <a:endParaRPr lang="en-US" sz="1050" dirty="0"/>
          </a:p>
        </p:txBody>
      </p:sp>
      <p:sp>
        <p:nvSpPr>
          <p:cNvPr id="11" name="Shape 9"/>
          <p:cNvSpPr/>
          <p:nvPr/>
        </p:nvSpPr>
        <p:spPr>
          <a:xfrm>
            <a:off x="4782998" y="2761488"/>
            <a:ext cx="320726" cy="0"/>
          </a:xfrm>
          <a:prstGeom prst="line">
            <a:avLst/>
          </a:prstGeom>
          <a:noFill/>
          <a:ln w="22225">
            <a:solidFill>
              <a:srgbClr val="6B8F87"/>
            </a:solidFill>
            <a:prstDash val="solid"/>
            <a:tailEnd type="triangle"/>
          </a:ln>
        </p:spPr>
      </p:sp>
      <p:sp>
        <p:nvSpPr>
          <p:cNvPr id="12" name="Shape 10"/>
          <p:cNvSpPr/>
          <p:nvPr/>
        </p:nvSpPr>
        <p:spPr>
          <a:xfrm>
            <a:off x="5158588" y="2011680"/>
            <a:ext cx="1874520" cy="1508760"/>
          </a:xfrm>
          <a:prstGeom prst="roundRect">
            <a:avLst>
              <a:gd name="adj" fmla="val 6061"/>
            </a:avLst>
          </a:prstGeom>
          <a:solidFill>
            <a:srgbClr val="12403A"/>
          </a:solidFill>
          <a:ln/>
        </p:spPr>
      </p:sp>
      <p:sp>
        <p:nvSpPr>
          <p:cNvPr id="13" name="Text 11"/>
          <p:cNvSpPr txBox="1"/>
          <p:nvPr/>
        </p:nvSpPr>
        <p:spPr>
          <a:xfrm>
            <a:off x="5268316" y="2212848"/>
            <a:ext cx="1655064" cy="384048"/>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PostgreSQL</a:t>
            </a:r>
            <a:endParaRPr lang="en-US" sz="1350" dirty="0"/>
          </a:p>
        </p:txBody>
      </p:sp>
      <p:sp>
        <p:nvSpPr>
          <p:cNvPr id="14" name="Text 12"/>
          <p:cNvSpPr txBox="1"/>
          <p:nvPr/>
        </p:nvSpPr>
        <p:spPr>
          <a:xfrm>
            <a:off x="5268316" y="2633472"/>
            <a:ext cx="1655064" cy="658368"/>
          </a:xfrm>
          <a:prstGeom prst="rect">
            <a:avLst/>
          </a:prstGeom>
          <a:noFill/>
          <a:ln/>
        </p:spPr>
        <p:txBody>
          <a:bodyPr wrap="square" lIns="0" tIns="0" rIns="0" bIns="0" rtlCol="0" anchor="t"/>
          <a:lstStyle/>
          <a:p>
            <a:pPr algn="ctr" indent="0" marL="0">
              <a:lnSpc>
                <a:spcPts val="1400"/>
              </a:lnSpc>
              <a:buNone/>
            </a:pPr>
            <a:r>
              <a:rPr lang="en-US" sz="1050" dirty="0">
                <a:solidFill>
                  <a:srgbClr val="9DB8B1"/>
                </a:solidFill>
                <a:latin typeface="Calibri" pitchFamily="34" charset="0"/>
                <a:ea typeface="Calibri" pitchFamily="34" charset="-122"/>
                <a:cs typeface="Calibri" pitchFamily="34" charset="-120"/>
              </a:rPr>
              <a:t>Sampled trail</a:t>
            </a:r>
            <a:endParaRPr lang="en-US" sz="1050" dirty="0"/>
          </a:p>
          <a:p>
            <a:pPr algn="ctr" indent="0" marL="0">
              <a:lnSpc>
                <a:spcPts val="1400"/>
              </a:lnSpc>
              <a:buNone/>
            </a:pPr>
            <a:r>
              <a:rPr lang="en-US" sz="1050" dirty="0">
                <a:solidFill>
                  <a:srgbClr val="9DB8B1"/>
                </a:solidFill>
                <a:latin typeface="Calibri" pitchFamily="34" charset="0"/>
                <a:ea typeface="Calibri" pitchFamily="34" charset="-122"/>
                <a:cs typeface="Calibri" pitchFamily="34" charset="-120"/>
              </a:rPr>
              <a:t>30-day purge</a:t>
            </a:r>
            <a:endParaRPr lang="en-US" sz="1050" dirty="0"/>
          </a:p>
        </p:txBody>
      </p:sp>
      <p:sp>
        <p:nvSpPr>
          <p:cNvPr id="15" name="Shape 13"/>
          <p:cNvSpPr/>
          <p:nvPr/>
        </p:nvSpPr>
        <p:spPr>
          <a:xfrm>
            <a:off x="7087972" y="2761488"/>
            <a:ext cx="320726" cy="0"/>
          </a:xfrm>
          <a:prstGeom prst="line">
            <a:avLst/>
          </a:prstGeom>
          <a:noFill/>
          <a:ln w="22225">
            <a:solidFill>
              <a:srgbClr val="6B8F87"/>
            </a:solidFill>
            <a:prstDash val="solid"/>
            <a:tailEnd type="triangle"/>
          </a:ln>
        </p:spPr>
      </p:sp>
      <p:sp>
        <p:nvSpPr>
          <p:cNvPr id="16" name="Shape 14"/>
          <p:cNvSpPr/>
          <p:nvPr/>
        </p:nvSpPr>
        <p:spPr>
          <a:xfrm>
            <a:off x="7463561" y="2011680"/>
            <a:ext cx="1874520" cy="1508760"/>
          </a:xfrm>
          <a:prstGeom prst="roundRect">
            <a:avLst>
              <a:gd name="adj" fmla="val 6061"/>
            </a:avLst>
          </a:prstGeom>
          <a:solidFill>
            <a:srgbClr val="F2B705"/>
          </a:solidFill>
          <a:ln/>
        </p:spPr>
      </p:sp>
      <p:sp>
        <p:nvSpPr>
          <p:cNvPr id="17" name="Text 15"/>
          <p:cNvSpPr txBox="1"/>
          <p:nvPr/>
        </p:nvSpPr>
        <p:spPr>
          <a:xfrm>
            <a:off x="7573289" y="2212848"/>
            <a:ext cx="1655064" cy="384048"/>
          </a:xfrm>
          <a:prstGeom prst="rect">
            <a:avLst/>
          </a:prstGeom>
          <a:noFill/>
          <a:ln/>
        </p:spPr>
        <p:txBody>
          <a:bodyPr wrap="square" lIns="0" tIns="0" rIns="0" bIns="0" rtlCol="0" anchor="ctr"/>
          <a:lstStyle/>
          <a:p>
            <a:pPr algn="ctr" indent="0" marL="0">
              <a:buNone/>
            </a:pPr>
            <a:r>
              <a:rPr lang="en-US" sz="1350" b="1" dirty="0">
                <a:solidFill>
                  <a:srgbClr val="0B2B26"/>
                </a:solidFill>
                <a:latin typeface="Calibri" pitchFamily="34" charset="0"/>
                <a:ea typeface="Calibri" pitchFamily="34" charset="-122"/>
                <a:cs typeface="Calibri" pitchFamily="34" charset="-120"/>
              </a:rPr>
              <a:t>Signed token</a:t>
            </a:r>
            <a:endParaRPr lang="en-US" sz="1350" dirty="0"/>
          </a:p>
        </p:txBody>
      </p:sp>
      <p:sp>
        <p:nvSpPr>
          <p:cNvPr id="18" name="Text 16"/>
          <p:cNvSpPr txBox="1"/>
          <p:nvPr/>
        </p:nvSpPr>
        <p:spPr>
          <a:xfrm>
            <a:off x="7573289" y="2633472"/>
            <a:ext cx="1655064" cy="658368"/>
          </a:xfrm>
          <a:prstGeom prst="rect">
            <a:avLst/>
          </a:prstGeom>
          <a:noFill/>
          <a:ln/>
        </p:spPr>
        <p:txBody>
          <a:bodyPr wrap="square" lIns="0" tIns="0" rIns="0" bIns="0" rtlCol="0" anchor="t"/>
          <a:lstStyle/>
          <a:p>
            <a:pPr algn="ctr" indent="0" marL="0">
              <a:lnSpc>
                <a:spcPts val="1400"/>
              </a:lnSpc>
              <a:buNone/>
            </a:pPr>
            <a:r>
              <a:rPr lang="en-US" sz="1050" dirty="0">
                <a:solidFill>
                  <a:srgbClr val="0B2B26"/>
                </a:solidFill>
                <a:latin typeface="Calibri" pitchFamily="34" charset="0"/>
                <a:ea typeface="Calibri" pitchFamily="34" charset="-122"/>
                <a:cs typeface="Calibri" pitchFamily="34" charset="-120"/>
              </a:rPr>
              <a:t>Short-lived,</a:t>
            </a:r>
            <a:endParaRPr lang="en-US" sz="1050" dirty="0"/>
          </a:p>
          <a:p>
            <a:pPr algn="ctr" indent="0" marL="0">
              <a:lnSpc>
                <a:spcPts val="1400"/>
              </a:lnSpc>
              <a:buNone/>
            </a:pPr>
            <a:r>
              <a:rPr lang="en-US" sz="1050" dirty="0">
                <a:solidFill>
                  <a:srgbClr val="0B2B26"/>
                </a:solidFill>
                <a:latin typeface="Calibri" pitchFamily="34" charset="0"/>
                <a:ea typeface="Calibri" pitchFamily="34" charset="-122"/>
                <a:cs typeface="Calibri" pitchFamily="34" charset="-120"/>
              </a:rPr>
              <a:t>single order</a:t>
            </a:r>
            <a:endParaRPr lang="en-US" sz="1050" dirty="0"/>
          </a:p>
        </p:txBody>
      </p:sp>
      <p:sp>
        <p:nvSpPr>
          <p:cNvPr id="19" name="Shape 17"/>
          <p:cNvSpPr/>
          <p:nvPr/>
        </p:nvSpPr>
        <p:spPr>
          <a:xfrm>
            <a:off x="9392945" y="2761488"/>
            <a:ext cx="320726" cy="0"/>
          </a:xfrm>
          <a:prstGeom prst="line">
            <a:avLst/>
          </a:prstGeom>
          <a:noFill/>
          <a:ln w="22225">
            <a:solidFill>
              <a:srgbClr val="6B8F87"/>
            </a:solidFill>
            <a:prstDash val="solid"/>
            <a:tailEnd type="triangle"/>
          </a:ln>
        </p:spPr>
      </p:sp>
      <p:sp>
        <p:nvSpPr>
          <p:cNvPr id="20" name="Shape 18"/>
          <p:cNvSpPr/>
          <p:nvPr/>
        </p:nvSpPr>
        <p:spPr>
          <a:xfrm>
            <a:off x="9768535" y="2011680"/>
            <a:ext cx="1874520" cy="1508760"/>
          </a:xfrm>
          <a:prstGeom prst="roundRect">
            <a:avLst>
              <a:gd name="adj" fmla="val 6061"/>
            </a:avLst>
          </a:prstGeom>
          <a:solidFill>
            <a:srgbClr val="0E6B5C"/>
          </a:solidFill>
          <a:ln/>
        </p:spPr>
      </p:sp>
      <p:sp>
        <p:nvSpPr>
          <p:cNvPr id="21" name="Text 19"/>
          <p:cNvSpPr txBox="1"/>
          <p:nvPr/>
        </p:nvSpPr>
        <p:spPr>
          <a:xfrm>
            <a:off x="9878263" y="2212848"/>
            <a:ext cx="1655064" cy="384048"/>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Tracking page</a:t>
            </a:r>
            <a:endParaRPr lang="en-US" sz="1350" dirty="0"/>
          </a:p>
        </p:txBody>
      </p:sp>
      <p:sp>
        <p:nvSpPr>
          <p:cNvPr id="22" name="Text 20"/>
          <p:cNvSpPr txBox="1"/>
          <p:nvPr/>
        </p:nvSpPr>
        <p:spPr>
          <a:xfrm>
            <a:off x="9878263" y="2633472"/>
            <a:ext cx="1655064" cy="658368"/>
          </a:xfrm>
          <a:prstGeom prst="rect">
            <a:avLst/>
          </a:prstGeom>
          <a:noFill/>
          <a:ln/>
        </p:spPr>
        <p:txBody>
          <a:bodyPr wrap="square" lIns="0" tIns="0" rIns="0" bIns="0" rtlCol="0" anchor="t"/>
          <a:lstStyle/>
          <a:p>
            <a:pPr algn="ctr" indent="0" marL="0">
              <a:lnSpc>
                <a:spcPts val="1400"/>
              </a:lnSpc>
              <a:buNone/>
            </a:pPr>
            <a:r>
              <a:rPr lang="en-US" sz="1050" dirty="0">
                <a:solidFill>
                  <a:srgbClr val="E4EDEA"/>
                </a:solidFill>
                <a:latin typeface="Calibri" pitchFamily="34" charset="0"/>
                <a:ea typeface="Calibri" pitchFamily="34" charset="-122"/>
                <a:cs typeface="Calibri" pitchFamily="34" charset="-120"/>
              </a:rPr>
              <a:t>Map, ETA,</a:t>
            </a:r>
            <a:endParaRPr lang="en-US" sz="1050" dirty="0"/>
          </a:p>
          <a:p>
            <a:pPr algn="ctr" indent="0" marL="0">
              <a:lnSpc>
                <a:spcPts val="1400"/>
              </a:lnSpc>
              <a:buNone/>
            </a:pPr>
            <a:r>
              <a:rPr lang="en-US" sz="1050" dirty="0">
                <a:solidFill>
                  <a:srgbClr val="E4EDEA"/>
                </a:solidFill>
                <a:latin typeface="Calibri" pitchFamily="34" charset="0"/>
                <a:ea typeface="Calibri" pitchFamily="34" charset="-122"/>
                <a:cs typeface="Calibri" pitchFamily="34" charset="-120"/>
              </a:rPr>
              <a:t>masked contact</a:t>
            </a:r>
            <a:endParaRPr lang="en-US" sz="1050" dirty="0"/>
          </a:p>
        </p:txBody>
      </p:sp>
      <p:sp>
        <p:nvSpPr>
          <p:cNvPr id="23" name="Text 21"/>
          <p:cNvSpPr txBox="1"/>
          <p:nvPr/>
        </p:nvSpPr>
        <p:spPr>
          <a:xfrm>
            <a:off x="548640" y="3749040"/>
            <a:ext cx="11094415" cy="310896"/>
          </a:xfrm>
          <a:prstGeom prst="rect">
            <a:avLst/>
          </a:prstGeom>
          <a:noFill/>
          <a:ln/>
        </p:spPr>
        <p:txBody>
          <a:bodyPr wrap="square" lIns="0" tIns="0" rIns="0" bIns="0" rtlCol="0" anchor="ctr"/>
          <a:lstStyle/>
          <a:p>
            <a:pPr indent="0" marL="0">
              <a:buNone/>
            </a:pPr>
            <a:r>
              <a:rPr lang="en-US" sz="1250" i="1" dirty="0">
                <a:solidFill>
                  <a:srgbClr val="9DB8B1"/>
                </a:solidFill>
                <a:latin typeface="Calibri" pitchFamily="34" charset="0"/>
                <a:ea typeface="Calibri" pitchFamily="34" charset="-122"/>
                <a:cs typeface="Calibri" pitchFamily="34" charset="-120"/>
              </a:rPr>
              <a:t>The customer never sees any of that. They get one WhatsApp message.</a:t>
            </a:r>
            <a:endParaRPr lang="en-US" sz="1250" dirty="0"/>
          </a:p>
        </p:txBody>
      </p:sp>
      <p:sp>
        <p:nvSpPr>
          <p:cNvPr id="24" name="Shape 22"/>
          <p:cNvSpPr/>
          <p:nvPr/>
        </p:nvSpPr>
        <p:spPr>
          <a:xfrm>
            <a:off x="548640" y="4206240"/>
            <a:ext cx="5669280" cy="1417320"/>
          </a:xfrm>
          <a:prstGeom prst="roundRect">
            <a:avLst>
              <a:gd name="adj" fmla="val 6452"/>
            </a:avLst>
          </a:prstGeom>
          <a:solidFill>
            <a:srgbClr val="12403A"/>
          </a:solidFill>
          <a:ln w="12700">
            <a:solidFill>
              <a:srgbClr val="0E6B5C"/>
            </a:solidFill>
            <a:prstDash val="solid"/>
          </a:ln>
        </p:spPr>
      </p:sp>
      <p:sp>
        <p:nvSpPr>
          <p:cNvPr id="25" name="Text 23"/>
          <p:cNvSpPr txBox="1"/>
          <p:nvPr/>
        </p:nvSpPr>
        <p:spPr>
          <a:xfrm>
            <a:off x="822960" y="4370832"/>
            <a:ext cx="5120640"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Your order #4821 is out for delivery.</a:t>
            </a:r>
            <a:endParaRPr lang="en-US" sz="1300" dirty="0"/>
          </a:p>
        </p:txBody>
      </p:sp>
      <p:sp>
        <p:nvSpPr>
          <p:cNvPr id="26" name="Text 24"/>
          <p:cNvSpPr txBox="1"/>
          <p:nvPr/>
        </p:nvSpPr>
        <p:spPr>
          <a:xfrm>
            <a:off x="822960" y="4681728"/>
            <a:ext cx="5120640" cy="274320"/>
          </a:xfrm>
          <a:prstGeom prst="rect">
            <a:avLst/>
          </a:prstGeom>
          <a:noFill/>
          <a:ln/>
        </p:spPr>
        <p:txBody>
          <a:bodyPr wrap="square" lIns="0" tIns="0" rIns="0" bIns="0" rtlCol="0" anchor="ctr"/>
          <a:lstStyle/>
          <a:p>
            <a:pPr indent="0" marL="0">
              <a:buNone/>
            </a:pPr>
            <a:r>
              <a:rPr lang="en-US" sz="1150" dirty="0">
                <a:solidFill>
                  <a:srgbClr val="9DB8B1"/>
                </a:solidFill>
                <a:latin typeface="Calibri" pitchFamily="34" charset="0"/>
                <a:ea typeface="Calibri" pitchFamily="34" charset="-122"/>
                <a:cs typeface="Calibri" pitchFamily="34" charset="-120"/>
              </a:rPr>
              <a:t>Rahul is on the way · arriving in about 18 minutes</a:t>
            </a:r>
            <a:endParaRPr lang="en-US" sz="1150" dirty="0"/>
          </a:p>
        </p:txBody>
      </p:sp>
      <p:sp>
        <p:nvSpPr>
          <p:cNvPr id="27" name="Shape 25"/>
          <p:cNvSpPr/>
          <p:nvPr/>
        </p:nvSpPr>
        <p:spPr>
          <a:xfrm>
            <a:off x="822960" y="5029200"/>
            <a:ext cx="2148840" cy="438912"/>
          </a:xfrm>
          <a:prstGeom prst="roundRect">
            <a:avLst>
              <a:gd name="adj" fmla="val 16667"/>
            </a:avLst>
          </a:prstGeom>
          <a:solidFill>
            <a:srgbClr val="17A38C"/>
          </a:solidFill>
          <a:ln/>
        </p:spPr>
      </p:sp>
      <p:sp>
        <p:nvSpPr>
          <p:cNvPr id="28" name="Text 26"/>
          <p:cNvSpPr txBox="1"/>
          <p:nvPr/>
        </p:nvSpPr>
        <p:spPr>
          <a:xfrm>
            <a:off x="822960" y="5029200"/>
            <a:ext cx="2148840" cy="43891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Track my order</a:t>
            </a:r>
            <a:endParaRPr lang="en-US" sz="1150" dirty="0"/>
          </a:p>
        </p:txBody>
      </p:sp>
      <p:sp>
        <p:nvSpPr>
          <p:cNvPr id="29" name="Text 27"/>
          <p:cNvSpPr txBox="1"/>
          <p:nvPr/>
        </p:nvSpPr>
        <p:spPr>
          <a:xfrm>
            <a:off x="3154680" y="5029200"/>
            <a:ext cx="2926080" cy="438912"/>
          </a:xfrm>
          <a:prstGeom prst="rect">
            <a:avLst/>
          </a:prstGeom>
          <a:noFill/>
          <a:ln/>
        </p:spPr>
        <p:txBody>
          <a:bodyPr wrap="square" lIns="0" tIns="0" rIns="0" bIns="0" rtlCol="0" anchor="ctr"/>
          <a:lstStyle/>
          <a:p>
            <a:pPr indent="0" marL="0">
              <a:buNone/>
            </a:pPr>
            <a:r>
              <a:rPr lang="en-US" sz="1000" i="1" dirty="0">
                <a:solidFill>
                  <a:srgbClr val="6B8F87"/>
                </a:solidFill>
                <a:latin typeface="Calibri" pitchFamily="34" charset="0"/>
                <a:ea typeface="Calibri" pitchFamily="34" charset="-122"/>
                <a:cs typeface="Calibri" pitchFamily="34" charset="-120"/>
              </a:rPr>
              <a:t>Approved template + URL button</a:t>
            </a:r>
            <a:endParaRPr lang="en-US" sz="1000" dirty="0"/>
          </a:p>
        </p:txBody>
      </p:sp>
      <p:sp>
        <p:nvSpPr>
          <p:cNvPr id="30" name="Text 28"/>
          <p:cNvSpPr txBox="1"/>
          <p:nvPr/>
        </p:nvSpPr>
        <p:spPr>
          <a:xfrm>
            <a:off x="6720840" y="4206240"/>
            <a:ext cx="4892040" cy="256032"/>
          </a:xfrm>
          <a:prstGeom prst="rect">
            <a:avLst/>
          </a:prstGeom>
          <a:noFill/>
          <a:ln/>
        </p:spPr>
        <p:txBody>
          <a:bodyPr wrap="square" lIns="0" tIns="0" rIns="0" bIns="0" rtlCol="0" anchor="ctr"/>
          <a:lstStyle/>
          <a:p>
            <a:pPr indent="0" marL="0">
              <a:buNone/>
            </a:pPr>
            <a:r>
              <a:rPr lang="en-US" sz="950" b="1" spc="140" kern="0" dirty="0">
                <a:solidFill>
                  <a:srgbClr val="F2B705"/>
                </a:solidFill>
                <a:latin typeface="Calibri" pitchFamily="34" charset="0"/>
                <a:ea typeface="Calibri" pitchFamily="34" charset="-122"/>
                <a:cs typeface="Calibri" pitchFamily="34" charset="-120"/>
              </a:rPr>
              <a:t>SAFEGUARDS</a:t>
            </a:r>
            <a:endParaRPr lang="en-US" sz="950" dirty="0"/>
          </a:p>
        </p:txBody>
      </p:sp>
      <p:sp>
        <p:nvSpPr>
          <p:cNvPr id="31" name="Text 29"/>
          <p:cNvSpPr txBox="1"/>
          <p:nvPr/>
        </p:nvSpPr>
        <p:spPr>
          <a:xfrm>
            <a:off x="6720840" y="4498848"/>
            <a:ext cx="4892040" cy="1234440"/>
          </a:xfrm>
          <a:prstGeom prst="rect">
            <a:avLst/>
          </a:prstGeom>
          <a:noFill/>
          <a:ln/>
        </p:spPr>
        <p:txBody>
          <a:bodyPr wrap="square" lIns="0" tIns="0" rIns="0" bIns="0" rtlCol="0" anchor="t"/>
          <a:lstStyle/>
          <a:p>
            <a:pPr marL="342900" indent="-342900">
              <a:lnSpc>
                <a:spcPts val="1600"/>
              </a:lnSpc>
              <a:spcAft>
                <a:spcPts val="400"/>
              </a:spcAft>
              <a:buSzPct val="100000"/>
              <a:buChar char="•"/>
            </a:pPr>
            <a:r>
              <a:rPr lang="en-US" sz="1150" dirty="0">
                <a:solidFill>
                  <a:srgbClr val="9DB8B1"/>
                </a:solidFill>
                <a:latin typeface="Calibri" pitchFamily="34" charset="0"/>
                <a:ea typeface="Calibri" pitchFamily="34" charset="-122"/>
                <a:cs typeface="Calibri" pitchFamily="34" charset="-120"/>
              </a:rPr>
              <a:t>Token dies the moment the order is delivered</a:t>
            </a:r>
            <a:endParaRPr lang="en-US" sz="1150" dirty="0"/>
          </a:p>
          <a:p>
            <a:pPr marL="342900" indent="-342900">
              <a:lnSpc>
                <a:spcPts val="1600"/>
              </a:lnSpc>
              <a:spcAft>
                <a:spcPts val="400"/>
              </a:spcAft>
              <a:buSzPct val="100000"/>
              <a:buChar char="•"/>
            </a:pPr>
            <a:r>
              <a:rPr lang="en-US" sz="1150" dirty="0">
                <a:solidFill>
                  <a:srgbClr val="9DB8B1"/>
                </a:solidFill>
                <a:latin typeface="Calibri" pitchFamily="34" charset="0"/>
                <a:ea typeface="Calibri" pitchFamily="34" charset="-122"/>
                <a:cs typeface="Calibri" pitchFamily="34" charset="-120"/>
              </a:rPr>
              <a:t>Rider numbers are masked on the tracking page</a:t>
            </a:r>
            <a:endParaRPr lang="en-US" sz="1150" dirty="0"/>
          </a:p>
          <a:p>
            <a:pPr marL="342900" indent="-342900">
              <a:lnSpc>
                <a:spcPts val="1600"/>
              </a:lnSpc>
              <a:spcAft>
                <a:spcPts val="400"/>
              </a:spcAft>
              <a:buSzPct val="100000"/>
              <a:buChar char="•"/>
            </a:pPr>
            <a:r>
              <a:rPr lang="en-US" sz="1150" dirty="0">
                <a:solidFill>
                  <a:srgbClr val="9DB8B1"/>
                </a:solidFill>
                <a:latin typeface="Calibri" pitchFamily="34" charset="0"/>
                <a:ea typeface="Calibri" pitchFamily="34" charset="-122"/>
                <a:cs typeface="Calibri" pitchFamily="34" charset="-120"/>
              </a:rPr>
              <a:t>GPS is collected only during an active trip</a:t>
            </a:r>
            <a:endParaRPr lang="en-US" sz="1150" dirty="0"/>
          </a:p>
          <a:p>
            <a:pPr marL="342900" indent="-342900">
              <a:lnSpc>
                <a:spcPts val="1600"/>
              </a:lnSpc>
              <a:spcAft>
                <a:spcPts val="400"/>
              </a:spcAft>
              <a:buSzPct val="100000"/>
              <a:buChar char="•"/>
            </a:pPr>
            <a:r>
              <a:rPr lang="en-US" sz="1150" dirty="0">
                <a:solidFill>
                  <a:srgbClr val="9DB8B1"/>
                </a:solidFill>
                <a:latin typeface="Calibri" pitchFamily="34" charset="0"/>
                <a:ea typeface="Calibri" pitchFamily="34" charset="-122"/>
                <a:cs typeface="Calibri" pitchFamily="34" charset="-120"/>
              </a:rPr>
              <a:t>Last-known position is always shown with its timestamp</a:t>
            </a:r>
            <a:endParaRPr lang="en-US" sz="1150" dirty="0"/>
          </a:p>
        </p:txBody>
      </p:sp>
      <p:sp>
        <p:nvSpPr>
          <p:cNvPr id="33" name="Text 30"/>
          <p:cNvSpPr txBox="1"/>
          <p:nvPr/>
        </p:nvSpPr>
        <p:spPr>
          <a:xfrm>
            <a:off x="11094415" y="6199632"/>
            <a:ext cx="548640" cy="274320"/>
          </a:xfrm>
          <a:prstGeom prst="rect">
            <a:avLst/>
          </a:prstGeom>
          <a:noFill/>
          <a:ln/>
        </p:spPr>
        <p:txBody>
          <a:bodyPr wrap="square" lIns="0" tIns="0" rIns="0" bIns="0" rtlCol="0" anchor="ctr"/>
          <a:lstStyle/>
          <a:p>
            <a:pPr algn="r" indent="0" marL="0">
              <a:buNone/>
            </a:pPr>
            <a:r>
              <a:rPr lang="en-US" sz="1000" dirty="0">
                <a:solidFill>
                  <a:srgbClr val="6B8F87"/>
                </a:solidFill>
                <a:latin typeface="Calibri" pitchFamily="34" charset="0"/>
                <a:ea typeface="Calibri" pitchFamily="34" charset="-122"/>
                <a:cs typeface="Calibri" pitchFamily="34" charset="-120"/>
              </a:rPr>
              <a:t>9</a:t>
            </a:r>
            <a:endParaRPr lang="en-US" sz="1000" dirty="0"/>
          </a:p>
        </p:txBody>
      </p:sp>
      <p:sp>
        <p:nvSpPr>
          <p:cNvPr id="34" name="Text 31"/>
          <p:cNvSpPr txBox="1"/>
          <p:nvPr/>
        </p:nvSpPr>
        <p:spPr>
          <a:xfrm>
            <a:off x="548640" y="6199632"/>
            <a:ext cx="4572000" cy="274320"/>
          </a:xfrm>
          <a:prstGeom prst="rect">
            <a:avLst/>
          </a:prstGeom>
          <a:noFill/>
          <a:ln/>
        </p:spPr>
        <p:txBody>
          <a:bodyPr wrap="square" lIns="0" tIns="0" rIns="0" bIns="0" rtlCol="0" anchor="ctr"/>
          <a:lstStyle/>
          <a:p>
            <a:pPr algn="l" indent="0" marL="0">
              <a:buNone/>
            </a:pPr>
            <a:r>
              <a:rPr lang="en-US" sz="900" dirty="0">
                <a:solidFill>
                  <a:srgbClr val="6B8F87"/>
                </a:solidFill>
                <a:latin typeface="Calibri" pitchFamily="34" charset="0"/>
                <a:ea typeface="Calibri" pitchFamily="34" charset="-122"/>
                <a:cs typeface="Calibri" pitchFamily="34" charset="-120"/>
              </a:rPr>
              <a:t>WhatsApp Commerce Platform  ·  Implementation Plan v2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56032"/>
          </a:xfrm>
          <a:prstGeom prst="rect">
            <a:avLst/>
          </a:prstGeom>
          <a:noFill/>
          <a:ln/>
        </p:spPr>
        <p:txBody>
          <a:bodyPr wrap="square" lIns="0" tIns="0" rIns="0" bIns="0" rtlCol="0" anchor="ctr"/>
          <a:lstStyle/>
          <a:p>
            <a:pPr algn="l" indent="0" marL="0">
              <a:buNone/>
            </a:pPr>
            <a:r>
              <a:rPr lang="en-US" sz="1100" b="1" spc="200" kern="0" dirty="0">
                <a:solidFill>
                  <a:srgbClr val="0E6B5C"/>
                </a:solidFill>
                <a:latin typeface="Calibri" pitchFamily="34" charset="0"/>
                <a:ea typeface="Calibri" pitchFamily="34" charset="-122"/>
                <a:cs typeface="Calibri" pitchFamily="34" charset="-120"/>
              </a:rPr>
              <a:t>DELIVERY PRECISION</a:t>
            </a:r>
            <a:endParaRPr lang="en-US" sz="1100" dirty="0"/>
          </a:p>
        </p:txBody>
      </p:sp>
      <p:sp>
        <p:nvSpPr>
          <p:cNvPr id="3" name="Text 1"/>
          <p:cNvSpPr txBox="1"/>
          <p:nvPr/>
        </p:nvSpPr>
        <p:spPr>
          <a:xfrm>
            <a:off x="548640" y="640080"/>
            <a:ext cx="11094415" cy="731520"/>
          </a:xfrm>
          <a:prstGeom prst="rect">
            <a:avLst/>
          </a:prstGeom>
          <a:noFill/>
          <a:ln/>
        </p:spPr>
        <p:txBody>
          <a:bodyPr wrap="square" lIns="0" tIns="0" rIns="0" bIns="0" rtlCol="0" anchor="ctr"/>
          <a:lstStyle/>
          <a:p>
            <a:pPr algn="l" indent="0" marL="0">
              <a:buNone/>
            </a:pPr>
            <a:r>
              <a:rPr lang="en-US" sz="3300" b="1" dirty="0">
                <a:solidFill>
                  <a:srgbClr val="1F2A28"/>
                </a:solidFill>
                <a:latin typeface="Cambria" pitchFamily="34" charset="0"/>
                <a:ea typeface="Cambria" pitchFamily="34" charset="-122"/>
                <a:cs typeface="Cambria" pitchFamily="34" charset="-120"/>
              </a:rPr>
              <a:t>The pin does more than help the rider</a:t>
            </a:r>
            <a:endParaRPr lang="en-US" sz="3300" dirty="0"/>
          </a:p>
        </p:txBody>
      </p:sp>
      <p:sp>
        <p:nvSpPr>
          <p:cNvPr id="4" name="Shape 2"/>
          <p:cNvSpPr/>
          <p:nvPr/>
        </p:nvSpPr>
        <p:spPr>
          <a:xfrm>
            <a:off x="548640" y="1691640"/>
            <a:ext cx="3515258" cy="1572768"/>
          </a:xfrm>
          <a:prstGeom prst="roundRect">
            <a:avLst>
              <a:gd name="adj" fmla="val 5814"/>
            </a:avLst>
          </a:prstGeom>
          <a:solidFill>
            <a:srgbClr val="F1F6F4"/>
          </a:solidFill>
          <a:ln/>
        </p:spPr>
      </p:sp>
      <p:sp>
        <p:nvSpPr>
          <p:cNvPr id="5" name="Shape 3"/>
          <p:cNvSpPr/>
          <p:nvPr/>
        </p:nvSpPr>
        <p:spPr>
          <a:xfrm>
            <a:off x="804672" y="1947672"/>
            <a:ext cx="420624" cy="420624"/>
          </a:xfrm>
          <a:prstGeom prst="ellipse">
            <a:avLst/>
          </a:prstGeom>
          <a:solidFill>
            <a:srgbClr val="0E6B5C"/>
          </a:solidFill>
          <a:ln/>
        </p:spPr>
      </p:sp>
      <p:sp>
        <p:nvSpPr>
          <p:cNvPr id="6" name="Text 4"/>
          <p:cNvSpPr txBox="1"/>
          <p:nvPr/>
        </p:nvSpPr>
        <p:spPr>
          <a:xfrm>
            <a:off x="804672" y="194767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335024" y="1929384"/>
            <a:ext cx="2472842" cy="457200"/>
          </a:xfrm>
          <a:prstGeom prst="rect">
            <a:avLst/>
          </a:prstGeom>
          <a:noFill/>
          <a:ln/>
        </p:spPr>
        <p:txBody>
          <a:bodyPr wrap="square" lIns="0" tIns="0" rIns="0" bIns="0" rtlCol="0" anchor="ctr"/>
          <a:lstStyle/>
          <a:p>
            <a:pPr indent="0" marL="0">
              <a:buNone/>
            </a:pPr>
            <a:r>
              <a:rPr lang="en-US" sz="1350" b="1" dirty="0">
                <a:solidFill>
                  <a:srgbClr val="1F2A28"/>
                </a:solidFill>
                <a:latin typeface="Calibri" pitchFamily="34" charset="0"/>
                <a:ea typeface="Calibri" pitchFamily="34" charset="-122"/>
                <a:cs typeface="Calibri" pitchFamily="34" charset="-120"/>
              </a:rPr>
              <a:t>Serviceability by polygon</a:t>
            </a:r>
            <a:endParaRPr lang="en-US" sz="1350" dirty="0"/>
          </a:p>
        </p:txBody>
      </p:sp>
      <p:sp>
        <p:nvSpPr>
          <p:cNvPr id="8" name="Text 6"/>
          <p:cNvSpPr txBox="1"/>
          <p:nvPr/>
        </p:nvSpPr>
        <p:spPr>
          <a:xfrm>
            <a:off x="804672" y="2459736"/>
            <a:ext cx="3003194" cy="685800"/>
          </a:xfrm>
          <a:prstGeom prst="rect">
            <a:avLst/>
          </a:prstGeom>
          <a:noFill/>
          <a:ln/>
        </p:spPr>
        <p:txBody>
          <a:bodyPr wrap="square" lIns="0" tIns="0" rIns="0" bIns="0" rtlCol="0" anchor="t"/>
          <a:lstStyle/>
          <a:p>
            <a:pPr indent="0" marL="0">
              <a:lnSpc>
                <a:spcPts val="1450"/>
              </a:lnSpc>
              <a:buNone/>
            </a:pPr>
            <a:r>
              <a:rPr lang="en-US" sz="1100" dirty="0">
                <a:solidFill>
                  <a:srgbClr val="6B8F87"/>
                </a:solidFill>
                <a:latin typeface="Calibri" pitchFamily="34" charset="0"/>
                <a:ea typeface="Calibri" pitchFamily="34" charset="-122"/>
                <a:cs typeface="Calibri" pitchFamily="34" charset="-120"/>
              </a:rPr>
              <a:t>A spatial containment check against real delivery boundaries, instead of a PIN-code list that straddles serviceable and non-serviceable streets.</a:t>
            </a:r>
            <a:endParaRPr lang="en-US" sz="1100" dirty="0"/>
          </a:p>
        </p:txBody>
      </p:sp>
      <p:sp>
        <p:nvSpPr>
          <p:cNvPr id="9" name="Shape 7"/>
          <p:cNvSpPr/>
          <p:nvPr/>
        </p:nvSpPr>
        <p:spPr>
          <a:xfrm>
            <a:off x="4338218" y="1691640"/>
            <a:ext cx="3515258" cy="1572768"/>
          </a:xfrm>
          <a:prstGeom prst="roundRect">
            <a:avLst>
              <a:gd name="adj" fmla="val 5814"/>
            </a:avLst>
          </a:prstGeom>
          <a:solidFill>
            <a:srgbClr val="F1F6F4"/>
          </a:solidFill>
          <a:ln/>
        </p:spPr>
      </p:sp>
      <p:sp>
        <p:nvSpPr>
          <p:cNvPr id="10" name="Shape 8"/>
          <p:cNvSpPr/>
          <p:nvPr/>
        </p:nvSpPr>
        <p:spPr>
          <a:xfrm>
            <a:off x="4594250" y="1947672"/>
            <a:ext cx="420624" cy="420624"/>
          </a:xfrm>
          <a:prstGeom prst="ellipse">
            <a:avLst/>
          </a:prstGeom>
          <a:solidFill>
            <a:srgbClr val="0E6B5C"/>
          </a:solidFill>
          <a:ln/>
        </p:spPr>
      </p:sp>
      <p:sp>
        <p:nvSpPr>
          <p:cNvPr id="11" name="Text 9"/>
          <p:cNvSpPr txBox="1"/>
          <p:nvPr/>
        </p:nvSpPr>
        <p:spPr>
          <a:xfrm>
            <a:off x="4594250" y="194767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5124602" y="1929384"/>
            <a:ext cx="2472842" cy="457200"/>
          </a:xfrm>
          <a:prstGeom prst="rect">
            <a:avLst/>
          </a:prstGeom>
          <a:noFill/>
          <a:ln/>
        </p:spPr>
        <p:txBody>
          <a:bodyPr wrap="square" lIns="0" tIns="0" rIns="0" bIns="0" rtlCol="0" anchor="ctr"/>
          <a:lstStyle/>
          <a:p>
            <a:pPr indent="0" marL="0">
              <a:buNone/>
            </a:pPr>
            <a:r>
              <a:rPr lang="en-US" sz="1350" b="1" dirty="0">
                <a:solidFill>
                  <a:srgbClr val="1F2A28"/>
                </a:solidFill>
                <a:latin typeface="Calibri" pitchFamily="34" charset="0"/>
                <a:ea typeface="Calibri" pitchFamily="34" charset="-122"/>
                <a:cs typeface="Calibri" pitchFamily="34" charset="-120"/>
              </a:rPr>
              <a:t>Enforceable COD rules</a:t>
            </a:r>
            <a:endParaRPr lang="en-US" sz="1350" dirty="0"/>
          </a:p>
        </p:txBody>
      </p:sp>
      <p:sp>
        <p:nvSpPr>
          <p:cNvPr id="13" name="Text 11"/>
          <p:cNvSpPr txBox="1"/>
          <p:nvPr/>
        </p:nvSpPr>
        <p:spPr>
          <a:xfrm>
            <a:off x="4594250" y="2459736"/>
            <a:ext cx="3003194" cy="685800"/>
          </a:xfrm>
          <a:prstGeom prst="rect">
            <a:avLst/>
          </a:prstGeom>
          <a:noFill/>
          <a:ln/>
        </p:spPr>
        <p:txBody>
          <a:bodyPr wrap="square" lIns="0" tIns="0" rIns="0" bIns="0" rtlCol="0" anchor="t"/>
          <a:lstStyle/>
          <a:p>
            <a:pPr indent="0" marL="0">
              <a:lnSpc>
                <a:spcPts val="1450"/>
              </a:lnSpc>
              <a:buNone/>
            </a:pPr>
            <a:r>
              <a:rPr lang="en-US" sz="1100" dirty="0">
                <a:solidFill>
                  <a:srgbClr val="6B8F87"/>
                </a:solidFill>
                <a:latin typeface="Calibri" pitchFamily="34" charset="0"/>
                <a:ea typeface="Calibri" pitchFamily="34" charset="-122"/>
                <a:cs typeface="Calibri" pitchFamily="34" charset="-120"/>
              </a:rPr>
              <a:t>Cash on delivery restricted by area, order value, and product type — the rule finally has data to run against.</a:t>
            </a:r>
            <a:endParaRPr lang="en-US" sz="1100" dirty="0"/>
          </a:p>
        </p:txBody>
      </p:sp>
      <p:sp>
        <p:nvSpPr>
          <p:cNvPr id="14" name="Shape 12"/>
          <p:cNvSpPr/>
          <p:nvPr/>
        </p:nvSpPr>
        <p:spPr>
          <a:xfrm>
            <a:off x="8127797" y="1691640"/>
            <a:ext cx="3515258" cy="1572768"/>
          </a:xfrm>
          <a:prstGeom prst="roundRect">
            <a:avLst>
              <a:gd name="adj" fmla="val 5814"/>
            </a:avLst>
          </a:prstGeom>
          <a:solidFill>
            <a:srgbClr val="F1F6F4"/>
          </a:solidFill>
          <a:ln/>
        </p:spPr>
      </p:sp>
      <p:sp>
        <p:nvSpPr>
          <p:cNvPr id="15" name="Shape 13"/>
          <p:cNvSpPr/>
          <p:nvPr/>
        </p:nvSpPr>
        <p:spPr>
          <a:xfrm>
            <a:off x="8383829" y="1947672"/>
            <a:ext cx="420624" cy="420624"/>
          </a:xfrm>
          <a:prstGeom prst="ellipse">
            <a:avLst/>
          </a:prstGeom>
          <a:solidFill>
            <a:srgbClr val="0E6B5C"/>
          </a:solidFill>
          <a:ln/>
        </p:spPr>
      </p:sp>
      <p:sp>
        <p:nvSpPr>
          <p:cNvPr id="16" name="Text 14"/>
          <p:cNvSpPr txBox="1"/>
          <p:nvPr/>
        </p:nvSpPr>
        <p:spPr>
          <a:xfrm>
            <a:off x="8383829" y="194767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8914181" y="1929384"/>
            <a:ext cx="2472842" cy="457200"/>
          </a:xfrm>
          <a:prstGeom prst="rect">
            <a:avLst/>
          </a:prstGeom>
          <a:noFill/>
          <a:ln/>
        </p:spPr>
        <p:txBody>
          <a:bodyPr wrap="square" lIns="0" tIns="0" rIns="0" bIns="0" rtlCol="0" anchor="ctr"/>
          <a:lstStyle/>
          <a:p>
            <a:pPr indent="0" marL="0">
              <a:buNone/>
            </a:pPr>
            <a:r>
              <a:rPr lang="en-US" sz="1350" b="1" dirty="0">
                <a:solidFill>
                  <a:srgbClr val="1F2A28"/>
                </a:solidFill>
                <a:latin typeface="Calibri" pitchFamily="34" charset="0"/>
                <a:ea typeface="Calibri" pitchFamily="34" charset="-122"/>
                <a:cs typeface="Calibri" pitchFamily="34" charset="-120"/>
              </a:rPr>
              <a:t>Distance-based delivery fees</a:t>
            </a:r>
            <a:endParaRPr lang="en-US" sz="1350" dirty="0"/>
          </a:p>
        </p:txBody>
      </p:sp>
      <p:sp>
        <p:nvSpPr>
          <p:cNvPr id="18" name="Text 16"/>
          <p:cNvSpPr txBox="1"/>
          <p:nvPr/>
        </p:nvSpPr>
        <p:spPr>
          <a:xfrm>
            <a:off x="8383829" y="2459736"/>
            <a:ext cx="3003194" cy="685800"/>
          </a:xfrm>
          <a:prstGeom prst="rect">
            <a:avLst/>
          </a:prstGeom>
          <a:noFill/>
          <a:ln/>
        </p:spPr>
        <p:txBody>
          <a:bodyPr wrap="square" lIns="0" tIns="0" rIns="0" bIns="0" rtlCol="0" anchor="t"/>
          <a:lstStyle/>
          <a:p>
            <a:pPr indent="0" marL="0">
              <a:lnSpc>
                <a:spcPts val="1450"/>
              </a:lnSpc>
              <a:buNone/>
            </a:pPr>
            <a:r>
              <a:rPr lang="en-US" sz="1100" dirty="0">
                <a:solidFill>
                  <a:srgbClr val="6B8F87"/>
                </a:solidFill>
                <a:latin typeface="Calibri" pitchFamily="34" charset="0"/>
                <a:ea typeface="Calibri" pitchFamily="34" charset="-122"/>
                <a:cs typeface="Calibri" pitchFamily="34" charset="-120"/>
              </a:rPr>
              <a:t>Fee bands computed from the actual distance between the shop and the doorstep.</a:t>
            </a:r>
            <a:endParaRPr lang="en-US" sz="1100" dirty="0"/>
          </a:p>
        </p:txBody>
      </p:sp>
      <p:sp>
        <p:nvSpPr>
          <p:cNvPr id="19" name="Shape 17"/>
          <p:cNvSpPr/>
          <p:nvPr/>
        </p:nvSpPr>
        <p:spPr>
          <a:xfrm>
            <a:off x="548640" y="3538728"/>
            <a:ext cx="3515258" cy="1572768"/>
          </a:xfrm>
          <a:prstGeom prst="roundRect">
            <a:avLst>
              <a:gd name="adj" fmla="val 5814"/>
            </a:avLst>
          </a:prstGeom>
          <a:solidFill>
            <a:srgbClr val="F1F6F4"/>
          </a:solidFill>
          <a:ln/>
        </p:spPr>
      </p:sp>
      <p:sp>
        <p:nvSpPr>
          <p:cNvPr id="20" name="Shape 18"/>
          <p:cNvSpPr/>
          <p:nvPr/>
        </p:nvSpPr>
        <p:spPr>
          <a:xfrm>
            <a:off x="804672" y="3794760"/>
            <a:ext cx="420624" cy="420624"/>
          </a:xfrm>
          <a:prstGeom prst="ellipse">
            <a:avLst/>
          </a:prstGeom>
          <a:solidFill>
            <a:srgbClr val="0E6B5C"/>
          </a:solidFill>
          <a:ln/>
        </p:spPr>
      </p:sp>
      <p:sp>
        <p:nvSpPr>
          <p:cNvPr id="21" name="Text 19"/>
          <p:cNvSpPr txBox="1"/>
          <p:nvPr/>
        </p:nvSpPr>
        <p:spPr>
          <a:xfrm>
            <a:off x="804672" y="379476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1335024" y="3776472"/>
            <a:ext cx="2472842" cy="457200"/>
          </a:xfrm>
          <a:prstGeom prst="rect">
            <a:avLst/>
          </a:prstGeom>
          <a:noFill/>
          <a:ln/>
        </p:spPr>
        <p:txBody>
          <a:bodyPr wrap="square" lIns="0" tIns="0" rIns="0" bIns="0" rtlCol="0" anchor="ctr"/>
          <a:lstStyle/>
          <a:p>
            <a:pPr indent="0" marL="0">
              <a:buNone/>
            </a:pPr>
            <a:r>
              <a:rPr lang="en-US" sz="1350" b="1" dirty="0">
                <a:solidFill>
                  <a:srgbClr val="1F2A28"/>
                </a:solidFill>
                <a:latin typeface="Calibri" pitchFamily="34" charset="0"/>
                <a:ea typeface="Calibri" pitchFamily="34" charset="-122"/>
                <a:cs typeface="Calibri" pitchFamily="34" charset="-120"/>
              </a:rPr>
              <a:t>Address de-duplication</a:t>
            </a:r>
            <a:endParaRPr lang="en-US" sz="1350" dirty="0"/>
          </a:p>
        </p:txBody>
      </p:sp>
      <p:sp>
        <p:nvSpPr>
          <p:cNvPr id="23" name="Text 21"/>
          <p:cNvSpPr txBox="1"/>
          <p:nvPr/>
        </p:nvSpPr>
        <p:spPr>
          <a:xfrm>
            <a:off x="804672" y="4306824"/>
            <a:ext cx="3003194" cy="685800"/>
          </a:xfrm>
          <a:prstGeom prst="rect">
            <a:avLst/>
          </a:prstGeom>
          <a:noFill/>
          <a:ln/>
        </p:spPr>
        <p:txBody>
          <a:bodyPr wrap="square" lIns="0" tIns="0" rIns="0" bIns="0" rtlCol="0" anchor="t"/>
          <a:lstStyle/>
          <a:p>
            <a:pPr indent="0" marL="0">
              <a:lnSpc>
                <a:spcPts val="1450"/>
              </a:lnSpc>
              <a:buNone/>
            </a:pPr>
            <a:r>
              <a:rPr lang="en-US" sz="1100" dirty="0">
                <a:solidFill>
                  <a:srgbClr val="6B8F87"/>
                </a:solidFill>
                <a:latin typeface="Calibri" pitchFamily="34" charset="0"/>
                <a:ea typeface="Calibri" pitchFamily="34" charset="-122"/>
                <a:cs typeface="Calibri" pitchFamily="34" charset="-120"/>
              </a:rPr>
              <a:t>A new pin within about 25 metres of a saved address is treated as the same address, keeping repeat ordering clean.</a:t>
            </a:r>
            <a:endParaRPr lang="en-US" sz="1100" dirty="0"/>
          </a:p>
        </p:txBody>
      </p:sp>
      <p:sp>
        <p:nvSpPr>
          <p:cNvPr id="24" name="Shape 22"/>
          <p:cNvSpPr/>
          <p:nvPr/>
        </p:nvSpPr>
        <p:spPr>
          <a:xfrm>
            <a:off x="4338218" y="3538728"/>
            <a:ext cx="3515258" cy="1572768"/>
          </a:xfrm>
          <a:prstGeom prst="roundRect">
            <a:avLst>
              <a:gd name="adj" fmla="val 5814"/>
            </a:avLst>
          </a:prstGeom>
          <a:solidFill>
            <a:srgbClr val="F1F6F4"/>
          </a:solidFill>
          <a:ln/>
        </p:spPr>
      </p:sp>
      <p:sp>
        <p:nvSpPr>
          <p:cNvPr id="25" name="Shape 23"/>
          <p:cNvSpPr/>
          <p:nvPr/>
        </p:nvSpPr>
        <p:spPr>
          <a:xfrm>
            <a:off x="4594250" y="3794760"/>
            <a:ext cx="420624" cy="420624"/>
          </a:xfrm>
          <a:prstGeom prst="ellipse">
            <a:avLst/>
          </a:prstGeom>
          <a:solidFill>
            <a:srgbClr val="0E6B5C"/>
          </a:solidFill>
          <a:ln/>
        </p:spPr>
      </p:sp>
      <p:sp>
        <p:nvSpPr>
          <p:cNvPr id="26" name="Text 24"/>
          <p:cNvSpPr txBox="1"/>
          <p:nvPr/>
        </p:nvSpPr>
        <p:spPr>
          <a:xfrm>
            <a:off x="4594250" y="379476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txBox="1"/>
          <p:nvPr/>
        </p:nvSpPr>
        <p:spPr>
          <a:xfrm>
            <a:off x="5124602" y="3776472"/>
            <a:ext cx="2472842" cy="457200"/>
          </a:xfrm>
          <a:prstGeom prst="rect">
            <a:avLst/>
          </a:prstGeom>
          <a:noFill/>
          <a:ln/>
        </p:spPr>
        <p:txBody>
          <a:bodyPr wrap="square" lIns="0" tIns="0" rIns="0" bIns="0" rtlCol="0" anchor="ctr"/>
          <a:lstStyle/>
          <a:p>
            <a:pPr indent="0" marL="0">
              <a:buNone/>
            </a:pPr>
            <a:r>
              <a:rPr lang="en-US" sz="1350" b="1" dirty="0">
                <a:solidFill>
                  <a:srgbClr val="1F2A28"/>
                </a:solidFill>
                <a:latin typeface="Calibri" pitchFamily="34" charset="0"/>
                <a:ea typeface="Calibri" pitchFamily="34" charset="-122"/>
                <a:cs typeface="Calibri" pitchFamily="34" charset="-120"/>
              </a:rPr>
              <a:t>Mis-pin and fraud flag</a:t>
            </a:r>
            <a:endParaRPr lang="en-US" sz="1350" dirty="0"/>
          </a:p>
        </p:txBody>
      </p:sp>
      <p:sp>
        <p:nvSpPr>
          <p:cNvPr id="28" name="Text 26"/>
          <p:cNvSpPr txBox="1"/>
          <p:nvPr/>
        </p:nvSpPr>
        <p:spPr>
          <a:xfrm>
            <a:off x="4594250" y="4306824"/>
            <a:ext cx="3003194" cy="685800"/>
          </a:xfrm>
          <a:prstGeom prst="rect">
            <a:avLst/>
          </a:prstGeom>
          <a:noFill/>
          <a:ln/>
        </p:spPr>
        <p:txBody>
          <a:bodyPr wrap="square" lIns="0" tIns="0" rIns="0" bIns="0" rtlCol="0" anchor="t"/>
          <a:lstStyle/>
          <a:p>
            <a:pPr indent="0" marL="0">
              <a:lnSpc>
                <a:spcPts val="1450"/>
              </a:lnSpc>
              <a:buNone/>
            </a:pPr>
            <a:r>
              <a:rPr lang="en-US" sz="1100" dirty="0">
                <a:solidFill>
                  <a:srgbClr val="6B8F87"/>
                </a:solidFill>
                <a:latin typeface="Calibri" pitchFamily="34" charset="0"/>
                <a:ea typeface="Calibri" pitchFamily="34" charset="-122"/>
                <a:cs typeface="Calibri" pitchFamily="34" charset="-120"/>
              </a:rPr>
              <a:t>A pin implausibly far from the stated PIN code is held for manual review before dispatch.</a:t>
            </a:r>
            <a:endParaRPr lang="en-US" sz="1100" dirty="0"/>
          </a:p>
        </p:txBody>
      </p:sp>
      <p:sp>
        <p:nvSpPr>
          <p:cNvPr id="29" name="Shape 27"/>
          <p:cNvSpPr/>
          <p:nvPr/>
        </p:nvSpPr>
        <p:spPr>
          <a:xfrm>
            <a:off x="8127797" y="3538728"/>
            <a:ext cx="3515258" cy="1572768"/>
          </a:xfrm>
          <a:prstGeom prst="roundRect">
            <a:avLst>
              <a:gd name="adj" fmla="val 5814"/>
            </a:avLst>
          </a:prstGeom>
          <a:solidFill>
            <a:srgbClr val="0B2B26"/>
          </a:solidFill>
          <a:ln/>
        </p:spPr>
      </p:sp>
      <p:sp>
        <p:nvSpPr>
          <p:cNvPr id="30" name="Text 28"/>
          <p:cNvSpPr txBox="1"/>
          <p:nvPr/>
        </p:nvSpPr>
        <p:spPr>
          <a:xfrm>
            <a:off x="8383829" y="3776472"/>
            <a:ext cx="3003194" cy="310896"/>
          </a:xfrm>
          <a:prstGeom prst="rect">
            <a:avLst/>
          </a:prstGeom>
          <a:noFill/>
          <a:ln/>
        </p:spPr>
        <p:txBody>
          <a:bodyPr wrap="square" lIns="0" tIns="0" rIns="0" bIns="0" rtlCol="0" anchor="ctr"/>
          <a:lstStyle/>
          <a:p>
            <a:pPr indent="0" marL="0">
              <a:buNone/>
            </a:pPr>
            <a:r>
              <a:rPr lang="en-US" sz="1150" b="1" dirty="0">
                <a:solidFill>
                  <a:srgbClr val="F2B705"/>
                </a:solidFill>
                <a:latin typeface="Calibri" pitchFamily="34" charset="0"/>
                <a:ea typeface="Calibri" pitchFamily="34" charset="-122"/>
                <a:cs typeface="Calibri" pitchFamily="34" charset="-120"/>
              </a:rPr>
              <a:t>The gap this closes</a:t>
            </a:r>
            <a:endParaRPr lang="en-US" sz="1150" dirty="0"/>
          </a:p>
        </p:txBody>
      </p:sp>
      <p:sp>
        <p:nvSpPr>
          <p:cNvPr id="31" name="Text 29"/>
          <p:cNvSpPr txBox="1"/>
          <p:nvPr/>
        </p:nvSpPr>
        <p:spPr>
          <a:xfrm>
            <a:off x="8383829" y="4142232"/>
            <a:ext cx="3003194" cy="822960"/>
          </a:xfrm>
          <a:prstGeom prst="rect">
            <a:avLst/>
          </a:prstGeom>
          <a:noFill/>
          <a:ln/>
        </p:spPr>
        <p:txBody>
          <a:bodyPr wrap="square" lIns="0" tIns="0" rIns="0" bIns="0" rtlCol="0" anchor="t"/>
          <a:lstStyle/>
          <a:p>
            <a:pPr indent="0" marL="0">
              <a:lnSpc>
                <a:spcPts val="1500"/>
              </a:lnSpc>
              <a:buNone/>
            </a:pPr>
            <a:r>
              <a:rPr lang="en-US" sz="1100" dirty="0">
                <a:solidFill>
                  <a:srgbClr val="9DB8B1"/>
                </a:solidFill>
                <a:latin typeface="Calibri" pitchFamily="34" charset="0"/>
                <a:ea typeface="Calibri" pitchFamily="34" charset="-122"/>
                <a:cs typeface="Calibri" pitchFamily="34" charset="-120"/>
              </a:rPr>
              <a:t>Version 1 of the plan said “restrict COD by PIN code” — with no data anywhere in the model to restrict against. The pin makes the rule enforceable.</a:t>
            </a:r>
            <a:endParaRPr lang="en-US" sz="1100" dirty="0"/>
          </a:p>
        </p:txBody>
      </p:sp>
      <p:sp>
        <p:nvSpPr>
          <p:cNvPr id="32" name="Shape 30"/>
          <p:cNvSpPr/>
          <p:nvPr/>
        </p:nvSpPr>
        <p:spPr>
          <a:xfrm>
            <a:off x="548640" y="5257800"/>
            <a:ext cx="11094415" cy="868680"/>
          </a:xfrm>
          <a:prstGeom prst="roundRect">
            <a:avLst>
              <a:gd name="adj" fmla="val 10526"/>
            </a:avLst>
          </a:prstGeom>
          <a:solidFill>
            <a:srgbClr val="FFFFFF"/>
          </a:solidFill>
          <a:ln w="15875">
            <a:solidFill>
              <a:srgbClr val="0E6B5C"/>
            </a:solidFill>
            <a:prstDash val="solid"/>
          </a:ln>
        </p:spPr>
      </p:sp>
      <p:sp>
        <p:nvSpPr>
          <p:cNvPr id="33" name="Text 31"/>
          <p:cNvSpPr txBox="1"/>
          <p:nvPr/>
        </p:nvSpPr>
        <p:spPr>
          <a:xfrm>
            <a:off x="868680" y="5257800"/>
            <a:ext cx="10454335" cy="868680"/>
          </a:xfrm>
          <a:prstGeom prst="rect">
            <a:avLst/>
          </a:prstGeom>
          <a:noFill/>
          <a:ln/>
        </p:spPr>
        <p:txBody>
          <a:bodyPr wrap="square" lIns="0" tIns="0" rIns="0" bIns="0" rtlCol="0" anchor="ctr"/>
          <a:lstStyle/>
          <a:p>
            <a:pPr indent="0" marL="0">
              <a:lnSpc>
                <a:spcPts val="1800"/>
              </a:lnSpc>
              <a:buNone/>
            </a:pPr>
            <a:r>
              <a:rPr lang="en-US" sz="1250" b="1" dirty="0">
                <a:solidFill>
                  <a:srgbClr val="1F2A28"/>
                </a:solidFill>
                <a:latin typeface="Calibri" pitchFamily="34" charset="0"/>
                <a:ea typeface="Calibri" pitchFamily="34" charset="-122"/>
                <a:cs typeface="Calibri" pitchFamily="34" charset="-120"/>
              </a:rPr>
              <a:t>Always with a fallback.  </a:t>
            </a:r>
            <a:pPr indent="0" marL="0">
              <a:lnSpc>
                <a:spcPts val="1800"/>
              </a:lnSpc>
              <a:buNone/>
            </a:pPr>
            <a:r>
              <a:rPr lang="en-US" sz="1250" dirty="0">
                <a:solidFill>
                  <a:srgbClr val="6B8F87"/>
                </a:solidFill>
                <a:latin typeface="Calibri" pitchFamily="34" charset="0"/>
                <a:ea typeface="Calibri" pitchFamily="34" charset="-122"/>
                <a:cs typeface="Calibri" pitchFamily="34" charset="-120"/>
              </a:rPr>
              <a:t>Some customers will refuse the location permission or drop the wrong pin. A typed-address route that forward-geocodes to coordinates is mandatory — the checkout flow must never dead-end on a denied permission.</a:t>
            </a:r>
            <a:endParaRPr lang="en-US" sz="1250" dirty="0"/>
          </a:p>
        </p:txBody>
      </p:sp>
      <p:sp>
        <p:nvSpPr>
          <p:cNvPr id="35" name="Text 32"/>
          <p:cNvSpPr txBox="1"/>
          <p:nvPr/>
        </p:nvSpPr>
        <p:spPr>
          <a:xfrm>
            <a:off x="11094415" y="6199632"/>
            <a:ext cx="548640" cy="274320"/>
          </a:xfrm>
          <a:prstGeom prst="rect">
            <a:avLst/>
          </a:prstGeom>
          <a:noFill/>
          <a:ln/>
        </p:spPr>
        <p:txBody>
          <a:bodyPr wrap="square" lIns="0" tIns="0" rIns="0" bIns="0" rtlCol="0" anchor="ctr"/>
          <a:lstStyle/>
          <a:p>
            <a:pPr algn="r" indent="0" marL="0">
              <a:buNone/>
            </a:pPr>
            <a:r>
              <a:rPr lang="en-US" sz="1000" dirty="0">
                <a:solidFill>
                  <a:srgbClr val="9DB8B1"/>
                </a:solidFill>
                <a:latin typeface="Calibri" pitchFamily="34" charset="0"/>
                <a:ea typeface="Calibri" pitchFamily="34" charset="-122"/>
                <a:cs typeface="Calibri" pitchFamily="34" charset="-120"/>
              </a:rPr>
              <a:t>10</a:t>
            </a:r>
            <a:endParaRPr lang="en-US" sz="1000" dirty="0"/>
          </a:p>
        </p:txBody>
      </p:sp>
      <p:sp>
        <p:nvSpPr>
          <p:cNvPr id="36" name="Text 33"/>
          <p:cNvSpPr txBox="1"/>
          <p:nvPr/>
        </p:nvSpPr>
        <p:spPr>
          <a:xfrm>
            <a:off x="548640" y="6199632"/>
            <a:ext cx="4572000" cy="274320"/>
          </a:xfrm>
          <a:prstGeom prst="rect">
            <a:avLst/>
          </a:prstGeom>
          <a:noFill/>
          <a:ln/>
        </p:spPr>
        <p:txBody>
          <a:bodyPr wrap="square" lIns="0" tIns="0" rIns="0" bIns="0" rtlCol="0" anchor="ctr"/>
          <a:lstStyle/>
          <a:p>
            <a:pPr algn="l" indent="0" marL="0">
              <a:buNone/>
            </a:pPr>
            <a:r>
              <a:rPr lang="en-US" sz="900" dirty="0">
                <a:solidFill>
                  <a:srgbClr val="9DB8B1"/>
                </a:solidFill>
                <a:latin typeface="Calibri" pitchFamily="34" charset="0"/>
                <a:ea typeface="Calibri" pitchFamily="34" charset="-122"/>
                <a:cs typeface="Calibri" pitchFamily="34" charset="-120"/>
              </a:rPr>
              <a:t>WhatsApp Commerce Platform  ·  Implementation Plan v2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56032"/>
          </a:xfrm>
          <a:prstGeom prst="rect">
            <a:avLst/>
          </a:prstGeom>
          <a:noFill/>
          <a:ln/>
        </p:spPr>
        <p:txBody>
          <a:bodyPr wrap="square" lIns="0" tIns="0" rIns="0" bIns="0" rtlCol="0" anchor="ctr"/>
          <a:lstStyle/>
          <a:p>
            <a:pPr algn="l" indent="0" marL="0">
              <a:buNone/>
            </a:pPr>
            <a:r>
              <a:rPr lang="en-US" sz="1100" b="1" spc="200" kern="0" dirty="0">
                <a:solidFill>
                  <a:srgbClr val="0E6B5C"/>
                </a:solidFill>
                <a:latin typeface="Calibri" pitchFamily="34" charset="0"/>
                <a:ea typeface="Calibri" pitchFamily="34" charset="-122"/>
                <a:cs typeface="Calibri" pitchFamily="34" charset="-120"/>
              </a:rPr>
              <a:t>DATA DESIGN</a:t>
            </a:r>
            <a:endParaRPr lang="en-US" sz="1100" dirty="0"/>
          </a:p>
        </p:txBody>
      </p:sp>
      <p:sp>
        <p:nvSpPr>
          <p:cNvPr id="3" name="Text 1"/>
          <p:cNvSpPr txBox="1"/>
          <p:nvPr/>
        </p:nvSpPr>
        <p:spPr>
          <a:xfrm>
            <a:off x="548640" y="640080"/>
            <a:ext cx="11094415" cy="731520"/>
          </a:xfrm>
          <a:prstGeom prst="rect">
            <a:avLst/>
          </a:prstGeom>
          <a:noFill/>
          <a:ln/>
        </p:spPr>
        <p:txBody>
          <a:bodyPr wrap="square" lIns="0" tIns="0" rIns="0" bIns="0" rtlCol="0" anchor="ctr"/>
          <a:lstStyle/>
          <a:p>
            <a:pPr algn="l" indent="0" marL="0">
              <a:buNone/>
            </a:pPr>
            <a:r>
              <a:rPr lang="en-US" sz="3300" b="1" dirty="0">
                <a:solidFill>
                  <a:srgbClr val="1F2A28"/>
                </a:solidFill>
                <a:latin typeface="Cambria" pitchFamily="34" charset="0"/>
                <a:ea typeface="Cambria" pitchFamily="34" charset="-122"/>
                <a:cs typeface="Cambria" pitchFamily="34" charset="-120"/>
              </a:rPr>
              <a:t>One order, three independent statuses</a:t>
            </a:r>
            <a:endParaRPr lang="en-US" sz="3300" dirty="0"/>
          </a:p>
        </p:txBody>
      </p:sp>
      <p:sp>
        <p:nvSpPr>
          <p:cNvPr id="4" name="Text 2"/>
          <p:cNvSpPr txBox="1"/>
          <p:nvPr/>
        </p:nvSpPr>
        <p:spPr>
          <a:xfrm>
            <a:off x="548640" y="1737360"/>
            <a:ext cx="2148840" cy="777240"/>
          </a:xfrm>
          <a:prstGeom prst="rect">
            <a:avLst/>
          </a:prstGeom>
          <a:noFill/>
          <a:ln/>
        </p:spPr>
        <p:txBody>
          <a:bodyPr wrap="square" lIns="0" tIns="0" rIns="0" bIns="0" rtlCol="0" anchor="ctr"/>
          <a:lstStyle/>
          <a:p>
            <a:pPr indent="0" marL="0">
              <a:buNone/>
            </a:pPr>
            <a:r>
              <a:rPr lang="en-US" sz="1300" b="1" dirty="0">
                <a:solidFill>
                  <a:srgbClr val="0E6B5C"/>
                </a:solidFill>
                <a:latin typeface="Calibri" pitchFamily="34" charset="0"/>
                <a:ea typeface="Calibri" pitchFamily="34" charset="-122"/>
                <a:cs typeface="Calibri" pitchFamily="34" charset="-120"/>
              </a:rPr>
              <a:t>payment_status</a:t>
            </a:r>
            <a:endParaRPr lang="en-US" sz="1300" dirty="0"/>
          </a:p>
        </p:txBody>
      </p:sp>
      <p:sp>
        <p:nvSpPr>
          <p:cNvPr id="5" name="Shape 3"/>
          <p:cNvSpPr/>
          <p:nvPr/>
        </p:nvSpPr>
        <p:spPr>
          <a:xfrm>
            <a:off x="2788920" y="1883664"/>
            <a:ext cx="1365961" cy="512064"/>
          </a:xfrm>
          <a:prstGeom prst="roundRect">
            <a:avLst>
              <a:gd name="adj" fmla="val 10714"/>
            </a:avLst>
          </a:prstGeom>
          <a:solidFill>
            <a:srgbClr val="F1F6F4"/>
          </a:solidFill>
          <a:ln w="12700">
            <a:solidFill>
              <a:srgbClr val="0E6B5C"/>
            </a:solidFill>
            <a:prstDash val="solid"/>
          </a:ln>
        </p:spPr>
      </p:sp>
      <p:sp>
        <p:nvSpPr>
          <p:cNvPr id="6" name="Text 4"/>
          <p:cNvSpPr txBox="1"/>
          <p:nvPr/>
        </p:nvSpPr>
        <p:spPr>
          <a:xfrm>
            <a:off x="2788920" y="1883664"/>
            <a:ext cx="1365961" cy="512064"/>
          </a:xfrm>
          <a:prstGeom prst="rect">
            <a:avLst/>
          </a:prstGeom>
          <a:noFill/>
          <a:ln/>
        </p:spPr>
        <p:txBody>
          <a:bodyPr wrap="square" lIns="0" tIns="0" rIns="0" bIns="0" rtlCol="0" anchor="ctr"/>
          <a:lstStyle/>
          <a:p>
            <a:pPr algn="ctr" indent="0" marL="0">
              <a:buNone/>
            </a:pPr>
            <a:r>
              <a:rPr lang="en-US" sz="950" dirty="0">
                <a:solidFill>
                  <a:srgbClr val="1F2A28"/>
                </a:solidFill>
                <a:latin typeface="Calibri" pitchFamily="34" charset="0"/>
                <a:ea typeface="Calibri" pitchFamily="34" charset="-122"/>
                <a:cs typeface="Calibri" pitchFamily="34" charset="-120"/>
              </a:rPr>
              <a:t>not_required</a:t>
            </a:r>
            <a:endParaRPr lang="en-US" sz="950" dirty="0"/>
          </a:p>
        </p:txBody>
      </p:sp>
      <p:sp>
        <p:nvSpPr>
          <p:cNvPr id="7" name="Shape 5"/>
          <p:cNvSpPr/>
          <p:nvPr/>
        </p:nvSpPr>
        <p:spPr>
          <a:xfrm>
            <a:off x="4264609" y="1883664"/>
            <a:ext cx="1365961" cy="512064"/>
          </a:xfrm>
          <a:prstGeom prst="roundRect">
            <a:avLst>
              <a:gd name="adj" fmla="val 10714"/>
            </a:avLst>
          </a:prstGeom>
          <a:solidFill>
            <a:srgbClr val="FFFFFF"/>
          </a:solidFill>
          <a:ln w="12700">
            <a:solidFill>
              <a:srgbClr val="0E6B5C"/>
            </a:solidFill>
            <a:prstDash val="solid"/>
          </a:ln>
        </p:spPr>
      </p:sp>
      <p:sp>
        <p:nvSpPr>
          <p:cNvPr id="8" name="Text 6"/>
          <p:cNvSpPr txBox="1"/>
          <p:nvPr/>
        </p:nvSpPr>
        <p:spPr>
          <a:xfrm>
            <a:off x="4264609" y="1883664"/>
            <a:ext cx="1365961" cy="512064"/>
          </a:xfrm>
          <a:prstGeom prst="rect">
            <a:avLst/>
          </a:prstGeom>
          <a:noFill/>
          <a:ln/>
        </p:spPr>
        <p:txBody>
          <a:bodyPr wrap="square" lIns="0" tIns="0" rIns="0" bIns="0" rtlCol="0" anchor="ctr"/>
          <a:lstStyle/>
          <a:p>
            <a:pPr algn="ctr" indent="0" marL="0">
              <a:buNone/>
            </a:pPr>
            <a:r>
              <a:rPr lang="en-US" sz="950" dirty="0">
                <a:solidFill>
                  <a:srgbClr val="1F2A28"/>
                </a:solidFill>
                <a:latin typeface="Calibri" pitchFamily="34" charset="0"/>
                <a:ea typeface="Calibri" pitchFamily="34" charset="-122"/>
                <a:cs typeface="Calibri" pitchFamily="34" charset="-120"/>
              </a:rPr>
              <a:t>pending</a:t>
            </a:r>
            <a:endParaRPr lang="en-US" sz="950" dirty="0"/>
          </a:p>
        </p:txBody>
      </p:sp>
      <p:sp>
        <p:nvSpPr>
          <p:cNvPr id="9" name="Shape 7"/>
          <p:cNvSpPr/>
          <p:nvPr/>
        </p:nvSpPr>
        <p:spPr>
          <a:xfrm>
            <a:off x="5740298" y="1883664"/>
            <a:ext cx="1365961" cy="512064"/>
          </a:xfrm>
          <a:prstGeom prst="roundRect">
            <a:avLst>
              <a:gd name="adj" fmla="val 10714"/>
            </a:avLst>
          </a:prstGeom>
          <a:solidFill>
            <a:srgbClr val="FFFFFF"/>
          </a:solidFill>
          <a:ln w="12700">
            <a:solidFill>
              <a:srgbClr val="0E6B5C"/>
            </a:solidFill>
            <a:prstDash val="solid"/>
          </a:ln>
        </p:spPr>
      </p:sp>
      <p:sp>
        <p:nvSpPr>
          <p:cNvPr id="10" name="Text 8"/>
          <p:cNvSpPr txBox="1"/>
          <p:nvPr/>
        </p:nvSpPr>
        <p:spPr>
          <a:xfrm>
            <a:off x="5740298" y="1883664"/>
            <a:ext cx="1365961" cy="512064"/>
          </a:xfrm>
          <a:prstGeom prst="rect">
            <a:avLst/>
          </a:prstGeom>
          <a:noFill/>
          <a:ln/>
        </p:spPr>
        <p:txBody>
          <a:bodyPr wrap="square" lIns="0" tIns="0" rIns="0" bIns="0" rtlCol="0" anchor="ctr"/>
          <a:lstStyle/>
          <a:p>
            <a:pPr algn="ctr" indent="0" marL="0">
              <a:buNone/>
            </a:pPr>
            <a:r>
              <a:rPr lang="en-US" sz="950" dirty="0">
                <a:solidFill>
                  <a:srgbClr val="1F2A28"/>
                </a:solidFill>
                <a:latin typeface="Calibri" pitchFamily="34" charset="0"/>
                <a:ea typeface="Calibri" pitchFamily="34" charset="-122"/>
                <a:cs typeface="Calibri" pitchFamily="34" charset="-120"/>
              </a:rPr>
              <a:t>link_sent</a:t>
            </a:r>
            <a:endParaRPr lang="en-US" sz="950" dirty="0"/>
          </a:p>
        </p:txBody>
      </p:sp>
      <p:sp>
        <p:nvSpPr>
          <p:cNvPr id="11" name="Shape 9"/>
          <p:cNvSpPr/>
          <p:nvPr/>
        </p:nvSpPr>
        <p:spPr>
          <a:xfrm>
            <a:off x="7215988" y="1883664"/>
            <a:ext cx="1365961" cy="512064"/>
          </a:xfrm>
          <a:prstGeom prst="roundRect">
            <a:avLst>
              <a:gd name="adj" fmla="val 10714"/>
            </a:avLst>
          </a:prstGeom>
          <a:solidFill>
            <a:srgbClr val="FFFFFF"/>
          </a:solidFill>
          <a:ln w="12700">
            <a:solidFill>
              <a:srgbClr val="0E6B5C"/>
            </a:solidFill>
            <a:prstDash val="solid"/>
          </a:ln>
        </p:spPr>
      </p:sp>
      <p:sp>
        <p:nvSpPr>
          <p:cNvPr id="12" name="Text 10"/>
          <p:cNvSpPr txBox="1"/>
          <p:nvPr/>
        </p:nvSpPr>
        <p:spPr>
          <a:xfrm>
            <a:off x="7215988" y="1883664"/>
            <a:ext cx="1365961" cy="512064"/>
          </a:xfrm>
          <a:prstGeom prst="rect">
            <a:avLst/>
          </a:prstGeom>
          <a:noFill/>
          <a:ln/>
        </p:spPr>
        <p:txBody>
          <a:bodyPr wrap="square" lIns="0" tIns="0" rIns="0" bIns="0" rtlCol="0" anchor="ctr"/>
          <a:lstStyle/>
          <a:p>
            <a:pPr algn="ctr" indent="0" marL="0">
              <a:buNone/>
            </a:pPr>
            <a:r>
              <a:rPr lang="en-US" sz="950" dirty="0">
                <a:solidFill>
                  <a:srgbClr val="1F2A28"/>
                </a:solidFill>
                <a:latin typeface="Calibri" pitchFamily="34" charset="0"/>
                <a:ea typeface="Calibri" pitchFamily="34" charset="-122"/>
                <a:cs typeface="Calibri" pitchFamily="34" charset="-120"/>
              </a:rPr>
              <a:t>paid</a:t>
            </a:r>
            <a:endParaRPr lang="en-US" sz="950" dirty="0"/>
          </a:p>
        </p:txBody>
      </p:sp>
      <p:sp>
        <p:nvSpPr>
          <p:cNvPr id="13" name="Shape 11"/>
          <p:cNvSpPr/>
          <p:nvPr/>
        </p:nvSpPr>
        <p:spPr>
          <a:xfrm>
            <a:off x="8691677" y="1883664"/>
            <a:ext cx="1365961" cy="512064"/>
          </a:xfrm>
          <a:prstGeom prst="roundRect">
            <a:avLst>
              <a:gd name="adj" fmla="val 10714"/>
            </a:avLst>
          </a:prstGeom>
          <a:solidFill>
            <a:srgbClr val="FFFFFF"/>
          </a:solidFill>
          <a:ln w="12700">
            <a:solidFill>
              <a:srgbClr val="0E6B5C"/>
            </a:solidFill>
            <a:prstDash val="solid"/>
          </a:ln>
        </p:spPr>
      </p:sp>
      <p:sp>
        <p:nvSpPr>
          <p:cNvPr id="14" name="Text 12"/>
          <p:cNvSpPr txBox="1"/>
          <p:nvPr/>
        </p:nvSpPr>
        <p:spPr>
          <a:xfrm>
            <a:off x="8691677" y="1883664"/>
            <a:ext cx="1365961" cy="512064"/>
          </a:xfrm>
          <a:prstGeom prst="rect">
            <a:avLst/>
          </a:prstGeom>
          <a:noFill/>
          <a:ln/>
        </p:spPr>
        <p:txBody>
          <a:bodyPr wrap="square" lIns="0" tIns="0" rIns="0" bIns="0" rtlCol="0" anchor="ctr"/>
          <a:lstStyle/>
          <a:p>
            <a:pPr algn="ctr" indent="0" marL="0">
              <a:buNone/>
            </a:pPr>
            <a:r>
              <a:rPr lang="en-US" sz="950" dirty="0">
                <a:solidFill>
                  <a:srgbClr val="1F2A28"/>
                </a:solidFill>
                <a:latin typeface="Calibri" pitchFamily="34" charset="0"/>
                <a:ea typeface="Calibri" pitchFamily="34" charset="-122"/>
                <a:cs typeface="Calibri" pitchFamily="34" charset="-120"/>
              </a:rPr>
              <a:t>refund_pending</a:t>
            </a:r>
            <a:endParaRPr lang="en-US" sz="950" dirty="0"/>
          </a:p>
        </p:txBody>
      </p:sp>
      <p:sp>
        <p:nvSpPr>
          <p:cNvPr id="15" name="Shape 13"/>
          <p:cNvSpPr/>
          <p:nvPr/>
        </p:nvSpPr>
        <p:spPr>
          <a:xfrm>
            <a:off x="10167366" y="1883664"/>
            <a:ext cx="1365961" cy="512064"/>
          </a:xfrm>
          <a:prstGeom prst="roundRect">
            <a:avLst>
              <a:gd name="adj" fmla="val 10714"/>
            </a:avLst>
          </a:prstGeom>
          <a:solidFill>
            <a:srgbClr val="FFFFFF"/>
          </a:solidFill>
          <a:ln w="12700">
            <a:solidFill>
              <a:srgbClr val="0E6B5C"/>
            </a:solidFill>
            <a:prstDash val="solid"/>
          </a:ln>
        </p:spPr>
      </p:sp>
      <p:sp>
        <p:nvSpPr>
          <p:cNvPr id="16" name="Text 14"/>
          <p:cNvSpPr txBox="1"/>
          <p:nvPr/>
        </p:nvSpPr>
        <p:spPr>
          <a:xfrm>
            <a:off x="10167366" y="1883664"/>
            <a:ext cx="1365961" cy="512064"/>
          </a:xfrm>
          <a:prstGeom prst="rect">
            <a:avLst/>
          </a:prstGeom>
          <a:noFill/>
          <a:ln/>
        </p:spPr>
        <p:txBody>
          <a:bodyPr wrap="square" lIns="0" tIns="0" rIns="0" bIns="0" rtlCol="0" anchor="ctr"/>
          <a:lstStyle/>
          <a:p>
            <a:pPr algn="ctr" indent="0" marL="0">
              <a:buNone/>
            </a:pPr>
            <a:r>
              <a:rPr lang="en-US" sz="950" dirty="0">
                <a:solidFill>
                  <a:srgbClr val="1F2A28"/>
                </a:solidFill>
                <a:latin typeface="Calibri" pitchFamily="34" charset="0"/>
                <a:ea typeface="Calibri" pitchFamily="34" charset="-122"/>
                <a:cs typeface="Calibri" pitchFamily="34" charset="-120"/>
              </a:rPr>
              <a:t>refunded</a:t>
            </a:r>
            <a:endParaRPr lang="en-US" sz="950" dirty="0"/>
          </a:p>
        </p:txBody>
      </p:sp>
      <p:sp>
        <p:nvSpPr>
          <p:cNvPr id="17" name="Text 15"/>
          <p:cNvSpPr txBox="1"/>
          <p:nvPr/>
        </p:nvSpPr>
        <p:spPr>
          <a:xfrm>
            <a:off x="548640" y="2944368"/>
            <a:ext cx="2148840" cy="777240"/>
          </a:xfrm>
          <a:prstGeom prst="rect">
            <a:avLst/>
          </a:prstGeom>
          <a:noFill/>
          <a:ln/>
        </p:spPr>
        <p:txBody>
          <a:bodyPr wrap="square" lIns="0" tIns="0" rIns="0" bIns="0" rtlCol="0" anchor="ctr"/>
          <a:lstStyle/>
          <a:p>
            <a:pPr indent="0" marL="0">
              <a:buNone/>
            </a:pPr>
            <a:r>
              <a:rPr lang="en-US" sz="1300" b="1" dirty="0">
                <a:solidFill>
                  <a:srgbClr val="B98A04"/>
                </a:solidFill>
                <a:latin typeface="Calibri" pitchFamily="34" charset="0"/>
                <a:ea typeface="Calibri" pitchFamily="34" charset="-122"/>
                <a:cs typeface="Calibri" pitchFamily="34" charset="-120"/>
              </a:rPr>
              <a:t>fulfillment_status</a:t>
            </a:r>
            <a:endParaRPr lang="en-US" sz="1300" dirty="0"/>
          </a:p>
        </p:txBody>
      </p:sp>
      <p:sp>
        <p:nvSpPr>
          <p:cNvPr id="18" name="Shape 16"/>
          <p:cNvSpPr/>
          <p:nvPr/>
        </p:nvSpPr>
        <p:spPr>
          <a:xfrm>
            <a:off x="2788920" y="3090672"/>
            <a:ext cx="1365961" cy="512064"/>
          </a:xfrm>
          <a:prstGeom prst="roundRect">
            <a:avLst>
              <a:gd name="adj" fmla="val 10714"/>
            </a:avLst>
          </a:prstGeom>
          <a:solidFill>
            <a:srgbClr val="F1F6F4"/>
          </a:solidFill>
          <a:ln w="12700">
            <a:solidFill>
              <a:srgbClr val="B98A04"/>
            </a:solidFill>
            <a:prstDash val="solid"/>
          </a:ln>
        </p:spPr>
      </p:sp>
      <p:sp>
        <p:nvSpPr>
          <p:cNvPr id="19" name="Text 17"/>
          <p:cNvSpPr txBox="1"/>
          <p:nvPr/>
        </p:nvSpPr>
        <p:spPr>
          <a:xfrm>
            <a:off x="2788920" y="3090672"/>
            <a:ext cx="1365961" cy="512064"/>
          </a:xfrm>
          <a:prstGeom prst="rect">
            <a:avLst/>
          </a:prstGeom>
          <a:noFill/>
          <a:ln/>
        </p:spPr>
        <p:txBody>
          <a:bodyPr wrap="square" lIns="0" tIns="0" rIns="0" bIns="0" rtlCol="0" anchor="ctr"/>
          <a:lstStyle/>
          <a:p>
            <a:pPr algn="ctr" indent="0" marL="0">
              <a:buNone/>
            </a:pPr>
            <a:r>
              <a:rPr lang="en-US" sz="950" dirty="0">
                <a:solidFill>
                  <a:srgbClr val="1F2A28"/>
                </a:solidFill>
                <a:latin typeface="Calibri" pitchFamily="34" charset="0"/>
                <a:ea typeface="Calibri" pitchFamily="34" charset="-122"/>
                <a:cs typeface="Calibri" pitchFamily="34" charset="-120"/>
              </a:rPr>
              <a:t>unfulfilled</a:t>
            </a:r>
            <a:endParaRPr lang="en-US" sz="950" dirty="0"/>
          </a:p>
        </p:txBody>
      </p:sp>
      <p:sp>
        <p:nvSpPr>
          <p:cNvPr id="20" name="Shape 18"/>
          <p:cNvSpPr/>
          <p:nvPr/>
        </p:nvSpPr>
        <p:spPr>
          <a:xfrm>
            <a:off x="4264609" y="3090672"/>
            <a:ext cx="1365961" cy="512064"/>
          </a:xfrm>
          <a:prstGeom prst="roundRect">
            <a:avLst>
              <a:gd name="adj" fmla="val 10714"/>
            </a:avLst>
          </a:prstGeom>
          <a:solidFill>
            <a:srgbClr val="FFFFFF"/>
          </a:solidFill>
          <a:ln w="12700">
            <a:solidFill>
              <a:srgbClr val="B98A04"/>
            </a:solidFill>
            <a:prstDash val="solid"/>
          </a:ln>
        </p:spPr>
      </p:sp>
      <p:sp>
        <p:nvSpPr>
          <p:cNvPr id="21" name="Text 19"/>
          <p:cNvSpPr txBox="1"/>
          <p:nvPr/>
        </p:nvSpPr>
        <p:spPr>
          <a:xfrm>
            <a:off x="4264609" y="3090672"/>
            <a:ext cx="1365961" cy="512064"/>
          </a:xfrm>
          <a:prstGeom prst="rect">
            <a:avLst/>
          </a:prstGeom>
          <a:noFill/>
          <a:ln/>
        </p:spPr>
        <p:txBody>
          <a:bodyPr wrap="square" lIns="0" tIns="0" rIns="0" bIns="0" rtlCol="0" anchor="ctr"/>
          <a:lstStyle/>
          <a:p>
            <a:pPr algn="ctr" indent="0" marL="0">
              <a:buNone/>
            </a:pPr>
            <a:r>
              <a:rPr lang="en-US" sz="950" dirty="0">
                <a:solidFill>
                  <a:srgbClr val="1F2A28"/>
                </a:solidFill>
                <a:latin typeface="Calibri" pitchFamily="34" charset="0"/>
                <a:ea typeface="Calibri" pitchFamily="34" charset="-122"/>
                <a:cs typeface="Calibri" pitchFamily="34" charset="-120"/>
              </a:rPr>
              <a:t>confirmed</a:t>
            </a:r>
            <a:endParaRPr lang="en-US" sz="950" dirty="0"/>
          </a:p>
        </p:txBody>
      </p:sp>
      <p:sp>
        <p:nvSpPr>
          <p:cNvPr id="22" name="Shape 20"/>
          <p:cNvSpPr/>
          <p:nvPr/>
        </p:nvSpPr>
        <p:spPr>
          <a:xfrm>
            <a:off x="5740298" y="3090672"/>
            <a:ext cx="1365961" cy="512064"/>
          </a:xfrm>
          <a:prstGeom prst="roundRect">
            <a:avLst>
              <a:gd name="adj" fmla="val 10714"/>
            </a:avLst>
          </a:prstGeom>
          <a:solidFill>
            <a:srgbClr val="FFFFFF"/>
          </a:solidFill>
          <a:ln w="12700">
            <a:solidFill>
              <a:srgbClr val="B98A04"/>
            </a:solidFill>
            <a:prstDash val="solid"/>
          </a:ln>
        </p:spPr>
      </p:sp>
      <p:sp>
        <p:nvSpPr>
          <p:cNvPr id="23" name="Text 21"/>
          <p:cNvSpPr txBox="1"/>
          <p:nvPr/>
        </p:nvSpPr>
        <p:spPr>
          <a:xfrm>
            <a:off x="5740298" y="3090672"/>
            <a:ext cx="1365961" cy="512064"/>
          </a:xfrm>
          <a:prstGeom prst="rect">
            <a:avLst/>
          </a:prstGeom>
          <a:noFill/>
          <a:ln/>
        </p:spPr>
        <p:txBody>
          <a:bodyPr wrap="square" lIns="0" tIns="0" rIns="0" bIns="0" rtlCol="0" anchor="ctr"/>
          <a:lstStyle/>
          <a:p>
            <a:pPr algn="ctr" indent="0" marL="0">
              <a:buNone/>
            </a:pPr>
            <a:r>
              <a:rPr lang="en-US" sz="950" dirty="0">
                <a:solidFill>
                  <a:srgbClr val="1F2A28"/>
                </a:solidFill>
                <a:latin typeface="Calibri" pitchFamily="34" charset="0"/>
                <a:ea typeface="Calibri" pitchFamily="34" charset="-122"/>
                <a:cs typeface="Calibri" pitchFamily="34" charset="-120"/>
              </a:rPr>
              <a:t>packed</a:t>
            </a:r>
            <a:endParaRPr lang="en-US" sz="950" dirty="0"/>
          </a:p>
        </p:txBody>
      </p:sp>
      <p:sp>
        <p:nvSpPr>
          <p:cNvPr id="24" name="Shape 22"/>
          <p:cNvSpPr/>
          <p:nvPr/>
        </p:nvSpPr>
        <p:spPr>
          <a:xfrm>
            <a:off x="7215988" y="3090672"/>
            <a:ext cx="1365961" cy="512064"/>
          </a:xfrm>
          <a:prstGeom prst="roundRect">
            <a:avLst>
              <a:gd name="adj" fmla="val 10714"/>
            </a:avLst>
          </a:prstGeom>
          <a:solidFill>
            <a:srgbClr val="FFFFFF"/>
          </a:solidFill>
          <a:ln w="12700">
            <a:solidFill>
              <a:srgbClr val="B98A04"/>
            </a:solidFill>
            <a:prstDash val="solid"/>
          </a:ln>
        </p:spPr>
      </p:sp>
      <p:sp>
        <p:nvSpPr>
          <p:cNvPr id="25" name="Text 23"/>
          <p:cNvSpPr txBox="1"/>
          <p:nvPr/>
        </p:nvSpPr>
        <p:spPr>
          <a:xfrm>
            <a:off x="7215988" y="3090672"/>
            <a:ext cx="1365961" cy="512064"/>
          </a:xfrm>
          <a:prstGeom prst="rect">
            <a:avLst/>
          </a:prstGeom>
          <a:noFill/>
          <a:ln/>
        </p:spPr>
        <p:txBody>
          <a:bodyPr wrap="square" lIns="0" tIns="0" rIns="0" bIns="0" rtlCol="0" anchor="ctr"/>
          <a:lstStyle/>
          <a:p>
            <a:pPr algn="ctr" indent="0" marL="0">
              <a:buNone/>
            </a:pPr>
            <a:r>
              <a:rPr lang="en-US" sz="950" dirty="0">
                <a:solidFill>
                  <a:srgbClr val="1F2A28"/>
                </a:solidFill>
                <a:latin typeface="Calibri" pitchFamily="34" charset="0"/>
                <a:ea typeface="Calibri" pitchFamily="34" charset="-122"/>
                <a:cs typeface="Calibri" pitchFamily="34" charset="-120"/>
              </a:rPr>
              <a:t>shipped</a:t>
            </a:r>
            <a:endParaRPr lang="en-US" sz="950" dirty="0"/>
          </a:p>
        </p:txBody>
      </p:sp>
      <p:sp>
        <p:nvSpPr>
          <p:cNvPr id="26" name="Shape 24"/>
          <p:cNvSpPr/>
          <p:nvPr/>
        </p:nvSpPr>
        <p:spPr>
          <a:xfrm>
            <a:off x="8691677" y="3090672"/>
            <a:ext cx="1365961" cy="512064"/>
          </a:xfrm>
          <a:prstGeom prst="roundRect">
            <a:avLst>
              <a:gd name="adj" fmla="val 10714"/>
            </a:avLst>
          </a:prstGeom>
          <a:solidFill>
            <a:srgbClr val="FFFFFF"/>
          </a:solidFill>
          <a:ln w="12700">
            <a:solidFill>
              <a:srgbClr val="B98A04"/>
            </a:solidFill>
            <a:prstDash val="solid"/>
          </a:ln>
        </p:spPr>
      </p:sp>
      <p:sp>
        <p:nvSpPr>
          <p:cNvPr id="27" name="Text 25"/>
          <p:cNvSpPr txBox="1"/>
          <p:nvPr/>
        </p:nvSpPr>
        <p:spPr>
          <a:xfrm>
            <a:off x="8691677" y="3090672"/>
            <a:ext cx="1365961" cy="512064"/>
          </a:xfrm>
          <a:prstGeom prst="rect">
            <a:avLst/>
          </a:prstGeom>
          <a:noFill/>
          <a:ln/>
        </p:spPr>
        <p:txBody>
          <a:bodyPr wrap="square" lIns="0" tIns="0" rIns="0" bIns="0" rtlCol="0" anchor="ctr"/>
          <a:lstStyle/>
          <a:p>
            <a:pPr algn="ctr" indent="0" marL="0">
              <a:buNone/>
            </a:pPr>
            <a:r>
              <a:rPr lang="en-US" sz="950" dirty="0">
                <a:solidFill>
                  <a:srgbClr val="1F2A28"/>
                </a:solidFill>
                <a:latin typeface="Calibri" pitchFamily="34" charset="0"/>
                <a:ea typeface="Calibri" pitchFamily="34" charset="-122"/>
                <a:cs typeface="Calibri" pitchFamily="34" charset="-120"/>
              </a:rPr>
              <a:t>out_for_delivery</a:t>
            </a:r>
            <a:endParaRPr lang="en-US" sz="950" dirty="0"/>
          </a:p>
        </p:txBody>
      </p:sp>
      <p:sp>
        <p:nvSpPr>
          <p:cNvPr id="28" name="Shape 26"/>
          <p:cNvSpPr/>
          <p:nvPr/>
        </p:nvSpPr>
        <p:spPr>
          <a:xfrm>
            <a:off x="10167366" y="3090672"/>
            <a:ext cx="1365961" cy="512064"/>
          </a:xfrm>
          <a:prstGeom prst="roundRect">
            <a:avLst>
              <a:gd name="adj" fmla="val 10714"/>
            </a:avLst>
          </a:prstGeom>
          <a:solidFill>
            <a:srgbClr val="FFFFFF"/>
          </a:solidFill>
          <a:ln w="12700">
            <a:solidFill>
              <a:srgbClr val="B98A04"/>
            </a:solidFill>
            <a:prstDash val="solid"/>
          </a:ln>
        </p:spPr>
      </p:sp>
      <p:sp>
        <p:nvSpPr>
          <p:cNvPr id="29" name="Text 27"/>
          <p:cNvSpPr txBox="1"/>
          <p:nvPr/>
        </p:nvSpPr>
        <p:spPr>
          <a:xfrm>
            <a:off x="10167366" y="3090672"/>
            <a:ext cx="1365961" cy="512064"/>
          </a:xfrm>
          <a:prstGeom prst="rect">
            <a:avLst/>
          </a:prstGeom>
          <a:noFill/>
          <a:ln/>
        </p:spPr>
        <p:txBody>
          <a:bodyPr wrap="square" lIns="0" tIns="0" rIns="0" bIns="0" rtlCol="0" anchor="ctr"/>
          <a:lstStyle/>
          <a:p>
            <a:pPr algn="ctr" indent="0" marL="0">
              <a:buNone/>
            </a:pPr>
            <a:r>
              <a:rPr lang="en-US" sz="950" dirty="0">
                <a:solidFill>
                  <a:srgbClr val="1F2A28"/>
                </a:solidFill>
                <a:latin typeface="Calibri" pitchFamily="34" charset="0"/>
                <a:ea typeface="Calibri" pitchFamily="34" charset="-122"/>
                <a:cs typeface="Calibri" pitchFamily="34" charset="-120"/>
              </a:rPr>
              <a:t>delivered</a:t>
            </a:r>
            <a:endParaRPr lang="en-US" sz="950" dirty="0"/>
          </a:p>
        </p:txBody>
      </p:sp>
      <p:sp>
        <p:nvSpPr>
          <p:cNvPr id="30" name="Text 28"/>
          <p:cNvSpPr txBox="1"/>
          <p:nvPr/>
        </p:nvSpPr>
        <p:spPr>
          <a:xfrm>
            <a:off x="548640" y="4151376"/>
            <a:ext cx="2148840" cy="777240"/>
          </a:xfrm>
          <a:prstGeom prst="rect">
            <a:avLst/>
          </a:prstGeom>
          <a:noFill/>
          <a:ln/>
        </p:spPr>
        <p:txBody>
          <a:bodyPr wrap="square" lIns="0" tIns="0" rIns="0" bIns="0" rtlCol="0" anchor="ctr"/>
          <a:lstStyle/>
          <a:p>
            <a:pPr indent="0" marL="0">
              <a:buNone/>
            </a:pPr>
            <a:r>
              <a:rPr lang="en-US" sz="1300" b="1" dirty="0">
                <a:solidFill>
                  <a:srgbClr val="0B2B26"/>
                </a:solidFill>
                <a:latin typeface="Calibri" pitchFamily="34" charset="0"/>
                <a:ea typeface="Calibri" pitchFamily="34" charset="-122"/>
                <a:cs typeface="Calibri" pitchFamily="34" charset="-120"/>
              </a:rPr>
              <a:t>order_status</a:t>
            </a:r>
            <a:endParaRPr lang="en-US" sz="1300" dirty="0"/>
          </a:p>
        </p:txBody>
      </p:sp>
      <p:sp>
        <p:nvSpPr>
          <p:cNvPr id="31" name="Shape 29"/>
          <p:cNvSpPr/>
          <p:nvPr/>
        </p:nvSpPr>
        <p:spPr>
          <a:xfrm>
            <a:off x="2788920" y="4297680"/>
            <a:ext cx="1661099" cy="512064"/>
          </a:xfrm>
          <a:prstGeom prst="roundRect">
            <a:avLst>
              <a:gd name="adj" fmla="val 10714"/>
            </a:avLst>
          </a:prstGeom>
          <a:solidFill>
            <a:srgbClr val="F1F6F4"/>
          </a:solidFill>
          <a:ln w="12700">
            <a:solidFill>
              <a:srgbClr val="0B2B26"/>
            </a:solidFill>
            <a:prstDash val="solid"/>
          </a:ln>
        </p:spPr>
      </p:sp>
      <p:sp>
        <p:nvSpPr>
          <p:cNvPr id="32" name="Text 30"/>
          <p:cNvSpPr txBox="1"/>
          <p:nvPr/>
        </p:nvSpPr>
        <p:spPr>
          <a:xfrm>
            <a:off x="2788920" y="4297680"/>
            <a:ext cx="1661099" cy="512064"/>
          </a:xfrm>
          <a:prstGeom prst="rect">
            <a:avLst/>
          </a:prstGeom>
          <a:noFill/>
          <a:ln/>
        </p:spPr>
        <p:txBody>
          <a:bodyPr wrap="square" lIns="0" tIns="0" rIns="0" bIns="0" rtlCol="0" anchor="ctr"/>
          <a:lstStyle/>
          <a:p>
            <a:pPr algn="ctr" indent="0" marL="0">
              <a:buNone/>
            </a:pPr>
            <a:r>
              <a:rPr lang="en-US" sz="950" dirty="0">
                <a:solidFill>
                  <a:srgbClr val="1F2A28"/>
                </a:solidFill>
                <a:latin typeface="Calibri" pitchFamily="34" charset="0"/>
                <a:ea typeface="Calibri" pitchFamily="34" charset="-122"/>
                <a:cs typeface="Calibri" pitchFamily="34" charset="-120"/>
              </a:rPr>
              <a:t>draft</a:t>
            </a:r>
            <a:endParaRPr lang="en-US" sz="950" dirty="0"/>
          </a:p>
        </p:txBody>
      </p:sp>
      <p:sp>
        <p:nvSpPr>
          <p:cNvPr id="33" name="Shape 31"/>
          <p:cNvSpPr/>
          <p:nvPr/>
        </p:nvSpPr>
        <p:spPr>
          <a:xfrm>
            <a:off x="4559747" y="4297680"/>
            <a:ext cx="1661099" cy="512064"/>
          </a:xfrm>
          <a:prstGeom prst="roundRect">
            <a:avLst>
              <a:gd name="adj" fmla="val 10714"/>
            </a:avLst>
          </a:prstGeom>
          <a:solidFill>
            <a:srgbClr val="FFFFFF"/>
          </a:solidFill>
          <a:ln w="12700">
            <a:solidFill>
              <a:srgbClr val="0B2B26"/>
            </a:solidFill>
            <a:prstDash val="solid"/>
          </a:ln>
        </p:spPr>
      </p:sp>
      <p:sp>
        <p:nvSpPr>
          <p:cNvPr id="34" name="Text 32"/>
          <p:cNvSpPr txBox="1"/>
          <p:nvPr/>
        </p:nvSpPr>
        <p:spPr>
          <a:xfrm>
            <a:off x="4559747" y="4297680"/>
            <a:ext cx="1661099" cy="512064"/>
          </a:xfrm>
          <a:prstGeom prst="rect">
            <a:avLst/>
          </a:prstGeom>
          <a:noFill/>
          <a:ln/>
        </p:spPr>
        <p:txBody>
          <a:bodyPr wrap="square" lIns="0" tIns="0" rIns="0" bIns="0" rtlCol="0" anchor="ctr"/>
          <a:lstStyle/>
          <a:p>
            <a:pPr algn="ctr" indent="0" marL="0">
              <a:buNone/>
            </a:pPr>
            <a:r>
              <a:rPr lang="en-US" sz="950" dirty="0">
                <a:solidFill>
                  <a:srgbClr val="1F2A28"/>
                </a:solidFill>
                <a:latin typeface="Calibri" pitchFamily="34" charset="0"/>
                <a:ea typeface="Calibri" pitchFamily="34" charset="-122"/>
                <a:cs typeface="Calibri" pitchFamily="34" charset="-120"/>
              </a:rPr>
              <a:t>placed</a:t>
            </a:r>
            <a:endParaRPr lang="en-US" sz="950" dirty="0"/>
          </a:p>
        </p:txBody>
      </p:sp>
      <p:sp>
        <p:nvSpPr>
          <p:cNvPr id="35" name="Shape 33"/>
          <p:cNvSpPr/>
          <p:nvPr/>
        </p:nvSpPr>
        <p:spPr>
          <a:xfrm>
            <a:off x="6330574" y="4297680"/>
            <a:ext cx="1661099" cy="512064"/>
          </a:xfrm>
          <a:prstGeom prst="roundRect">
            <a:avLst>
              <a:gd name="adj" fmla="val 10714"/>
            </a:avLst>
          </a:prstGeom>
          <a:solidFill>
            <a:srgbClr val="FFFFFF"/>
          </a:solidFill>
          <a:ln w="12700">
            <a:solidFill>
              <a:srgbClr val="0B2B26"/>
            </a:solidFill>
            <a:prstDash val="solid"/>
          </a:ln>
        </p:spPr>
      </p:sp>
      <p:sp>
        <p:nvSpPr>
          <p:cNvPr id="36" name="Text 34"/>
          <p:cNvSpPr txBox="1"/>
          <p:nvPr/>
        </p:nvSpPr>
        <p:spPr>
          <a:xfrm>
            <a:off x="6330574" y="4297680"/>
            <a:ext cx="1661099" cy="512064"/>
          </a:xfrm>
          <a:prstGeom prst="rect">
            <a:avLst/>
          </a:prstGeom>
          <a:noFill/>
          <a:ln/>
        </p:spPr>
        <p:txBody>
          <a:bodyPr wrap="square" lIns="0" tIns="0" rIns="0" bIns="0" rtlCol="0" anchor="ctr"/>
          <a:lstStyle/>
          <a:p>
            <a:pPr algn="ctr" indent="0" marL="0">
              <a:buNone/>
            </a:pPr>
            <a:r>
              <a:rPr lang="en-US" sz="950" dirty="0">
                <a:solidFill>
                  <a:srgbClr val="1F2A28"/>
                </a:solidFill>
                <a:latin typeface="Calibri" pitchFamily="34" charset="0"/>
                <a:ea typeface="Calibri" pitchFamily="34" charset="-122"/>
                <a:cs typeface="Calibri" pitchFamily="34" charset="-120"/>
              </a:rPr>
              <a:t>confirmed</a:t>
            </a:r>
            <a:endParaRPr lang="en-US" sz="950" dirty="0"/>
          </a:p>
        </p:txBody>
      </p:sp>
      <p:sp>
        <p:nvSpPr>
          <p:cNvPr id="37" name="Shape 35"/>
          <p:cNvSpPr/>
          <p:nvPr/>
        </p:nvSpPr>
        <p:spPr>
          <a:xfrm>
            <a:off x="8101401" y="4297680"/>
            <a:ext cx="1661099" cy="512064"/>
          </a:xfrm>
          <a:prstGeom prst="roundRect">
            <a:avLst>
              <a:gd name="adj" fmla="val 10714"/>
            </a:avLst>
          </a:prstGeom>
          <a:solidFill>
            <a:srgbClr val="FFFFFF"/>
          </a:solidFill>
          <a:ln w="12700">
            <a:solidFill>
              <a:srgbClr val="0B2B26"/>
            </a:solidFill>
            <a:prstDash val="solid"/>
          </a:ln>
        </p:spPr>
      </p:sp>
      <p:sp>
        <p:nvSpPr>
          <p:cNvPr id="38" name="Text 36"/>
          <p:cNvSpPr txBox="1"/>
          <p:nvPr/>
        </p:nvSpPr>
        <p:spPr>
          <a:xfrm>
            <a:off x="8101401" y="4297680"/>
            <a:ext cx="1661099" cy="512064"/>
          </a:xfrm>
          <a:prstGeom prst="rect">
            <a:avLst/>
          </a:prstGeom>
          <a:noFill/>
          <a:ln/>
        </p:spPr>
        <p:txBody>
          <a:bodyPr wrap="square" lIns="0" tIns="0" rIns="0" bIns="0" rtlCol="0" anchor="ctr"/>
          <a:lstStyle/>
          <a:p>
            <a:pPr algn="ctr" indent="0" marL="0">
              <a:buNone/>
            </a:pPr>
            <a:r>
              <a:rPr lang="en-US" sz="950" dirty="0">
                <a:solidFill>
                  <a:srgbClr val="1F2A28"/>
                </a:solidFill>
                <a:latin typeface="Calibri" pitchFamily="34" charset="0"/>
                <a:ea typeface="Calibri" pitchFamily="34" charset="-122"/>
                <a:cs typeface="Calibri" pitchFamily="34" charset="-120"/>
              </a:rPr>
              <a:t>completed</a:t>
            </a:r>
            <a:endParaRPr lang="en-US" sz="950" dirty="0"/>
          </a:p>
        </p:txBody>
      </p:sp>
      <p:sp>
        <p:nvSpPr>
          <p:cNvPr id="39" name="Shape 37"/>
          <p:cNvSpPr/>
          <p:nvPr/>
        </p:nvSpPr>
        <p:spPr>
          <a:xfrm>
            <a:off x="9872228" y="4297680"/>
            <a:ext cx="1661099" cy="512064"/>
          </a:xfrm>
          <a:prstGeom prst="roundRect">
            <a:avLst>
              <a:gd name="adj" fmla="val 10714"/>
            </a:avLst>
          </a:prstGeom>
          <a:solidFill>
            <a:srgbClr val="FFFFFF"/>
          </a:solidFill>
          <a:ln w="12700">
            <a:solidFill>
              <a:srgbClr val="0B2B26"/>
            </a:solidFill>
            <a:prstDash val="solid"/>
          </a:ln>
        </p:spPr>
      </p:sp>
      <p:sp>
        <p:nvSpPr>
          <p:cNvPr id="40" name="Text 38"/>
          <p:cNvSpPr txBox="1"/>
          <p:nvPr/>
        </p:nvSpPr>
        <p:spPr>
          <a:xfrm>
            <a:off x="9872228" y="4297680"/>
            <a:ext cx="1661099" cy="512064"/>
          </a:xfrm>
          <a:prstGeom prst="rect">
            <a:avLst/>
          </a:prstGeom>
          <a:noFill/>
          <a:ln/>
        </p:spPr>
        <p:txBody>
          <a:bodyPr wrap="square" lIns="0" tIns="0" rIns="0" bIns="0" rtlCol="0" anchor="ctr"/>
          <a:lstStyle/>
          <a:p>
            <a:pPr algn="ctr" indent="0" marL="0">
              <a:buNone/>
            </a:pPr>
            <a:r>
              <a:rPr lang="en-US" sz="950" dirty="0">
                <a:solidFill>
                  <a:srgbClr val="1F2A28"/>
                </a:solidFill>
                <a:latin typeface="Calibri" pitchFamily="34" charset="0"/>
                <a:ea typeface="Calibri" pitchFamily="34" charset="-122"/>
                <a:cs typeface="Calibri" pitchFamily="34" charset="-120"/>
              </a:rPr>
              <a:t>cancelled</a:t>
            </a:r>
            <a:endParaRPr lang="en-US" sz="950" dirty="0"/>
          </a:p>
        </p:txBody>
      </p:sp>
      <p:sp>
        <p:nvSpPr>
          <p:cNvPr id="41" name="Shape 39"/>
          <p:cNvSpPr/>
          <p:nvPr/>
        </p:nvSpPr>
        <p:spPr>
          <a:xfrm>
            <a:off x="548640" y="5285232"/>
            <a:ext cx="11094415" cy="841248"/>
          </a:xfrm>
          <a:prstGeom prst="roundRect">
            <a:avLst>
              <a:gd name="adj" fmla="val 10870"/>
            </a:avLst>
          </a:prstGeom>
          <a:solidFill>
            <a:srgbClr val="0B2B26"/>
          </a:solidFill>
          <a:ln/>
        </p:spPr>
      </p:sp>
      <p:sp>
        <p:nvSpPr>
          <p:cNvPr id="42" name="Text 40"/>
          <p:cNvSpPr txBox="1"/>
          <p:nvPr/>
        </p:nvSpPr>
        <p:spPr>
          <a:xfrm>
            <a:off x="868680" y="5285232"/>
            <a:ext cx="10454335" cy="841248"/>
          </a:xfrm>
          <a:prstGeom prst="rect">
            <a:avLst/>
          </a:prstGeom>
          <a:noFill/>
          <a:ln/>
        </p:spPr>
        <p:txBody>
          <a:bodyPr wrap="square" lIns="0" tIns="0" rIns="0" bIns="0" rtlCol="0" anchor="ctr"/>
          <a:lstStyle/>
          <a:p>
            <a:pPr indent="0" marL="0">
              <a:lnSpc>
                <a:spcPts val="1800"/>
              </a:lnSpc>
              <a:buNone/>
            </a:pPr>
            <a:r>
              <a:rPr lang="en-US" sz="1250" b="1" dirty="0">
                <a:solidFill>
                  <a:srgbClr val="F2B705"/>
                </a:solidFill>
                <a:latin typeface="Calibri" pitchFamily="34" charset="0"/>
                <a:ea typeface="Calibri" pitchFamily="34" charset="-122"/>
                <a:cs typeface="Calibri" pitchFamily="34" charset="-120"/>
              </a:rPr>
              <a:t>A cash-on-delivery order ships unpaid.  </a:t>
            </a:r>
            <a:pPr indent="0" marL="0">
              <a:lnSpc>
                <a:spcPts val="1800"/>
              </a:lnSpc>
              <a:buNone/>
            </a:pPr>
            <a:r>
              <a:rPr lang="en-US" sz="1250" dirty="0">
                <a:solidFill>
                  <a:srgbClr val="9DB8B1"/>
                </a:solidFill>
                <a:latin typeface="Calibri" pitchFamily="34" charset="0"/>
                <a:ea typeface="Calibri" pitchFamily="34" charset="-122"/>
                <a:cs typeface="Calibri" pitchFamily="34" charset="-120"/>
              </a:rPr>
              <a:t>That is exactly why these cannot be one enum. Version 1 defined two contradictory status lists in two different sections; v2 replaces both with three independent fields, and the label the customer sees is computed from them — never stored as a fourth source of truth.</a:t>
            </a:r>
            <a:endParaRPr lang="en-US" sz="1250" dirty="0"/>
          </a:p>
        </p:txBody>
      </p:sp>
      <p:sp>
        <p:nvSpPr>
          <p:cNvPr id="44" name="Text 41"/>
          <p:cNvSpPr txBox="1"/>
          <p:nvPr/>
        </p:nvSpPr>
        <p:spPr>
          <a:xfrm>
            <a:off x="11094415" y="6199632"/>
            <a:ext cx="548640" cy="274320"/>
          </a:xfrm>
          <a:prstGeom prst="rect">
            <a:avLst/>
          </a:prstGeom>
          <a:noFill/>
          <a:ln/>
        </p:spPr>
        <p:txBody>
          <a:bodyPr wrap="square" lIns="0" tIns="0" rIns="0" bIns="0" rtlCol="0" anchor="ctr"/>
          <a:lstStyle/>
          <a:p>
            <a:pPr algn="r" indent="0" marL="0">
              <a:buNone/>
            </a:pPr>
            <a:r>
              <a:rPr lang="en-US" sz="1000" dirty="0">
                <a:solidFill>
                  <a:srgbClr val="9DB8B1"/>
                </a:solidFill>
                <a:latin typeface="Calibri" pitchFamily="34" charset="0"/>
                <a:ea typeface="Calibri" pitchFamily="34" charset="-122"/>
                <a:cs typeface="Calibri" pitchFamily="34" charset="-120"/>
              </a:rPr>
              <a:t>11</a:t>
            </a:r>
            <a:endParaRPr lang="en-US" sz="1000" dirty="0"/>
          </a:p>
        </p:txBody>
      </p:sp>
      <p:sp>
        <p:nvSpPr>
          <p:cNvPr id="45" name="Text 42"/>
          <p:cNvSpPr txBox="1"/>
          <p:nvPr/>
        </p:nvSpPr>
        <p:spPr>
          <a:xfrm>
            <a:off x="548640" y="6199632"/>
            <a:ext cx="4572000" cy="274320"/>
          </a:xfrm>
          <a:prstGeom prst="rect">
            <a:avLst/>
          </a:prstGeom>
          <a:noFill/>
          <a:ln/>
        </p:spPr>
        <p:txBody>
          <a:bodyPr wrap="square" lIns="0" tIns="0" rIns="0" bIns="0" rtlCol="0" anchor="ctr"/>
          <a:lstStyle/>
          <a:p>
            <a:pPr algn="l" indent="0" marL="0">
              <a:buNone/>
            </a:pPr>
            <a:r>
              <a:rPr lang="en-US" sz="900" dirty="0">
                <a:solidFill>
                  <a:srgbClr val="9DB8B1"/>
                </a:solidFill>
                <a:latin typeface="Calibri" pitchFamily="34" charset="0"/>
                <a:ea typeface="Calibri" pitchFamily="34" charset="-122"/>
                <a:cs typeface="Calibri" pitchFamily="34" charset="-120"/>
              </a:rPr>
              <a:t>WhatsApp Commerce Platform  ·  Implementation Plan v2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56032"/>
          </a:xfrm>
          <a:prstGeom prst="rect">
            <a:avLst/>
          </a:prstGeom>
          <a:noFill/>
          <a:ln/>
        </p:spPr>
        <p:txBody>
          <a:bodyPr wrap="square" lIns="0" tIns="0" rIns="0" bIns="0" rtlCol="0" anchor="ctr"/>
          <a:lstStyle/>
          <a:p>
            <a:pPr algn="l" indent="0" marL="0">
              <a:buNone/>
            </a:pPr>
            <a:r>
              <a:rPr lang="en-US" sz="1100" b="1" spc="200" kern="0" dirty="0">
                <a:solidFill>
                  <a:srgbClr val="0E6B5C"/>
                </a:solidFill>
                <a:latin typeface="Calibri" pitchFamily="34" charset="0"/>
                <a:ea typeface="Calibri" pitchFamily="34" charset="-122"/>
                <a:cs typeface="Calibri" pitchFamily="34" charset="-120"/>
              </a:rPr>
              <a:t>DATA DESIGN</a:t>
            </a:r>
            <a:endParaRPr lang="en-US" sz="1100" dirty="0"/>
          </a:p>
        </p:txBody>
      </p:sp>
      <p:sp>
        <p:nvSpPr>
          <p:cNvPr id="3" name="Text 1"/>
          <p:cNvSpPr txBox="1"/>
          <p:nvPr/>
        </p:nvSpPr>
        <p:spPr>
          <a:xfrm>
            <a:off x="548640" y="640080"/>
            <a:ext cx="11094415" cy="731520"/>
          </a:xfrm>
          <a:prstGeom prst="rect">
            <a:avLst/>
          </a:prstGeom>
          <a:noFill/>
          <a:ln/>
        </p:spPr>
        <p:txBody>
          <a:bodyPr wrap="square" lIns="0" tIns="0" rIns="0" bIns="0" rtlCol="0" anchor="ctr"/>
          <a:lstStyle/>
          <a:p>
            <a:pPr algn="l" indent="0" marL="0">
              <a:buNone/>
            </a:pPr>
            <a:r>
              <a:rPr lang="en-US" sz="3300" b="1" dirty="0">
                <a:solidFill>
                  <a:srgbClr val="1F2A28"/>
                </a:solidFill>
                <a:latin typeface="Cambria" pitchFamily="34" charset="0"/>
                <a:ea typeface="Cambria" pitchFamily="34" charset="-122"/>
                <a:cs typeface="Cambria" pitchFamily="34" charset="-120"/>
              </a:rPr>
              <a:t>Twenty-six tables, six domains</a:t>
            </a:r>
            <a:endParaRPr lang="en-US" sz="3300" dirty="0"/>
          </a:p>
        </p:txBody>
      </p:sp>
      <p:sp>
        <p:nvSpPr>
          <p:cNvPr id="4" name="Shape 2"/>
          <p:cNvSpPr/>
          <p:nvPr/>
        </p:nvSpPr>
        <p:spPr>
          <a:xfrm>
            <a:off x="548640" y="1691640"/>
            <a:ext cx="3515258" cy="1463040"/>
          </a:xfrm>
          <a:prstGeom prst="roundRect">
            <a:avLst>
              <a:gd name="adj" fmla="val 6250"/>
            </a:avLst>
          </a:prstGeom>
          <a:solidFill>
            <a:srgbClr val="FFFFFF"/>
          </a:solidFill>
          <a:ln w="15875">
            <a:solidFill>
              <a:srgbClr val="E4EDEA"/>
            </a:solidFill>
            <a:prstDash val="solid"/>
          </a:ln>
        </p:spPr>
      </p:sp>
      <p:sp>
        <p:nvSpPr>
          <p:cNvPr id="5" name="Text 3"/>
          <p:cNvSpPr txBox="1"/>
          <p:nvPr/>
        </p:nvSpPr>
        <p:spPr>
          <a:xfrm>
            <a:off x="804672" y="1892808"/>
            <a:ext cx="685800" cy="502920"/>
          </a:xfrm>
          <a:prstGeom prst="rect">
            <a:avLst/>
          </a:prstGeom>
          <a:noFill/>
          <a:ln/>
        </p:spPr>
        <p:txBody>
          <a:bodyPr wrap="square" lIns="0" tIns="0" rIns="0" bIns="0" rtlCol="0" anchor="ctr"/>
          <a:lstStyle/>
          <a:p>
            <a:pPr indent="0" marL="0">
              <a:buNone/>
            </a:pPr>
            <a:r>
              <a:rPr lang="en-US" sz="3000" b="1" dirty="0">
                <a:solidFill>
                  <a:srgbClr val="17A38C"/>
                </a:solidFill>
                <a:latin typeface="Cambria" pitchFamily="34" charset="0"/>
                <a:ea typeface="Cambria" pitchFamily="34" charset="-122"/>
                <a:cs typeface="Cambria" pitchFamily="34" charset="-120"/>
              </a:rPr>
              <a:t>4</a:t>
            </a:r>
            <a:endParaRPr lang="en-US" sz="3000" dirty="0"/>
          </a:p>
        </p:txBody>
      </p:sp>
      <p:sp>
        <p:nvSpPr>
          <p:cNvPr id="6" name="Text 4"/>
          <p:cNvSpPr txBox="1"/>
          <p:nvPr/>
        </p:nvSpPr>
        <p:spPr>
          <a:xfrm>
            <a:off x="1481328" y="1929384"/>
            <a:ext cx="2326538" cy="438912"/>
          </a:xfrm>
          <a:prstGeom prst="rect">
            <a:avLst/>
          </a:prstGeom>
          <a:noFill/>
          <a:ln/>
        </p:spPr>
        <p:txBody>
          <a:bodyPr wrap="square" lIns="0" tIns="0" rIns="0" bIns="0" rtlCol="0" anchor="ctr"/>
          <a:lstStyle/>
          <a:p>
            <a:pPr indent="0" marL="0">
              <a:buNone/>
            </a:pPr>
            <a:r>
              <a:rPr lang="en-US" sz="1350" b="1" dirty="0">
                <a:solidFill>
                  <a:srgbClr val="1F2A28"/>
                </a:solidFill>
                <a:latin typeface="Calibri" pitchFamily="34" charset="0"/>
                <a:ea typeface="Calibri" pitchFamily="34" charset="-122"/>
                <a:cs typeface="Calibri" pitchFamily="34" charset="-120"/>
              </a:rPr>
              <a:t>Catalogue &amp; stock</a:t>
            </a:r>
            <a:endParaRPr lang="en-US" sz="1350" dirty="0"/>
          </a:p>
        </p:txBody>
      </p:sp>
      <p:sp>
        <p:nvSpPr>
          <p:cNvPr id="7" name="Text 5"/>
          <p:cNvSpPr txBox="1"/>
          <p:nvPr/>
        </p:nvSpPr>
        <p:spPr>
          <a:xfrm>
            <a:off x="804672" y="2459736"/>
            <a:ext cx="3003194" cy="566928"/>
          </a:xfrm>
          <a:prstGeom prst="rect">
            <a:avLst/>
          </a:prstGeom>
          <a:noFill/>
          <a:ln/>
        </p:spPr>
        <p:txBody>
          <a:bodyPr wrap="square" lIns="0" tIns="0" rIns="0" bIns="0" rtlCol="0" anchor="t"/>
          <a:lstStyle/>
          <a:p>
            <a:pPr indent="0" marL="0">
              <a:lnSpc>
                <a:spcPts val="1350"/>
              </a:lnSpc>
              <a:buNone/>
            </a:pPr>
            <a:r>
              <a:rPr lang="en-US" sz="1000" dirty="0">
                <a:solidFill>
                  <a:srgbClr val="6B8F87"/>
                </a:solidFill>
                <a:latin typeface="Calibri" pitchFamily="34" charset="0"/>
                <a:ea typeface="Calibri" pitchFamily="34" charset="-122"/>
                <a:cs typeface="Calibri" pitchFamily="34" charset="-120"/>
              </a:rPr>
              <a:t>products · variants · inventory · reservations</a:t>
            </a:r>
            <a:endParaRPr lang="en-US" sz="1000" dirty="0"/>
          </a:p>
        </p:txBody>
      </p:sp>
      <p:sp>
        <p:nvSpPr>
          <p:cNvPr id="8" name="Shape 6"/>
          <p:cNvSpPr/>
          <p:nvPr/>
        </p:nvSpPr>
        <p:spPr>
          <a:xfrm>
            <a:off x="4338218" y="1691640"/>
            <a:ext cx="3515258" cy="1463040"/>
          </a:xfrm>
          <a:prstGeom prst="roundRect">
            <a:avLst>
              <a:gd name="adj" fmla="val 6250"/>
            </a:avLst>
          </a:prstGeom>
          <a:solidFill>
            <a:srgbClr val="FFFFFF"/>
          </a:solidFill>
          <a:ln w="15875">
            <a:solidFill>
              <a:srgbClr val="E4EDEA"/>
            </a:solidFill>
            <a:prstDash val="solid"/>
          </a:ln>
        </p:spPr>
      </p:sp>
      <p:sp>
        <p:nvSpPr>
          <p:cNvPr id="9" name="Text 7"/>
          <p:cNvSpPr txBox="1"/>
          <p:nvPr/>
        </p:nvSpPr>
        <p:spPr>
          <a:xfrm>
            <a:off x="4594250" y="1892808"/>
            <a:ext cx="685800" cy="502920"/>
          </a:xfrm>
          <a:prstGeom prst="rect">
            <a:avLst/>
          </a:prstGeom>
          <a:noFill/>
          <a:ln/>
        </p:spPr>
        <p:txBody>
          <a:bodyPr wrap="square" lIns="0" tIns="0" rIns="0" bIns="0" rtlCol="0" anchor="ctr"/>
          <a:lstStyle/>
          <a:p>
            <a:pPr indent="0" marL="0">
              <a:buNone/>
            </a:pPr>
            <a:r>
              <a:rPr lang="en-US" sz="3000" b="1" dirty="0">
                <a:solidFill>
                  <a:srgbClr val="17A38C"/>
                </a:solidFill>
                <a:latin typeface="Cambria" pitchFamily="34" charset="0"/>
                <a:ea typeface="Cambria" pitchFamily="34" charset="-122"/>
                <a:cs typeface="Cambria" pitchFamily="34" charset="-120"/>
              </a:rPr>
              <a:t>3</a:t>
            </a:r>
            <a:endParaRPr lang="en-US" sz="3000" dirty="0"/>
          </a:p>
        </p:txBody>
      </p:sp>
      <p:sp>
        <p:nvSpPr>
          <p:cNvPr id="10" name="Text 8"/>
          <p:cNvSpPr txBox="1"/>
          <p:nvPr/>
        </p:nvSpPr>
        <p:spPr>
          <a:xfrm>
            <a:off x="5270906" y="1929384"/>
            <a:ext cx="2326538" cy="438912"/>
          </a:xfrm>
          <a:prstGeom prst="rect">
            <a:avLst/>
          </a:prstGeom>
          <a:noFill/>
          <a:ln/>
        </p:spPr>
        <p:txBody>
          <a:bodyPr wrap="square" lIns="0" tIns="0" rIns="0" bIns="0" rtlCol="0" anchor="ctr"/>
          <a:lstStyle/>
          <a:p>
            <a:pPr indent="0" marL="0">
              <a:buNone/>
            </a:pPr>
            <a:r>
              <a:rPr lang="en-US" sz="1350" b="1" dirty="0">
                <a:solidFill>
                  <a:srgbClr val="1F2A28"/>
                </a:solidFill>
                <a:latin typeface="Calibri" pitchFamily="34" charset="0"/>
                <a:ea typeface="Calibri" pitchFamily="34" charset="-122"/>
                <a:cs typeface="Calibri" pitchFamily="34" charset="-120"/>
              </a:rPr>
              <a:t>Customers</a:t>
            </a:r>
            <a:endParaRPr lang="en-US" sz="1350" dirty="0"/>
          </a:p>
        </p:txBody>
      </p:sp>
      <p:sp>
        <p:nvSpPr>
          <p:cNvPr id="11" name="Text 9"/>
          <p:cNvSpPr txBox="1"/>
          <p:nvPr/>
        </p:nvSpPr>
        <p:spPr>
          <a:xfrm>
            <a:off x="4594250" y="2459736"/>
            <a:ext cx="3003194" cy="566928"/>
          </a:xfrm>
          <a:prstGeom prst="rect">
            <a:avLst/>
          </a:prstGeom>
          <a:noFill/>
          <a:ln/>
        </p:spPr>
        <p:txBody>
          <a:bodyPr wrap="square" lIns="0" tIns="0" rIns="0" bIns="0" rtlCol="0" anchor="t"/>
          <a:lstStyle/>
          <a:p>
            <a:pPr indent="0" marL="0">
              <a:lnSpc>
                <a:spcPts val="1350"/>
              </a:lnSpc>
              <a:buNone/>
            </a:pPr>
            <a:r>
              <a:rPr lang="en-US" sz="1000" dirty="0">
                <a:solidFill>
                  <a:srgbClr val="6B8F87"/>
                </a:solidFill>
                <a:latin typeface="Calibri" pitchFamily="34" charset="0"/>
                <a:ea typeface="Calibri" pitchFamily="34" charset="-122"/>
                <a:cs typeface="Calibri" pitchFamily="34" charset="-120"/>
              </a:rPr>
              <a:t>customers · consents · addresses</a:t>
            </a:r>
            <a:endParaRPr lang="en-US" sz="1000" dirty="0"/>
          </a:p>
        </p:txBody>
      </p:sp>
      <p:sp>
        <p:nvSpPr>
          <p:cNvPr id="12" name="Shape 10"/>
          <p:cNvSpPr/>
          <p:nvPr/>
        </p:nvSpPr>
        <p:spPr>
          <a:xfrm>
            <a:off x="8127797" y="1691640"/>
            <a:ext cx="3515258" cy="1463040"/>
          </a:xfrm>
          <a:prstGeom prst="roundRect">
            <a:avLst>
              <a:gd name="adj" fmla="val 6250"/>
            </a:avLst>
          </a:prstGeom>
          <a:solidFill>
            <a:srgbClr val="FFFFFF"/>
          </a:solidFill>
          <a:ln w="15875">
            <a:solidFill>
              <a:srgbClr val="E4EDEA"/>
            </a:solidFill>
            <a:prstDash val="solid"/>
          </a:ln>
        </p:spPr>
      </p:sp>
      <p:sp>
        <p:nvSpPr>
          <p:cNvPr id="13" name="Text 11"/>
          <p:cNvSpPr txBox="1"/>
          <p:nvPr/>
        </p:nvSpPr>
        <p:spPr>
          <a:xfrm>
            <a:off x="8383829" y="1892808"/>
            <a:ext cx="685800" cy="502920"/>
          </a:xfrm>
          <a:prstGeom prst="rect">
            <a:avLst/>
          </a:prstGeom>
          <a:noFill/>
          <a:ln/>
        </p:spPr>
        <p:txBody>
          <a:bodyPr wrap="square" lIns="0" tIns="0" rIns="0" bIns="0" rtlCol="0" anchor="ctr"/>
          <a:lstStyle/>
          <a:p>
            <a:pPr indent="0" marL="0">
              <a:buNone/>
            </a:pPr>
            <a:r>
              <a:rPr lang="en-US" sz="3000" b="1" dirty="0">
                <a:solidFill>
                  <a:srgbClr val="17A38C"/>
                </a:solidFill>
                <a:latin typeface="Cambria" pitchFamily="34" charset="0"/>
                <a:ea typeface="Cambria" pitchFamily="34" charset="-122"/>
                <a:cs typeface="Cambria" pitchFamily="34" charset="-120"/>
              </a:rPr>
              <a:t>5</a:t>
            </a:r>
            <a:endParaRPr lang="en-US" sz="3000" dirty="0"/>
          </a:p>
        </p:txBody>
      </p:sp>
      <p:sp>
        <p:nvSpPr>
          <p:cNvPr id="14" name="Text 12"/>
          <p:cNvSpPr txBox="1"/>
          <p:nvPr/>
        </p:nvSpPr>
        <p:spPr>
          <a:xfrm>
            <a:off x="9060485" y="1929384"/>
            <a:ext cx="2326538" cy="438912"/>
          </a:xfrm>
          <a:prstGeom prst="rect">
            <a:avLst/>
          </a:prstGeom>
          <a:noFill/>
          <a:ln/>
        </p:spPr>
        <p:txBody>
          <a:bodyPr wrap="square" lIns="0" tIns="0" rIns="0" bIns="0" rtlCol="0" anchor="ctr"/>
          <a:lstStyle/>
          <a:p>
            <a:pPr indent="0" marL="0">
              <a:buNone/>
            </a:pPr>
            <a:r>
              <a:rPr lang="en-US" sz="1350" b="1" dirty="0">
                <a:solidFill>
                  <a:srgbClr val="1F2A28"/>
                </a:solidFill>
                <a:latin typeface="Calibri" pitchFamily="34" charset="0"/>
                <a:ea typeface="Calibri" pitchFamily="34" charset="-122"/>
                <a:cs typeface="Calibri" pitchFamily="34" charset="-120"/>
              </a:rPr>
              <a:t>Orders &amp; money</a:t>
            </a:r>
            <a:endParaRPr lang="en-US" sz="1350" dirty="0"/>
          </a:p>
        </p:txBody>
      </p:sp>
      <p:sp>
        <p:nvSpPr>
          <p:cNvPr id="15" name="Text 13"/>
          <p:cNvSpPr txBox="1"/>
          <p:nvPr/>
        </p:nvSpPr>
        <p:spPr>
          <a:xfrm>
            <a:off x="8383829" y="2459736"/>
            <a:ext cx="3003194" cy="566928"/>
          </a:xfrm>
          <a:prstGeom prst="rect">
            <a:avLst/>
          </a:prstGeom>
          <a:noFill/>
          <a:ln/>
        </p:spPr>
        <p:txBody>
          <a:bodyPr wrap="square" lIns="0" tIns="0" rIns="0" bIns="0" rtlCol="0" anchor="t"/>
          <a:lstStyle/>
          <a:p>
            <a:pPr indent="0" marL="0">
              <a:lnSpc>
                <a:spcPts val="1350"/>
              </a:lnSpc>
              <a:buNone/>
            </a:pPr>
            <a:r>
              <a:rPr lang="en-US" sz="1000" dirty="0">
                <a:solidFill>
                  <a:srgbClr val="6B8F87"/>
                </a:solidFill>
                <a:latin typeface="Calibri" pitchFamily="34" charset="0"/>
                <a:ea typeface="Calibri" pitchFamily="34" charset="-122"/>
                <a:cs typeface="Calibri" pitchFamily="34" charset="-120"/>
              </a:rPr>
              <a:t>carts · orders · order_items · payments · refunds</a:t>
            </a:r>
            <a:endParaRPr lang="en-US" sz="1000" dirty="0"/>
          </a:p>
        </p:txBody>
      </p:sp>
      <p:sp>
        <p:nvSpPr>
          <p:cNvPr id="16" name="Shape 14"/>
          <p:cNvSpPr/>
          <p:nvPr/>
        </p:nvSpPr>
        <p:spPr>
          <a:xfrm>
            <a:off x="548640" y="3410712"/>
            <a:ext cx="3515258" cy="1463040"/>
          </a:xfrm>
          <a:prstGeom prst="roundRect">
            <a:avLst>
              <a:gd name="adj" fmla="val 6250"/>
            </a:avLst>
          </a:prstGeom>
          <a:solidFill>
            <a:srgbClr val="FFFFFF"/>
          </a:solidFill>
          <a:ln w="15875">
            <a:solidFill>
              <a:srgbClr val="E4EDEA"/>
            </a:solidFill>
            <a:prstDash val="solid"/>
          </a:ln>
        </p:spPr>
      </p:sp>
      <p:sp>
        <p:nvSpPr>
          <p:cNvPr id="17" name="Text 15"/>
          <p:cNvSpPr txBox="1"/>
          <p:nvPr/>
        </p:nvSpPr>
        <p:spPr>
          <a:xfrm>
            <a:off x="804672" y="3611880"/>
            <a:ext cx="685800" cy="502920"/>
          </a:xfrm>
          <a:prstGeom prst="rect">
            <a:avLst/>
          </a:prstGeom>
          <a:noFill/>
          <a:ln/>
        </p:spPr>
        <p:txBody>
          <a:bodyPr wrap="square" lIns="0" tIns="0" rIns="0" bIns="0" rtlCol="0" anchor="ctr"/>
          <a:lstStyle/>
          <a:p>
            <a:pPr indent="0" marL="0">
              <a:buNone/>
            </a:pPr>
            <a:r>
              <a:rPr lang="en-US" sz="3000" b="1" dirty="0">
                <a:solidFill>
                  <a:srgbClr val="17A38C"/>
                </a:solidFill>
                <a:latin typeface="Cambria" pitchFamily="34" charset="0"/>
                <a:ea typeface="Cambria" pitchFamily="34" charset="-122"/>
                <a:cs typeface="Cambria" pitchFamily="34" charset="-120"/>
              </a:rPr>
              <a:t>6</a:t>
            </a:r>
            <a:endParaRPr lang="en-US" sz="3000" dirty="0"/>
          </a:p>
        </p:txBody>
      </p:sp>
      <p:sp>
        <p:nvSpPr>
          <p:cNvPr id="18" name="Text 16"/>
          <p:cNvSpPr txBox="1"/>
          <p:nvPr/>
        </p:nvSpPr>
        <p:spPr>
          <a:xfrm>
            <a:off x="1481328" y="3648456"/>
            <a:ext cx="2326538" cy="438912"/>
          </a:xfrm>
          <a:prstGeom prst="rect">
            <a:avLst/>
          </a:prstGeom>
          <a:noFill/>
          <a:ln/>
        </p:spPr>
        <p:txBody>
          <a:bodyPr wrap="square" lIns="0" tIns="0" rIns="0" bIns="0" rtlCol="0" anchor="ctr"/>
          <a:lstStyle/>
          <a:p>
            <a:pPr indent="0" marL="0">
              <a:buNone/>
            </a:pPr>
            <a:r>
              <a:rPr lang="en-US" sz="1350" b="1" dirty="0">
                <a:solidFill>
                  <a:srgbClr val="1F2A28"/>
                </a:solidFill>
                <a:latin typeface="Calibri" pitchFamily="34" charset="0"/>
                <a:ea typeface="Calibri" pitchFamily="34" charset="-122"/>
                <a:cs typeface="Calibri" pitchFamily="34" charset="-120"/>
              </a:rPr>
              <a:t>Fulfilment &amp; delivery</a:t>
            </a:r>
            <a:endParaRPr lang="en-US" sz="1350" dirty="0"/>
          </a:p>
        </p:txBody>
      </p:sp>
      <p:sp>
        <p:nvSpPr>
          <p:cNvPr id="19" name="Text 17"/>
          <p:cNvSpPr txBox="1"/>
          <p:nvPr/>
        </p:nvSpPr>
        <p:spPr>
          <a:xfrm>
            <a:off x="804672" y="4178808"/>
            <a:ext cx="3003194" cy="566928"/>
          </a:xfrm>
          <a:prstGeom prst="rect">
            <a:avLst/>
          </a:prstGeom>
          <a:noFill/>
          <a:ln/>
        </p:spPr>
        <p:txBody>
          <a:bodyPr wrap="square" lIns="0" tIns="0" rIns="0" bIns="0" rtlCol="0" anchor="t"/>
          <a:lstStyle/>
          <a:p>
            <a:pPr indent="0" marL="0">
              <a:lnSpc>
                <a:spcPts val="1350"/>
              </a:lnSpc>
              <a:buNone/>
            </a:pPr>
            <a:r>
              <a:rPr lang="en-US" sz="1000" dirty="0">
                <a:solidFill>
                  <a:srgbClr val="6B8F87"/>
                </a:solidFill>
                <a:latin typeface="Calibri" pitchFamily="34" charset="0"/>
                <a:ea typeface="Calibri" pitchFamily="34" charset="-122"/>
                <a:cs typeface="Calibri" pitchFamily="34" charset="-120"/>
              </a:rPr>
              <a:t>service_areas · shipments · shipment_events · rider_assignments · rider_pings · tracking_links</a:t>
            </a:r>
            <a:endParaRPr lang="en-US" sz="1000" dirty="0"/>
          </a:p>
        </p:txBody>
      </p:sp>
      <p:sp>
        <p:nvSpPr>
          <p:cNvPr id="20" name="Shape 18"/>
          <p:cNvSpPr/>
          <p:nvPr/>
        </p:nvSpPr>
        <p:spPr>
          <a:xfrm>
            <a:off x="4338218" y="3410712"/>
            <a:ext cx="3515258" cy="1463040"/>
          </a:xfrm>
          <a:prstGeom prst="roundRect">
            <a:avLst>
              <a:gd name="adj" fmla="val 6250"/>
            </a:avLst>
          </a:prstGeom>
          <a:solidFill>
            <a:srgbClr val="FFFFFF"/>
          </a:solidFill>
          <a:ln w="15875">
            <a:solidFill>
              <a:srgbClr val="E4EDEA"/>
            </a:solidFill>
            <a:prstDash val="solid"/>
          </a:ln>
        </p:spPr>
      </p:sp>
      <p:sp>
        <p:nvSpPr>
          <p:cNvPr id="21" name="Text 19"/>
          <p:cNvSpPr txBox="1"/>
          <p:nvPr/>
        </p:nvSpPr>
        <p:spPr>
          <a:xfrm>
            <a:off x="4594250" y="3611880"/>
            <a:ext cx="685800" cy="502920"/>
          </a:xfrm>
          <a:prstGeom prst="rect">
            <a:avLst/>
          </a:prstGeom>
          <a:noFill/>
          <a:ln/>
        </p:spPr>
        <p:txBody>
          <a:bodyPr wrap="square" lIns="0" tIns="0" rIns="0" bIns="0" rtlCol="0" anchor="ctr"/>
          <a:lstStyle/>
          <a:p>
            <a:pPr indent="0" marL="0">
              <a:buNone/>
            </a:pPr>
            <a:r>
              <a:rPr lang="en-US" sz="3000" b="1" dirty="0">
                <a:solidFill>
                  <a:srgbClr val="17A38C"/>
                </a:solidFill>
                <a:latin typeface="Cambria" pitchFamily="34" charset="0"/>
                <a:ea typeface="Cambria" pitchFamily="34" charset="-122"/>
                <a:cs typeface="Cambria" pitchFamily="34" charset="-120"/>
              </a:rPr>
              <a:t>3</a:t>
            </a:r>
            <a:endParaRPr lang="en-US" sz="3000" dirty="0"/>
          </a:p>
        </p:txBody>
      </p:sp>
      <p:sp>
        <p:nvSpPr>
          <p:cNvPr id="22" name="Text 20"/>
          <p:cNvSpPr txBox="1"/>
          <p:nvPr/>
        </p:nvSpPr>
        <p:spPr>
          <a:xfrm>
            <a:off x="5270906" y="3648456"/>
            <a:ext cx="2326538" cy="438912"/>
          </a:xfrm>
          <a:prstGeom prst="rect">
            <a:avLst/>
          </a:prstGeom>
          <a:noFill/>
          <a:ln/>
        </p:spPr>
        <p:txBody>
          <a:bodyPr wrap="square" lIns="0" tIns="0" rIns="0" bIns="0" rtlCol="0" anchor="ctr"/>
          <a:lstStyle/>
          <a:p>
            <a:pPr indent="0" marL="0">
              <a:buNone/>
            </a:pPr>
            <a:r>
              <a:rPr lang="en-US" sz="1350" b="1" dirty="0">
                <a:solidFill>
                  <a:srgbClr val="1F2A28"/>
                </a:solidFill>
                <a:latin typeface="Calibri" pitchFamily="34" charset="0"/>
                <a:ea typeface="Calibri" pitchFamily="34" charset="-122"/>
                <a:cs typeface="Calibri" pitchFamily="34" charset="-120"/>
              </a:rPr>
              <a:t>Conversation</a:t>
            </a:r>
            <a:endParaRPr lang="en-US" sz="1350" dirty="0"/>
          </a:p>
        </p:txBody>
      </p:sp>
      <p:sp>
        <p:nvSpPr>
          <p:cNvPr id="23" name="Text 21"/>
          <p:cNvSpPr txBox="1"/>
          <p:nvPr/>
        </p:nvSpPr>
        <p:spPr>
          <a:xfrm>
            <a:off x="4594250" y="4178808"/>
            <a:ext cx="3003194" cy="566928"/>
          </a:xfrm>
          <a:prstGeom prst="rect">
            <a:avLst/>
          </a:prstGeom>
          <a:noFill/>
          <a:ln/>
        </p:spPr>
        <p:txBody>
          <a:bodyPr wrap="square" lIns="0" tIns="0" rIns="0" bIns="0" rtlCol="0" anchor="t"/>
          <a:lstStyle/>
          <a:p>
            <a:pPr indent="0" marL="0">
              <a:lnSpc>
                <a:spcPts val="1350"/>
              </a:lnSpc>
              <a:buNone/>
            </a:pPr>
            <a:r>
              <a:rPr lang="en-US" sz="1000" dirty="0">
                <a:solidFill>
                  <a:srgbClr val="6B8F87"/>
                </a:solidFill>
                <a:latin typeface="Calibri" pitchFamily="34" charset="0"/>
                <a:ea typeface="Calibri" pitchFamily="34" charset="-122"/>
                <a:cs typeface="Calibri" pitchFamily="34" charset="-120"/>
              </a:rPr>
              <a:t>sessions · messages · message_templates</a:t>
            </a:r>
            <a:endParaRPr lang="en-US" sz="1000" dirty="0"/>
          </a:p>
        </p:txBody>
      </p:sp>
      <p:sp>
        <p:nvSpPr>
          <p:cNvPr id="24" name="Shape 22"/>
          <p:cNvSpPr/>
          <p:nvPr/>
        </p:nvSpPr>
        <p:spPr>
          <a:xfrm>
            <a:off x="8127797" y="3410712"/>
            <a:ext cx="3515258" cy="1463040"/>
          </a:xfrm>
          <a:prstGeom prst="roundRect">
            <a:avLst>
              <a:gd name="adj" fmla="val 6250"/>
            </a:avLst>
          </a:prstGeom>
          <a:solidFill>
            <a:srgbClr val="FFFFFF"/>
          </a:solidFill>
          <a:ln w="15875">
            <a:solidFill>
              <a:srgbClr val="E4EDEA"/>
            </a:solidFill>
            <a:prstDash val="solid"/>
          </a:ln>
        </p:spPr>
      </p:sp>
      <p:sp>
        <p:nvSpPr>
          <p:cNvPr id="25" name="Text 23"/>
          <p:cNvSpPr txBox="1"/>
          <p:nvPr/>
        </p:nvSpPr>
        <p:spPr>
          <a:xfrm>
            <a:off x="8383829" y="3611880"/>
            <a:ext cx="685800" cy="502920"/>
          </a:xfrm>
          <a:prstGeom prst="rect">
            <a:avLst/>
          </a:prstGeom>
          <a:noFill/>
          <a:ln/>
        </p:spPr>
        <p:txBody>
          <a:bodyPr wrap="square" lIns="0" tIns="0" rIns="0" bIns="0" rtlCol="0" anchor="ctr"/>
          <a:lstStyle/>
          <a:p>
            <a:pPr indent="0" marL="0">
              <a:buNone/>
            </a:pPr>
            <a:r>
              <a:rPr lang="en-US" sz="3000" b="1" dirty="0">
                <a:solidFill>
                  <a:srgbClr val="17A38C"/>
                </a:solidFill>
                <a:latin typeface="Cambria" pitchFamily="34" charset="0"/>
                <a:ea typeface="Cambria" pitchFamily="34" charset="-122"/>
                <a:cs typeface="Cambria" pitchFamily="34" charset="-120"/>
              </a:rPr>
              <a:t>5</a:t>
            </a:r>
            <a:endParaRPr lang="en-US" sz="3000" dirty="0"/>
          </a:p>
        </p:txBody>
      </p:sp>
      <p:sp>
        <p:nvSpPr>
          <p:cNvPr id="26" name="Text 24"/>
          <p:cNvSpPr txBox="1"/>
          <p:nvPr/>
        </p:nvSpPr>
        <p:spPr>
          <a:xfrm>
            <a:off x="9060485" y="3648456"/>
            <a:ext cx="2326538" cy="438912"/>
          </a:xfrm>
          <a:prstGeom prst="rect">
            <a:avLst/>
          </a:prstGeom>
          <a:noFill/>
          <a:ln/>
        </p:spPr>
        <p:txBody>
          <a:bodyPr wrap="square" lIns="0" tIns="0" rIns="0" bIns="0" rtlCol="0" anchor="ctr"/>
          <a:lstStyle/>
          <a:p>
            <a:pPr indent="0" marL="0">
              <a:buNone/>
            </a:pPr>
            <a:r>
              <a:rPr lang="en-US" sz="1350" b="1" dirty="0">
                <a:solidFill>
                  <a:srgbClr val="1F2A28"/>
                </a:solidFill>
                <a:latin typeface="Calibri" pitchFamily="34" charset="0"/>
                <a:ea typeface="Calibri" pitchFamily="34" charset="-122"/>
                <a:cs typeface="Calibri" pitchFamily="34" charset="-120"/>
              </a:rPr>
              <a:t>Platform &amp; audit</a:t>
            </a:r>
            <a:endParaRPr lang="en-US" sz="1350" dirty="0"/>
          </a:p>
        </p:txBody>
      </p:sp>
      <p:sp>
        <p:nvSpPr>
          <p:cNvPr id="27" name="Text 25"/>
          <p:cNvSpPr txBox="1"/>
          <p:nvPr/>
        </p:nvSpPr>
        <p:spPr>
          <a:xfrm>
            <a:off x="8383829" y="4178808"/>
            <a:ext cx="3003194" cy="566928"/>
          </a:xfrm>
          <a:prstGeom prst="rect">
            <a:avLst/>
          </a:prstGeom>
          <a:noFill/>
          <a:ln/>
        </p:spPr>
        <p:txBody>
          <a:bodyPr wrap="square" lIns="0" tIns="0" rIns="0" bIns="0" rtlCol="0" anchor="t"/>
          <a:lstStyle/>
          <a:p>
            <a:pPr indent="0" marL="0">
              <a:lnSpc>
                <a:spcPts val="1350"/>
              </a:lnSpc>
              <a:buNone/>
            </a:pPr>
            <a:r>
              <a:rPr lang="en-US" sz="1000" dirty="0">
                <a:solidFill>
                  <a:srgbClr val="6B8F87"/>
                </a:solidFill>
                <a:latin typeface="Calibri" pitchFamily="34" charset="0"/>
                <a:ea typeface="Calibri" pitchFamily="34" charset="-122"/>
                <a:cs typeface="Calibri" pitchFamily="34" charset="-120"/>
              </a:rPr>
              <a:t>webhook_events · idempotency_keys · status_history · staff_users · audit_log</a:t>
            </a:r>
            <a:endParaRPr lang="en-US" sz="1000" dirty="0"/>
          </a:p>
        </p:txBody>
      </p:sp>
      <p:sp>
        <p:nvSpPr>
          <p:cNvPr id="28" name="Text 26"/>
          <p:cNvSpPr txBox="1"/>
          <p:nvPr/>
        </p:nvSpPr>
        <p:spPr>
          <a:xfrm>
            <a:off x="548640" y="5074920"/>
            <a:ext cx="11094415" cy="256032"/>
          </a:xfrm>
          <a:prstGeom prst="rect">
            <a:avLst/>
          </a:prstGeom>
          <a:noFill/>
          <a:ln/>
        </p:spPr>
        <p:txBody>
          <a:bodyPr wrap="square" lIns="0" tIns="0" rIns="0" bIns="0" rtlCol="0" anchor="ctr"/>
          <a:lstStyle/>
          <a:p>
            <a:pPr indent="0" marL="0">
              <a:buNone/>
            </a:pPr>
            <a:r>
              <a:rPr lang="en-US" sz="950" b="1" spc="150" kern="0" dirty="0">
                <a:solidFill>
                  <a:srgbClr val="0E6B5C"/>
                </a:solidFill>
                <a:latin typeface="Calibri" pitchFamily="34" charset="0"/>
                <a:ea typeface="Calibri" pitchFamily="34" charset="-122"/>
                <a:cs typeface="Calibri" pitchFamily="34" charset="-120"/>
              </a:rPr>
              <a:t>NON-NEGOTIABLE DESIGN RULES</a:t>
            </a:r>
            <a:endParaRPr lang="en-US" sz="950" dirty="0"/>
          </a:p>
        </p:txBody>
      </p:sp>
      <p:sp>
        <p:nvSpPr>
          <p:cNvPr id="29" name="Shape 27"/>
          <p:cNvSpPr/>
          <p:nvPr/>
        </p:nvSpPr>
        <p:spPr>
          <a:xfrm>
            <a:off x="548640" y="5495544"/>
            <a:ext cx="128016" cy="128016"/>
          </a:xfrm>
          <a:prstGeom prst="ellipse">
            <a:avLst/>
          </a:prstGeom>
          <a:solidFill>
            <a:srgbClr val="F2B705"/>
          </a:solidFill>
          <a:ln/>
        </p:spPr>
      </p:sp>
      <p:sp>
        <p:nvSpPr>
          <p:cNvPr id="30" name="Text 28"/>
          <p:cNvSpPr txBox="1"/>
          <p:nvPr/>
        </p:nvSpPr>
        <p:spPr>
          <a:xfrm>
            <a:off x="786384" y="5376672"/>
            <a:ext cx="3240938" cy="365760"/>
          </a:xfrm>
          <a:prstGeom prst="rect">
            <a:avLst/>
          </a:prstGeom>
          <a:noFill/>
          <a:ln/>
        </p:spPr>
        <p:txBody>
          <a:bodyPr wrap="square" lIns="0" tIns="0" rIns="0" bIns="0" rtlCol="0" anchor="ctr"/>
          <a:lstStyle/>
          <a:p>
            <a:pPr indent="0" marL="0">
              <a:buNone/>
            </a:pPr>
            <a:r>
              <a:rPr lang="en-US" sz="1100" dirty="0">
                <a:solidFill>
                  <a:srgbClr val="6B8F87"/>
                </a:solidFill>
                <a:latin typeface="Calibri" pitchFamily="34" charset="0"/>
                <a:ea typeface="Calibri" pitchFamily="34" charset="-122"/>
                <a:cs typeface="Calibri" pitchFamily="34" charset="-120"/>
              </a:rPr>
              <a:t>Money as integer paise — never floats</a:t>
            </a:r>
            <a:endParaRPr lang="en-US" sz="1100" dirty="0"/>
          </a:p>
        </p:txBody>
      </p:sp>
      <p:sp>
        <p:nvSpPr>
          <p:cNvPr id="31" name="Shape 29"/>
          <p:cNvSpPr/>
          <p:nvPr/>
        </p:nvSpPr>
        <p:spPr>
          <a:xfrm>
            <a:off x="4338218" y="5495544"/>
            <a:ext cx="128016" cy="128016"/>
          </a:xfrm>
          <a:prstGeom prst="ellipse">
            <a:avLst/>
          </a:prstGeom>
          <a:solidFill>
            <a:srgbClr val="F2B705"/>
          </a:solidFill>
          <a:ln/>
        </p:spPr>
      </p:sp>
      <p:sp>
        <p:nvSpPr>
          <p:cNvPr id="32" name="Text 30"/>
          <p:cNvSpPr txBox="1"/>
          <p:nvPr/>
        </p:nvSpPr>
        <p:spPr>
          <a:xfrm>
            <a:off x="4575962" y="5376672"/>
            <a:ext cx="3240938" cy="365760"/>
          </a:xfrm>
          <a:prstGeom prst="rect">
            <a:avLst/>
          </a:prstGeom>
          <a:noFill/>
          <a:ln/>
        </p:spPr>
        <p:txBody>
          <a:bodyPr wrap="square" lIns="0" tIns="0" rIns="0" bIns="0" rtlCol="0" anchor="ctr"/>
          <a:lstStyle/>
          <a:p>
            <a:pPr indent="0" marL="0">
              <a:buNone/>
            </a:pPr>
            <a:r>
              <a:rPr lang="en-US" sz="1100" dirty="0">
                <a:solidFill>
                  <a:srgbClr val="6B8F87"/>
                </a:solidFill>
                <a:latin typeface="Calibri" pitchFamily="34" charset="0"/>
                <a:ea typeface="Calibri" pitchFamily="34" charset="-122"/>
                <a:cs typeface="Calibri" pitchFamily="34" charset="-120"/>
              </a:rPr>
              <a:t>Price, tax and title snapshotted onto order lines</a:t>
            </a:r>
            <a:endParaRPr lang="en-US" sz="1100" dirty="0"/>
          </a:p>
        </p:txBody>
      </p:sp>
      <p:sp>
        <p:nvSpPr>
          <p:cNvPr id="33" name="Shape 31"/>
          <p:cNvSpPr/>
          <p:nvPr/>
        </p:nvSpPr>
        <p:spPr>
          <a:xfrm>
            <a:off x="8127797" y="5495544"/>
            <a:ext cx="128016" cy="128016"/>
          </a:xfrm>
          <a:prstGeom prst="ellipse">
            <a:avLst/>
          </a:prstGeom>
          <a:solidFill>
            <a:srgbClr val="F2B705"/>
          </a:solidFill>
          <a:ln/>
        </p:spPr>
      </p:sp>
      <p:sp>
        <p:nvSpPr>
          <p:cNvPr id="34" name="Text 32"/>
          <p:cNvSpPr txBox="1"/>
          <p:nvPr/>
        </p:nvSpPr>
        <p:spPr>
          <a:xfrm>
            <a:off x="8365541" y="5376672"/>
            <a:ext cx="3240938" cy="365760"/>
          </a:xfrm>
          <a:prstGeom prst="rect">
            <a:avLst/>
          </a:prstGeom>
          <a:noFill/>
          <a:ln/>
        </p:spPr>
        <p:txBody>
          <a:bodyPr wrap="square" lIns="0" tIns="0" rIns="0" bIns="0" rtlCol="0" anchor="ctr"/>
          <a:lstStyle/>
          <a:p>
            <a:pPr indent="0" marL="0">
              <a:buNone/>
            </a:pPr>
            <a:r>
              <a:rPr lang="en-US" sz="1100" dirty="0">
                <a:solidFill>
                  <a:srgbClr val="6B8F87"/>
                </a:solidFill>
                <a:latin typeface="Calibri" pitchFamily="34" charset="0"/>
                <a:ea typeface="Calibri" pitchFamily="34" charset="-122"/>
                <a:cs typeface="Calibri" pitchFamily="34" charset="-120"/>
              </a:rPr>
              <a:t>GST and HSN modelled from day one</a:t>
            </a:r>
            <a:endParaRPr lang="en-US" sz="1100" dirty="0"/>
          </a:p>
        </p:txBody>
      </p:sp>
      <p:sp>
        <p:nvSpPr>
          <p:cNvPr id="35" name="Shape 33"/>
          <p:cNvSpPr/>
          <p:nvPr/>
        </p:nvSpPr>
        <p:spPr>
          <a:xfrm>
            <a:off x="548640" y="5879592"/>
            <a:ext cx="128016" cy="128016"/>
          </a:xfrm>
          <a:prstGeom prst="ellipse">
            <a:avLst/>
          </a:prstGeom>
          <a:solidFill>
            <a:srgbClr val="F2B705"/>
          </a:solidFill>
          <a:ln/>
        </p:spPr>
      </p:sp>
      <p:sp>
        <p:nvSpPr>
          <p:cNvPr id="36" name="Text 34"/>
          <p:cNvSpPr txBox="1"/>
          <p:nvPr/>
        </p:nvSpPr>
        <p:spPr>
          <a:xfrm>
            <a:off x="786384" y="5760720"/>
            <a:ext cx="3240938" cy="365760"/>
          </a:xfrm>
          <a:prstGeom prst="rect">
            <a:avLst/>
          </a:prstGeom>
          <a:noFill/>
          <a:ln/>
        </p:spPr>
        <p:txBody>
          <a:bodyPr wrap="square" lIns="0" tIns="0" rIns="0" bIns="0" rtlCol="0" anchor="ctr"/>
          <a:lstStyle/>
          <a:p>
            <a:pPr indent="0" marL="0">
              <a:buNone/>
            </a:pPr>
            <a:r>
              <a:rPr lang="en-US" sz="1100" dirty="0">
                <a:solidFill>
                  <a:srgbClr val="6B8F87"/>
                </a:solidFill>
                <a:latin typeface="Calibri" pitchFamily="34" charset="0"/>
                <a:ea typeface="Calibri" pitchFamily="34" charset="-122"/>
                <a:cs typeface="Calibri" pitchFamily="34" charset="-120"/>
              </a:rPr>
              <a:t>Every stock reservation carries an expiry</a:t>
            </a:r>
            <a:endParaRPr lang="en-US" sz="1100" dirty="0"/>
          </a:p>
        </p:txBody>
      </p:sp>
      <p:sp>
        <p:nvSpPr>
          <p:cNvPr id="37" name="Shape 35"/>
          <p:cNvSpPr/>
          <p:nvPr/>
        </p:nvSpPr>
        <p:spPr>
          <a:xfrm>
            <a:off x="4338218" y="5879592"/>
            <a:ext cx="128016" cy="128016"/>
          </a:xfrm>
          <a:prstGeom prst="ellipse">
            <a:avLst/>
          </a:prstGeom>
          <a:solidFill>
            <a:srgbClr val="F2B705"/>
          </a:solidFill>
          <a:ln/>
        </p:spPr>
      </p:sp>
      <p:sp>
        <p:nvSpPr>
          <p:cNvPr id="38" name="Text 36"/>
          <p:cNvSpPr txBox="1"/>
          <p:nvPr/>
        </p:nvSpPr>
        <p:spPr>
          <a:xfrm>
            <a:off x="4575962" y="5760720"/>
            <a:ext cx="3240938" cy="365760"/>
          </a:xfrm>
          <a:prstGeom prst="rect">
            <a:avLst/>
          </a:prstGeom>
          <a:noFill/>
          <a:ln/>
        </p:spPr>
        <p:txBody>
          <a:bodyPr wrap="square" lIns="0" tIns="0" rIns="0" bIns="0" rtlCol="0" anchor="ctr"/>
          <a:lstStyle/>
          <a:p>
            <a:pPr indent="0" marL="0">
              <a:buNone/>
            </a:pPr>
            <a:r>
              <a:rPr lang="en-US" sz="1100" dirty="0">
                <a:solidFill>
                  <a:srgbClr val="6B8F87"/>
                </a:solidFill>
                <a:latin typeface="Calibri" pitchFamily="34" charset="0"/>
                <a:ea typeface="Calibri" pitchFamily="34" charset="-122"/>
                <a:cs typeface="Calibri" pitchFamily="34" charset="-120"/>
              </a:rPr>
              <a:t>Coordinates as PostGIS points, not loose floats</a:t>
            </a:r>
            <a:endParaRPr lang="en-US" sz="1100" dirty="0"/>
          </a:p>
        </p:txBody>
      </p:sp>
      <p:sp>
        <p:nvSpPr>
          <p:cNvPr id="39" name="Shape 37"/>
          <p:cNvSpPr/>
          <p:nvPr/>
        </p:nvSpPr>
        <p:spPr>
          <a:xfrm>
            <a:off x="8127797" y="5879592"/>
            <a:ext cx="128016" cy="128016"/>
          </a:xfrm>
          <a:prstGeom prst="ellipse">
            <a:avLst/>
          </a:prstGeom>
          <a:solidFill>
            <a:srgbClr val="F2B705"/>
          </a:solidFill>
          <a:ln/>
        </p:spPr>
      </p:sp>
      <p:sp>
        <p:nvSpPr>
          <p:cNvPr id="40" name="Text 38"/>
          <p:cNvSpPr txBox="1"/>
          <p:nvPr/>
        </p:nvSpPr>
        <p:spPr>
          <a:xfrm>
            <a:off x="8365541" y="5760720"/>
            <a:ext cx="3240938" cy="365760"/>
          </a:xfrm>
          <a:prstGeom prst="rect">
            <a:avLst/>
          </a:prstGeom>
          <a:noFill/>
          <a:ln/>
        </p:spPr>
        <p:txBody>
          <a:bodyPr wrap="square" lIns="0" tIns="0" rIns="0" bIns="0" rtlCol="0" anchor="ctr"/>
          <a:lstStyle/>
          <a:p>
            <a:pPr indent="0" marL="0">
              <a:buNone/>
            </a:pPr>
            <a:r>
              <a:rPr lang="en-US" sz="1100" dirty="0">
                <a:solidFill>
                  <a:srgbClr val="6B8F87"/>
                </a:solidFill>
                <a:latin typeface="Calibri" pitchFamily="34" charset="0"/>
                <a:ea typeface="Calibri" pitchFamily="34" charset="-122"/>
                <a:cs typeface="Calibri" pitchFamily="34" charset="-120"/>
              </a:rPr>
              <a:t>Every external write carries an idempotency key</a:t>
            </a:r>
            <a:endParaRPr lang="en-US" sz="1100" dirty="0"/>
          </a:p>
        </p:txBody>
      </p:sp>
      <p:sp>
        <p:nvSpPr>
          <p:cNvPr id="42" name="Text 39"/>
          <p:cNvSpPr txBox="1"/>
          <p:nvPr/>
        </p:nvSpPr>
        <p:spPr>
          <a:xfrm>
            <a:off x="11094415" y="6199632"/>
            <a:ext cx="548640" cy="274320"/>
          </a:xfrm>
          <a:prstGeom prst="rect">
            <a:avLst/>
          </a:prstGeom>
          <a:noFill/>
          <a:ln/>
        </p:spPr>
        <p:txBody>
          <a:bodyPr wrap="square" lIns="0" tIns="0" rIns="0" bIns="0" rtlCol="0" anchor="ctr"/>
          <a:lstStyle/>
          <a:p>
            <a:pPr algn="r" indent="0" marL="0">
              <a:buNone/>
            </a:pPr>
            <a:r>
              <a:rPr lang="en-US" sz="1000" dirty="0">
                <a:solidFill>
                  <a:srgbClr val="9DB8B1"/>
                </a:solidFill>
                <a:latin typeface="Calibri" pitchFamily="34" charset="0"/>
                <a:ea typeface="Calibri" pitchFamily="34" charset="-122"/>
                <a:cs typeface="Calibri" pitchFamily="34" charset="-120"/>
              </a:rPr>
              <a:t>12</a:t>
            </a:r>
            <a:endParaRPr lang="en-US" sz="1000" dirty="0"/>
          </a:p>
        </p:txBody>
      </p:sp>
      <p:sp>
        <p:nvSpPr>
          <p:cNvPr id="43" name="Text 40"/>
          <p:cNvSpPr txBox="1"/>
          <p:nvPr/>
        </p:nvSpPr>
        <p:spPr>
          <a:xfrm>
            <a:off x="548640" y="6199632"/>
            <a:ext cx="4572000" cy="274320"/>
          </a:xfrm>
          <a:prstGeom prst="rect">
            <a:avLst/>
          </a:prstGeom>
          <a:noFill/>
          <a:ln/>
        </p:spPr>
        <p:txBody>
          <a:bodyPr wrap="square" lIns="0" tIns="0" rIns="0" bIns="0" rtlCol="0" anchor="ctr"/>
          <a:lstStyle/>
          <a:p>
            <a:pPr algn="l" indent="0" marL="0">
              <a:buNone/>
            </a:pPr>
            <a:r>
              <a:rPr lang="en-US" sz="900" dirty="0">
                <a:solidFill>
                  <a:srgbClr val="9DB8B1"/>
                </a:solidFill>
                <a:latin typeface="Calibri" pitchFamily="34" charset="0"/>
                <a:ea typeface="Calibri" pitchFamily="34" charset="-122"/>
                <a:cs typeface="Calibri" pitchFamily="34" charset="-120"/>
              </a:rPr>
              <a:t>WhatsApp Commerce Platform  ·  Implementation Plan v2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56032"/>
          </a:xfrm>
          <a:prstGeom prst="rect">
            <a:avLst/>
          </a:prstGeom>
          <a:noFill/>
          <a:ln/>
        </p:spPr>
        <p:txBody>
          <a:bodyPr wrap="square" lIns="0" tIns="0" rIns="0" bIns="0" rtlCol="0" anchor="ctr"/>
          <a:lstStyle/>
          <a:p>
            <a:pPr algn="l" indent="0" marL="0">
              <a:buNone/>
            </a:pPr>
            <a:r>
              <a:rPr lang="en-US" sz="1100" b="1" spc="200" kern="0" dirty="0">
                <a:solidFill>
                  <a:srgbClr val="0E6B5C"/>
                </a:solidFill>
                <a:latin typeface="Calibri" pitchFamily="34" charset="0"/>
                <a:ea typeface="Calibri" pitchFamily="34" charset="-122"/>
                <a:cs typeface="Calibri" pitchFamily="34" charset="-120"/>
              </a:rPr>
              <a:t>MONEY</a:t>
            </a:r>
            <a:endParaRPr lang="en-US" sz="1100" dirty="0"/>
          </a:p>
        </p:txBody>
      </p:sp>
      <p:sp>
        <p:nvSpPr>
          <p:cNvPr id="3" name="Text 1"/>
          <p:cNvSpPr txBox="1"/>
          <p:nvPr/>
        </p:nvSpPr>
        <p:spPr>
          <a:xfrm>
            <a:off x="548640" y="640080"/>
            <a:ext cx="11094415" cy="731520"/>
          </a:xfrm>
          <a:prstGeom prst="rect">
            <a:avLst/>
          </a:prstGeom>
          <a:noFill/>
          <a:ln/>
        </p:spPr>
        <p:txBody>
          <a:bodyPr wrap="square" lIns="0" tIns="0" rIns="0" bIns="0" rtlCol="0" anchor="ctr"/>
          <a:lstStyle/>
          <a:p>
            <a:pPr algn="l" indent="0" marL="0">
              <a:buNone/>
            </a:pPr>
            <a:r>
              <a:rPr lang="en-US" sz="3300" b="1" dirty="0">
                <a:solidFill>
                  <a:srgbClr val="1F2A28"/>
                </a:solidFill>
                <a:latin typeface="Cambria" pitchFamily="34" charset="0"/>
                <a:ea typeface="Cambria" pitchFamily="34" charset="-122"/>
                <a:cs typeface="Cambria" pitchFamily="34" charset="-120"/>
              </a:rPr>
              <a:t>Two payment paths, one set of rules</a:t>
            </a:r>
            <a:endParaRPr lang="en-US" sz="3300" dirty="0"/>
          </a:p>
        </p:txBody>
      </p:sp>
      <p:sp>
        <p:nvSpPr>
          <p:cNvPr id="4" name="Shape 2"/>
          <p:cNvSpPr/>
          <p:nvPr/>
        </p:nvSpPr>
        <p:spPr>
          <a:xfrm>
            <a:off x="548640" y="1691640"/>
            <a:ext cx="5341468" cy="2331720"/>
          </a:xfrm>
          <a:prstGeom prst="roundRect">
            <a:avLst>
              <a:gd name="adj" fmla="val 3922"/>
            </a:avLst>
          </a:prstGeom>
          <a:solidFill>
            <a:srgbClr val="F1F6F4"/>
          </a:solidFill>
          <a:ln/>
        </p:spPr>
      </p:sp>
      <p:sp>
        <p:nvSpPr>
          <p:cNvPr id="5" name="Shape 3"/>
          <p:cNvSpPr/>
          <p:nvPr/>
        </p:nvSpPr>
        <p:spPr>
          <a:xfrm>
            <a:off x="868680" y="1901952"/>
            <a:ext cx="512064" cy="512064"/>
          </a:xfrm>
          <a:prstGeom prst="ellipse">
            <a:avLst/>
          </a:prstGeom>
          <a:solidFill>
            <a:srgbClr val="0E6B5C"/>
          </a:solidFill>
          <a:ln/>
        </p:spPr>
      </p:sp>
      <p:sp>
        <p:nvSpPr>
          <p:cNvPr id="6" name="Text 4"/>
          <p:cNvSpPr txBox="1"/>
          <p:nvPr/>
        </p:nvSpPr>
        <p:spPr>
          <a:xfrm>
            <a:off x="868680" y="190195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7" name="Text 5"/>
          <p:cNvSpPr txBox="1"/>
          <p:nvPr/>
        </p:nvSpPr>
        <p:spPr>
          <a:xfrm>
            <a:off x="1536192" y="1901952"/>
            <a:ext cx="4015588" cy="512064"/>
          </a:xfrm>
          <a:prstGeom prst="rect">
            <a:avLst/>
          </a:prstGeom>
          <a:noFill/>
          <a:ln/>
        </p:spPr>
        <p:txBody>
          <a:bodyPr wrap="square" lIns="0" tIns="0" rIns="0" bIns="0" rtlCol="0" anchor="ctr"/>
          <a:lstStyle/>
          <a:p>
            <a:pPr indent="0" marL="0">
              <a:buNone/>
            </a:pPr>
            <a:r>
              <a:rPr lang="en-US" sz="1700" b="1" dirty="0">
                <a:solidFill>
                  <a:srgbClr val="1F2A28"/>
                </a:solidFill>
                <a:latin typeface="Calibri" pitchFamily="34" charset="0"/>
                <a:ea typeface="Calibri" pitchFamily="34" charset="-122"/>
                <a:cs typeface="Calibri" pitchFamily="34" charset="-120"/>
              </a:rPr>
              <a:t>Cash on delivery</a:t>
            </a:r>
            <a:endParaRPr lang="en-US" sz="1700" dirty="0"/>
          </a:p>
        </p:txBody>
      </p:sp>
      <p:sp>
        <p:nvSpPr>
          <p:cNvPr id="8" name="Text 6"/>
          <p:cNvSpPr txBox="1"/>
          <p:nvPr/>
        </p:nvSpPr>
        <p:spPr>
          <a:xfrm>
            <a:off x="868680" y="2560320"/>
            <a:ext cx="4701388" cy="1280160"/>
          </a:xfrm>
          <a:prstGeom prst="rect">
            <a:avLst/>
          </a:prstGeom>
          <a:noFill/>
          <a:ln/>
        </p:spPr>
        <p:txBody>
          <a:bodyPr wrap="square" lIns="0" tIns="0" rIns="0" bIns="0" rtlCol="0" anchor="t"/>
          <a:lstStyle/>
          <a:p>
            <a:pPr marL="342900" indent="-342900">
              <a:lnSpc>
                <a:spcPts val="1650"/>
              </a:lnSpc>
              <a:spcAft>
                <a:spcPts val="600"/>
              </a:spcAft>
              <a:buSzPct val="100000"/>
              <a:buChar char="•"/>
            </a:pPr>
            <a:r>
              <a:rPr lang="en-US" sz="1200" dirty="0">
                <a:solidFill>
                  <a:srgbClr val="6B8F87"/>
                </a:solidFill>
                <a:latin typeface="Calibri" pitchFamily="34" charset="0"/>
                <a:ea typeface="Calibri" pitchFamily="34" charset="-122"/>
                <a:cs typeface="Calibri" pitchFamily="34" charset="-120"/>
              </a:rPr>
              <a:t>Lowest-friction path — the order is placed immediately</a:t>
            </a:r>
            <a:endParaRPr lang="en-US" sz="1200" dirty="0"/>
          </a:p>
          <a:p>
            <a:pPr marL="342900" indent="-342900">
              <a:lnSpc>
                <a:spcPts val="1650"/>
              </a:lnSpc>
              <a:spcAft>
                <a:spcPts val="600"/>
              </a:spcAft>
              <a:buSzPct val="100000"/>
              <a:buChar char="•"/>
            </a:pPr>
            <a:r>
              <a:rPr lang="en-US" sz="1200" dirty="0">
                <a:solidFill>
                  <a:srgbClr val="6B8F87"/>
                </a:solidFill>
                <a:latin typeface="Calibri" pitchFamily="34" charset="0"/>
                <a:ea typeface="Calibri" pitchFamily="34" charset="-122"/>
                <a:cs typeface="Calibri" pitchFamily="34" charset="-120"/>
              </a:rPr>
              <a:t>Eligibility enforced by service area, order value and product type</a:t>
            </a:r>
            <a:endParaRPr lang="en-US" sz="1200" dirty="0"/>
          </a:p>
          <a:p>
            <a:pPr marL="342900" indent="-342900">
              <a:lnSpc>
                <a:spcPts val="1650"/>
              </a:lnSpc>
              <a:spcAft>
                <a:spcPts val="600"/>
              </a:spcAft>
              <a:buSzPct val="100000"/>
              <a:buChar char="•"/>
            </a:pPr>
            <a:r>
              <a:rPr lang="en-US" sz="1200" dirty="0">
                <a:solidFill>
                  <a:srgbClr val="6B8F87"/>
                </a:solidFill>
                <a:latin typeface="Calibri" pitchFamily="34" charset="0"/>
                <a:ea typeface="Calibri" pitchFamily="34" charset="-122"/>
                <a:cs typeface="Calibri" pitchFamily="34" charset="-120"/>
              </a:rPr>
              <a:t>Ships while payment_status stays not_required</a:t>
            </a:r>
            <a:endParaRPr lang="en-US" sz="1200" dirty="0"/>
          </a:p>
        </p:txBody>
      </p:sp>
      <p:sp>
        <p:nvSpPr>
          <p:cNvPr id="9" name="Shape 7"/>
          <p:cNvSpPr/>
          <p:nvPr/>
        </p:nvSpPr>
        <p:spPr>
          <a:xfrm>
            <a:off x="6301588" y="1691640"/>
            <a:ext cx="5341468" cy="2331720"/>
          </a:xfrm>
          <a:prstGeom prst="roundRect">
            <a:avLst>
              <a:gd name="adj" fmla="val 3922"/>
            </a:avLst>
          </a:prstGeom>
          <a:solidFill>
            <a:srgbClr val="0E6B5C"/>
          </a:solidFill>
          <a:ln/>
        </p:spPr>
      </p:sp>
      <p:sp>
        <p:nvSpPr>
          <p:cNvPr id="10" name="Shape 8"/>
          <p:cNvSpPr/>
          <p:nvPr/>
        </p:nvSpPr>
        <p:spPr>
          <a:xfrm>
            <a:off x="6621628" y="1901952"/>
            <a:ext cx="512064" cy="512064"/>
          </a:xfrm>
          <a:prstGeom prst="ellipse">
            <a:avLst/>
          </a:prstGeom>
          <a:solidFill>
            <a:srgbClr val="F2B705"/>
          </a:solidFill>
          <a:ln/>
        </p:spPr>
      </p:sp>
      <p:sp>
        <p:nvSpPr>
          <p:cNvPr id="11" name="Text 9"/>
          <p:cNvSpPr txBox="1"/>
          <p:nvPr/>
        </p:nvSpPr>
        <p:spPr>
          <a:xfrm>
            <a:off x="6621628" y="1901952"/>
            <a:ext cx="512064" cy="512064"/>
          </a:xfrm>
          <a:prstGeom prst="rect">
            <a:avLst/>
          </a:prstGeom>
          <a:noFill/>
          <a:ln/>
        </p:spPr>
        <p:txBody>
          <a:bodyPr wrap="square" lIns="0" tIns="0" rIns="0" bIns="0" rtlCol="0" anchor="ctr"/>
          <a:lstStyle/>
          <a:p>
            <a:pPr algn="ctr" indent="0" marL="0">
              <a:buNone/>
            </a:pPr>
            <a:r>
              <a:rPr lang="en-US" sz="1500" b="1" dirty="0">
                <a:solidFill>
                  <a:srgbClr val="0B2B26"/>
                </a:solidFill>
                <a:latin typeface="Calibri" pitchFamily="34" charset="0"/>
                <a:ea typeface="Calibri" pitchFamily="34" charset="-122"/>
                <a:cs typeface="Calibri" pitchFamily="34" charset="-120"/>
              </a:rPr>
              <a:t>→</a:t>
            </a:r>
            <a:endParaRPr lang="en-US" sz="1500" dirty="0"/>
          </a:p>
        </p:txBody>
      </p:sp>
      <p:sp>
        <p:nvSpPr>
          <p:cNvPr id="12" name="Text 10"/>
          <p:cNvSpPr txBox="1"/>
          <p:nvPr/>
        </p:nvSpPr>
        <p:spPr>
          <a:xfrm>
            <a:off x="7289140" y="1901952"/>
            <a:ext cx="4015588" cy="512064"/>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Online payment link</a:t>
            </a:r>
            <a:endParaRPr lang="en-US" sz="1700" dirty="0"/>
          </a:p>
        </p:txBody>
      </p:sp>
      <p:sp>
        <p:nvSpPr>
          <p:cNvPr id="13" name="Text 11"/>
          <p:cNvSpPr txBox="1"/>
          <p:nvPr/>
        </p:nvSpPr>
        <p:spPr>
          <a:xfrm>
            <a:off x="6621628" y="2560320"/>
            <a:ext cx="4701388" cy="1280160"/>
          </a:xfrm>
          <a:prstGeom prst="rect">
            <a:avLst/>
          </a:prstGeom>
          <a:noFill/>
          <a:ln/>
        </p:spPr>
        <p:txBody>
          <a:bodyPr wrap="square" lIns="0" tIns="0" rIns="0" bIns="0" rtlCol="0" anchor="t"/>
          <a:lstStyle/>
          <a:p>
            <a:pPr marL="342900" indent="-342900">
              <a:lnSpc>
                <a:spcPts val="1650"/>
              </a:lnSpc>
              <a:spcAft>
                <a:spcPts val="600"/>
              </a:spcAft>
              <a:buSzPct val="100000"/>
              <a:buChar char="•"/>
            </a:pPr>
            <a:r>
              <a:rPr lang="en-US" sz="1200" dirty="0">
                <a:solidFill>
                  <a:srgbClr val="F1F6F4"/>
                </a:solidFill>
                <a:latin typeface="Calibri" pitchFamily="34" charset="0"/>
                <a:ea typeface="Calibri" pitchFamily="34" charset="-122"/>
                <a:cs typeface="Calibri" pitchFamily="34" charset="-120"/>
              </a:rPr>
              <a:t>A secure link scoped to one order, with an automatic expiry</a:t>
            </a:r>
            <a:endParaRPr lang="en-US" sz="1200" dirty="0"/>
          </a:p>
          <a:p>
            <a:pPr marL="342900" indent="-342900">
              <a:lnSpc>
                <a:spcPts val="1650"/>
              </a:lnSpc>
              <a:spcAft>
                <a:spcPts val="600"/>
              </a:spcAft>
              <a:buSzPct val="100000"/>
              <a:buChar char="•"/>
            </a:pPr>
            <a:r>
              <a:rPr lang="en-US" sz="1200" dirty="0">
                <a:solidFill>
                  <a:srgbClr val="F1F6F4"/>
                </a:solidFill>
                <a:latin typeface="Calibri" pitchFamily="34" charset="0"/>
                <a:ea typeface="Calibri" pitchFamily="34" charset="-122"/>
                <a:cs typeface="Calibri" pitchFamily="34" charset="-120"/>
              </a:rPr>
              <a:t>Signature-verified gateway callback is the only proof of payment</a:t>
            </a:r>
            <a:endParaRPr lang="en-US" sz="1200" dirty="0"/>
          </a:p>
          <a:p>
            <a:pPr marL="342900" indent="-342900">
              <a:lnSpc>
                <a:spcPts val="1650"/>
              </a:lnSpc>
              <a:spcAft>
                <a:spcPts val="600"/>
              </a:spcAft>
              <a:buSzPct val="100000"/>
              <a:buChar char="•"/>
            </a:pPr>
            <a:r>
              <a:rPr lang="en-US" sz="1200" dirty="0">
                <a:solidFill>
                  <a:srgbClr val="F1F6F4"/>
                </a:solidFill>
                <a:latin typeface="Calibri" pitchFamily="34" charset="0"/>
                <a:ea typeface="Calibri" pitchFamily="34" charset="-122"/>
                <a:cs typeface="Calibri" pitchFamily="34" charset="-120"/>
              </a:rPr>
              <a:t>Staff can re-issue a link from the admin panel at any time</a:t>
            </a:r>
            <a:endParaRPr lang="en-US" sz="1200" dirty="0"/>
          </a:p>
        </p:txBody>
      </p:sp>
      <p:sp>
        <p:nvSpPr>
          <p:cNvPr id="14" name="Text 12"/>
          <p:cNvSpPr txBox="1"/>
          <p:nvPr/>
        </p:nvSpPr>
        <p:spPr>
          <a:xfrm>
            <a:off x="548640" y="4279392"/>
            <a:ext cx="11094415" cy="256032"/>
          </a:xfrm>
          <a:prstGeom prst="rect">
            <a:avLst/>
          </a:prstGeom>
          <a:noFill/>
          <a:ln/>
        </p:spPr>
        <p:txBody>
          <a:bodyPr wrap="square" lIns="0" tIns="0" rIns="0" bIns="0" rtlCol="0" anchor="ctr"/>
          <a:lstStyle/>
          <a:p>
            <a:pPr indent="0" marL="0">
              <a:buNone/>
            </a:pPr>
            <a:r>
              <a:rPr lang="en-US" sz="950" b="1" spc="150" kern="0" dirty="0">
                <a:solidFill>
                  <a:srgbClr val="0E6B5C"/>
                </a:solidFill>
                <a:latin typeface="Calibri" pitchFamily="34" charset="0"/>
                <a:ea typeface="Calibri" pitchFamily="34" charset="-122"/>
                <a:cs typeface="Calibri" pitchFamily="34" charset="-120"/>
              </a:rPr>
              <a:t>RULES THAT PROTECT THE BUSINESS</a:t>
            </a:r>
            <a:endParaRPr lang="en-US" sz="950" dirty="0"/>
          </a:p>
        </p:txBody>
      </p:sp>
      <p:sp>
        <p:nvSpPr>
          <p:cNvPr id="15" name="Shape 13"/>
          <p:cNvSpPr/>
          <p:nvPr/>
        </p:nvSpPr>
        <p:spPr>
          <a:xfrm>
            <a:off x="548640" y="4718304"/>
            <a:ext cx="146304" cy="146304"/>
          </a:xfrm>
          <a:prstGeom prst="ellipse">
            <a:avLst/>
          </a:prstGeom>
          <a:solidFill>
            <a:srgbClr val="F2B705"/>
          </a:solidFill>
          <a:ln/>
        </p:spPr>
      </p:sp>
      <p:sp>
        <p:nvSpPr>
          <p:cNvPr id="16" name="Text 14"/>
          <p:cNvSpPr txBox="1"/>
          <p:nvPr/>
        </p:nvSpPr>
        <p:spPr>
          <a:xfrm>
            <a:off x="822960" y="4535424"/>
            <a:ext cx="5021428" cy="621792"/>
          </a:xfrm>
          <a:prstGeom prst="rect">
            <a:avLst/>
          </a:prstGeom>
          <a:noFill/>
          <a:ln/>
        </p:spPr>
        <p:txBody>
          <a:bodyPr wrap="square" lIns="0" tIns="0" rIns="0" bIns="0" rtlCol="0" anchor="ctr"/>
          <a:lstStyle/>
          <a:p>
            <a:pPr indent="0" marL="0">
              <a:lnSpc>
                <a:spcPts val="1650"/>
              </a:lnSpc>
              <a:buNone/>
            </a:pPr>
            <a:r>
              <a:rPr lang="en-US" sz="1200" b="1" dirty="0">
                <a:solidFill>
                  <a:srgbClr val="1F2A28"/>
                </a:solidFill>
                <a:latin typeface="Calibri" pitchFamily="34" charset="0"/>
                <a:ea typeface="Calibri" pitchFamily="34" charset="-122"/>
                <a:cs typeface="Calibri" pitchFamily="34" charset="-120"/>
              </a:rPr>
              <a:t>No order reaches paid </a:t>
            </a:r>
            <a:pPr indent="0" marL="0">
              <a:lnSpc>
                <a:spcPts val="1650"/>
              </a:lnSpc>
              <a:buNone/>
            </a:pPr>
            <a:r>
              <a:rPr lang="en-US" sz="1200" dirty="0">
                <a:solidFill>
                  <a:srgbClr val="6B8F87"/>
                </a:solidFill>
                <a:latin typeface="Calibri" pitchFamily="34" charset="0"/>
                <a:ea typeface="Calibri" pitchFamily="34" charset="-122"/>
                <a:cs typeface="Calibri" pitchFamily="34" charset="-120"/>
              </a:rPr>
              <a:t>without a verified callback or an explicit, audited admin approval</a:t>
            </a:r>
            <a:endParaRPr lang="en-US" sz="1200" dirty="0"/>
          </a:p>
        </p:txBody>
      </p:sp>
      <p:sp>
        <p:nvSpPr>
          <p:cNvPr id="17" name="Shape 15"/>
          <p:cNvSpPr/>
          <p:nvPr/>
        </p:nvSpPr>
        <p:spPr>
          <a:xfrm>
            <a:off x="6301588" y="4718304"/>
            <a:ext cx="146304" cy="146304"/>
          </a:xfrm>
          <a:prstGeom prst="ellipse">
            <a:avLst/>
          </a:prstGeom>
          <a:solidFill>
            <a:srgbClr val="F2B705"/>
          </a:solidFill>
          <a:ln/>
        </p:spPr>
      </p:sp>
      <p:sp>
        <p:nvSpPr>
          <p:cNvPr id="18" name="Text 16"/>
          <p:cNvSpPr txBox="1"/>
          <p:nvPr/>
        </p:nvSpPr>
        <p:spPr>
          <a:xfrm>
            <a:off x="6575908" y="4535424"/>
            <a:ext cx="5021428" cy="621792"/>
          </a:xfrm>
          <a:prstGeom prst="rect">
            <a:avLst/>
          </a:prstGeom>
          <a:noFill/>
          <a:ln/>
        </p:spPr>
        <p:txBody>
          <a:bodyPr wrap="square" lIns="0" tIns="0" rIns="0" bIns="0" rtlCol="0" anchor="ctr"/>
          <a:lstStyle/>
          <a:p>
            <a:pPr indent="0" marL="0">
              <a:lnSpc>
                <a:spcPts val="1650"/>
              </a:lnSpc>
              <a:buNone/>
            </a:pPr>
            <a:r>
              <a:rPr lang="en-US" sz="1200" b="1" dirty="0">
                <a:solidFill>
                  <a:srgbClr val="1F2A28"/>
                </a:solidFill>
                <a:latin typeface="Calibri" pitchFamily="34" charset="0"/>
                <a:ea typeface="Calibri" pitchFamily="34" charset="-122"/>
                <a:cs typeface="Calibri" pitchFamily="34" charset="-120"/>
              </a:rPr>
              <a:t>Retries never overwrite </a:t>
            </a:r>
            <a:pPr indent="0" marL="0">
              <a:lnSpc>
                <a:spcPts val="1650"/>
              </a:lnSpc>
              <a:buNone/>
            </a:pPr>
            <a:r>
              <a:rPr lang="en-US" sz="1200" dirty="0">
                <a:solidFill>
                  <a:srgbClr val="6B8F87"/>
                </a:solidFill>
                <a:latin typeface="Calibri" pitchFamily="34" charset="0"/>
                <a:ea typeface="Calibri" pitchFamily="34" charset="-122"/>
                <a:cs typeface="Calibri" pitchFamily="34" charset="-120"/>
              </a:rPr>
              <a:t>each attempt is a new row, so the payment history stays intact</a:t>
            </a:r>
            <a:endParaRPr lang="en-US" sz="1200" dirty="0"/>
          </a:p>
        </p:txBody>
      </p:sp>
      <p:sp>
        <p:nvSpPr>
          <p:cNvPr id="19" name="Shape 17"/>
          <p:cNvSpPr/>
          <p:nvPr/>
        </p:nvSpPr>
        <p:spPr>
          <a:xfrm>
            <a:off x="548640" y="5376672"/>
            <a:ext cx="146304" cy="146304"/>
          </a:xfrm>
          <a:prstGeom prst="ellipse">
            <a:avLst/>
          </a:prstGeom>
          <a:solidFill>
            <a:srgbClr val="F2B705"/>
          </a:solidFill>
          <a:ln/>
        </p:spPr>
      </p:sp>
      <p:sp>
        <p:nvSpPr>
          <p:cNvPr id="20" name="Text 18"/>
          <p:cNvSpPr txBox="1"/>
          <p:nvPr/>
        </p:nvSpPr>
        <p:spPr>
          <a:xfrm>
            <a:off x="822960" y="5193792"/>
            <a:ext cx="5021428" cy="621792"/>
          </a:xfrm>
          <a:prstGeom prst="rect">
            <a:avLst/>
          </a:prstGeom>
          <a:noFill/>
          <a:ln/>
        </p:spPr>
        <p:txBody>
          <a:bodyPr wrap="square" lIns="0" tIns="0" rIns="0" bIns="0" rtlCol="0" anchor="ctr"/>
          <a:lstStyle/>
          <a:p>
            <a:pPr indent="0" marL="0">
              <a:lnSpc>
                <a:spcPts val="1650"/>
              </a:lnSpc>
              <a:buNone/>
            </a:pPr>
            <a:r>
              <a:rPr lang="en-US" sz="1200" b="1" dirty="0">
                <a:solidFill>
                  <a:srgbClr val="1F2A28"/>
                </a:solidFill>
                <a:latin typeface="Calibri" pitchFamily="34" charset="0"/>
                <a:ea typeface="Calibri" pitchFamily="34" charset="-122"/>
                <a:cs typeface="Calibri" pitchFamily="34" charset="-120"/>
              </a:rPr>
              <a:t>Links expire </a:t>
            </a:r>
            <a:pPr indent="0" marL="0">
              <a:lnSpc>
                <a:spcPts val="1650"/>
              </a:lnSpc>
              <a:buNone/>
            </a:pPr>
            <a:r>
              <a:rPr lang="en-US" sz="1200" dirty="0">
                <a:solidFill>
                  <a:srgbClr val="6B8F87"/>
                </a:solidFill>
                <a:latin typeface="Calibri" pitchFamily="34" charset="0"/>
                <a:ea typeface="Calibri" pitchFamily="34" charset="-122"/>
                <a:cs typeface="Calibri" pitchFamily="34" charset="-120"/>
              </a:rPr>
              <a:t>on a configurable timer, and can be re-sent rather than reopened</a:t>
            </a:r>
            <a:endParaRPr lang="en-US" sz="1200" dirty="0"/>
          </a:p>
        </p:txBody>
      </p:sp>
      <p:sp>
        <p:nvSpPr>
          <p:cNvPr id="21" name="Shape 19"/>
          <p:cNvSpPr/>
          <p:nvPr/>
        </p:nvSpPr>
        <p:spPr>
          <a:xfrm>
            <a:off x="6301588" y="5376672"/>
            <a:ext cx="146304" cy="146304"/>
          </a:xfrm>
          <a:prstGeom prst="ellipse">
            <a:avLst/>
          </a:prstGeom>
          <a:solidFill>
            <a:srgbClr val="F2B705"/>
          </a:solidFill>
          <a:ln/>
        </p:spPr>
      </p:sp>
      <p:sp>
        <p:nvSpPr>
          <p:cNvPr id="22" name="Text 20"/>
          <p:cNvSpPr txBox="1"/>
          <p:nvPr/>
        </p:nvSpPr>
        <p:spPr>
          <a:xfrm>
            <a:off x="6575908" y="5193792"/>
            <a:ext cx="5021428" cy="621792"/>
          </a:xfrm>
          <a:prstGeom prst="rect">
            <a:avLst/>
          </a:prstGeom>
          <a:noFill/>
          <a:ln/>
        </p:spPr>
        <p:txBody>
          <a:bodyPr wrap="square" lIns="0" tIns="0" rIns="0" bIns="0" rtlCol="0" anchor="ctr"/>
          <a:lstStyle/>
          <a:p>
            <a:pPr indent="0" marL="0">
              <a:lnSpc>
                <a:spcPts val="1650"/>
              </a:lnSpc>
              <a:buNone/>
            </a:pPr>
            <a:r>
              <a:rPr lang="en-US" sz="1200" b="1" dirty="0">
                <a:solidFill>
                  <a:srgbClr val="1F2A28"/>
                </a:solidFill>
                <a:latin typeface="Calibri" pitchFamily="34" charset="0"/>
                <a:ea typeface="Calibri" pitchFamily="34" charset="-122"/>
                <a:cs typeface="Calibri" pitchFamily="34" charset="-120"/>
              </a:rPr>
              <a:t>Refunds are records </a:t>
            </a:r>
            <a:pPr indent="0" marL="0">
              <a:lnSpc>
                <a:spcPts val="1650"/>
              </a:lnSpc>
              <a:buNone/>
            </a:pPr>
            <a:r>
              <a:rPr lang="en-US" sz="1200" dirty="0">
                <a:solidFill>
                  <a:srgbClr val="6B8F87"/>
                </a:solidFill>
                <a:latin typeface="Calibri" pitchFamily="34" charset="0"/>
                <a:ea typeface="Calibri" pitchFamily="34" charset="-122"/>
                <a:cs typeface="Calibri" pitchFamily="34" charset="-120"/>
              </a:rPr>
              <a:t>reconciled against the gateway and confirmed to the customer by template</a:t>
            </a:r>
            <a:endParaRPr lang="en-US" sz="1200" dirty="0"/>
          </a:p>
        </p:txBody>
      </p:sp>
      <p:sp>
        <p:nvSpPr>
          <p:cNvPr id="23" name="Text 21"/>
          <p:cNvSpPr txBox="1"/>
          <p:nvPr/>
        </p:nvSpPr>
        <p:spPr>
          <a:xfrm>
            <a:off x="548640" y="5888736"/>
            <a:ext cx="11094415" cy="256032"/>
          </a:xfrm>
          <a:prstGeom prst="rect">
            <a:avLst/>
          </a:prstGeom>
          <a:noFill/>
          <a:ln/>
        </p:spPr>
        <p:txBody>
          <a:bodyPr wrap="square" lIns="0" tIns="0" rIns="0" bIns="0" rtlCol="0" anchor="ctr"/>
          <a:lstStyle/>
          <a:p>
            <a:pPr indent="0" marL="0">
              <a:buNone/>
            </a:pPr>
            <a:r>
              <a:rPr lang="en-US" sz="1200" i="1" dirty="0">
                <a:solidFill>
                  <a:srgbClr val="0E6B5C"/>
                </a:solidFill>
                <a:latin typeface="Calibri" pitchFamily="34" charset="0"/>
                <a:ea typeface="Calibri" pitchFamily="34" charset="-122"/>
                <a:cs typeface="Calibri" pitchFamily="34" charset="-120"/>
              </a:rPr>
              <a:t>Native in-chat payments stay deferred until confirmed available and approved for this account and region.</a:t>
            </a:r>
            <a:endParaRPr lang="en-US" sz="1200" dirty="0"/>
          </a:p>
        </p:txBody>
      </p:sp>
      <p:sp>
        <p:nvSpPr>
          <p:cNvPr id="25" name="Text 22"/>
          <p:cNvSpPr txBox="1"/>
          <p:nvPr/>
        </p:nvSpPr>
        <p:spPr>
          <a:xfrm>
            <a:off x="11094415" y="6199632"/>
            <a:ext cx="548640" cy="274320"/>
          </a:xfrm>
          <a:prstGeom prst="rect">
            <a:avLst/>
          </a:prstGeom>
          <a:noFill/>
          <a:ln/>
        </p:spPr>
        <p:txBody>
          <a:bodyPr wrap="square" lIns="0" tIns="0" rIns="0" bIns="0" rtlCol="0" anchor="ctr"/>
          <a:lstStyle/>
          <a:p>
            <a:pPr algn="r" indent="0" marL="0">
              <a:buNone/>
            </a:pPr>
            <a:r>
              <a:rPr lang="en-US" sz="1000" dirty="0">
                <a:solidFill>
                  <a:srgbClr val="9DB8B1"/>
                </a:solidFill>
                <a:latin typeface="Calibri" pitchFamily="34" charset="0"/>
                <a:ea typeface="Calibri" pitchFamily="34" charset="-122"/>
                <a:cs typeface="Calibri" pitchFamily="34" charset="-120"/>
              </a:rPr>
              <a:t>13</a:t>
            </a:r>
            <a:endParaRPr lang="en-US" sz="1000" dirty="0"/>
          </a:p>
        </p:txBody>
      </p:sp>
      <p:sp>
        <p:nvSpPr>
          <p:cNvPr id="26" name="Text 23"/>
          <p:cNvSpPr txBox="1"/>
          <p:nvPr/>
        </p:nvSpPr>
        <p:spPr>
          <a:xfrm>
            <a:off x="548640" y="6199632"/>
            <a:ext cx="4572000" cy="274320"/>
          </a:xfrm>
          <a:prstGeom prst="rect">
            <a:avLst/>
          </a:prstGeom>
          <a:noFill/>
          <a:ln/>
        </p:spPr>
        <p:txBody>
          <a:bodyPr wrap="square" lIns="0" tIns="0" rIns="0" bIns="0" rtlCol="0" anchor="ctr"/>
          <a:lstStyle/>
          <a:p>
            <a:pPr algn="l" indent="0" marL="0">
              <a:buNone/>
            </a:pPr>
            <a:r>
              <a:rPr lang="en-US" sz="900" dirty="0">
                <a:solidFill>
                  <a:srgbClr val="9DB8B1"/>
                </a:solidFill>
                <a:latin typeface="Calibri" pitchFamily="34" charset="0"/>
                <a:ea typeface="Calibri" pitchFamily="34" charset="-122"/>
                <a:cs typeface="Calibri" pitchFamily="34" charset="-120"/>
              </a:rPr>
              <a:t>WhatsApp Commerce Platform  ·  Implementation Plan v2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2B26"/>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56032"/>
          </a:xfrm>
          <a:prstGeom prst="rect">
            <a:avLst/>
          </a:prstGeom>
          <a:noFill/>
          <a:ln/>
        </p:spPr>
        <p:txBody>
          <a:bodyPr wrap="square" lIns="0" tIns="0" rIns="0" bIns="0" rtlCol="0" anchor="ctr"/>
          <a:lstStyle/>
          <a:p>
            <a:pPr algn="l" indent="0" marL="0">
              <a:buNone/>
            </a:pPr>
            <a:r>
              <a:rPr lang="en-US" sz="1100" b="1" spc="200" kern="0" dirty="0">
                <a:solidFill>
                  <a:srgbClr val="F2B705"/>
                </a:solidFill>
                <a:latin typeface="Calibri" pitchFamily="34" charset="0"/>
                <a:ea typeface="Calibri" pitchFamily="34" charset="-122"/>
                <a:cs typeface="Calibri" pitchFamily="34" charset="-120"/>
              </a:rPr>
              <a:t>THE PAYOFF</a:t>
            </a:r>
            <a:endParaRPr lang="en-US" sz="1100" dirty="0"/>
          </a:p>
        </p:txBody>
      </p:sp>
      <p:sp>
        <p:nvSpPr>
          <p:cNvPr id="3" name="Text 1"/>
          <p:cNvSpPr txBox="1"/>
          <p:nvPr/>
        </p:nvSpPr>
        <p:spPr>
          <a:xfrm>
            <a:off x="548640" y="640080"/>
            <a:ext cx="11094415" cy="731520"/>
          </a:xfrm>
          <a:prstGeom prst="rect">
            <a:avLst/>
          </a:prstGeom>
          <a:noFill/>
          <a:ln/>
        </p:spPr>
        <p:txBody>
          <a:bodyPr wrap="square" lIns="0" tIns="0" rIns="0" bIns="0" rtlCol="0" anchor="ctr"/>
          <a:lstStyle/>
          <a:p>
            <a:pPr algn="l" indent="0" marL="0">
              <a:buNone/>
            </a:pPr>
            <a:r>
              <a:rPr lang="en-US" sz="3300" b="1" dirty="0">
                <a:solidFill>
                  <a:srgbClr val="FFFFFF"/>
                </a:solidFill>
                <a:latin typeface="Cambria" pitchFamily="34" charset="0"/>
                <a:ea typeface="Cambria" pitchFamily="34" charset="-122"/>
                <a:cs typeface="Cambria" pitchFamily="34" charset="-120"/>
              </a:rPr>
              <a:t>What the business gets</a:t>
            </a:r>
            <a:endParaRPr lang="en-US" sz="3300" dirty="0"/>
          </a:p>
        </p:txBody>
      </p:sp>
      <p:sp>
        <p:nvSpPr>
          <p:cNvPr id="4" name="Shape 2"/>
          <p:cNvSpPr/>
          <p:nvPr/>
        </p:nvSpPr>
        <p:spPr>
          <a:xfrm>
            <a:off x="548640" y="1645920"/>
            <a:ext cx="3515258" cy="1298448"/>
          </a:xfrm>
          <a:prstGeom prst="roundRect">
            <a:avLst>
              <a:gd name="adj" fmla="val 7042"/>
            </a:avLst>
          </a:prstGeom>
          <a:solidFill>
            <a:srgbClr val="12403A"/>
          </a:solidFill>
          <a:ln/>
        </p:spPr>
      </p:sp>
      <p:sp>
        <p:nvSpPr>
          <p:cNvPr id="5" name="Shape 3"/>
          <p:cNvSpPr/>
          <p:nvPr/>
        </p:nvSpPr>
        <p:spPr>
          <a:xfrm>
            <a:off x="804672" y="1920240"/>
            <a:ext cx="164592" cy="164592"/>
          </a:xfrm>
          <a:prstGeom prst="ellipse">
            <a:avLst/>
          </a:prstGeom>
          <a:solidFill>
            <a:srgbClr val="F2B705"/>
          </a:solidFill>
          <a:ln/>
        </p:spPr>
      </p:sp>
      <p:sp>
        <p:nvSpPr>
          <p:cNvPr id="6" name="Text 4"/>
          <p:cNvSpPr txBox="1"/>
          <p:nvPr/>
        </p:nvSpPr>
        <p:spPr>
          <a:xfrm>
            <a:off x="1078992" y="1847088"/>
            <a:ext cx="2728874"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Fewer failed deliveries</a:t>
            </a:r>
            <a:endParaRPr lang="en-US" sz="1400" dirty="0"/>
          </a:p>
        </p:txBody>
      </p:sp>
      <p:sp>
        <p:nvSpPr>
          <p:cNvPr id="7" name="Text 5"/>
          <p:cNvSpPr txBox="1"/>
          <p:nvPr/>
        </p:nvSpPr>
        <p:spPr>
          <a:xfrm>
            <a:off x="804672" y="2249424"/>
            <a:ext cx="3003194" cy="566928"/>
          </a:xfrm>
          <a:prstGeom prst="rect">
            <a:avLst/>
          </a:prstGeom>
          <a:noFill/>
          <a:ln/>
        </p:spPr>
        <p:txBody>
          <a:bodyPr wrap="square" lIns="0" tIns="0" rIns="0" bIns="0" rtlCol="0" anchor="t"/>
          <a:lstStyle/>
          <a:p>
            <a:pPr indent="0" marL="0">
              <a:lnSpc>
                <a:spcPts val="1450"/>
              </a:lnSpc>
              <a:buNone/>
            </a:pPr>
            <a:r>
              <a:rPr lang="en-US" sz="1100" dirty="0">
                <a:solidFill>
                  <a:srgbClr val="9DB8B1"/>
                </a:solidFill>
                <a:latin typeface="Calibri" pitchFamily="34" charset="0"/>
                <a:ea typeface="Calibri" pitchFamily="34" charset="-122"/>
                <a:cs typeface="Calibri" pitchFamily="34" charset="-120"/>
              </a:rPr>
              <a:t>A coordinate pin plus a landmark replaces guesswork on unreliable typed addresses.</a:t>
            </a:r>
            <a:endParaRPr lang="en-US" sz="1100" dirty="0"/>
          </a:p>
        </p:txBody>
      </p:sp>
      <p:sp>
        <p:nvSpPr>
          <p:cNvPr id="8" name="Shape 6"/>
          <p:cNvSpPr/>
          <p:nvPr/>
        </p:nvSpPr>
        <p:spPr>
          <a:xfrm>
            <a:off x="4338218" y="1645920"/>
            <a:ext cx="3515258" cy="1298448"/>
          </a:xfrm>
          <a:prstGeom prst="roundRect">
            <a:avLst>
              <a:gd name="adj" fmla="val 7042"/>
            </a:avLst>
          </a:prstGeom>
          <a:solidFill>
            <a:srgbClr val="12403A"/>
          </a:solidFill>
          <a:ln/>
        </p:spPr>
      </p:sp>
      <p:sp>
        <p:nvSpPr>
          <p:cNvPr id="9" name="Shape 7"/>
          <p:cNvSpPr/>
          <p:nvPr/>
        </p:nvSpPr>
        <p:spPr>
          <a:xfrm>
            <a:off x="4594250" y="1920240"/>
            <a:ext cx="164592" cy="164592"/>
          </a:xfrm>
          <a:prstGeom prst="ellipse">
            <a:avLst/>
          </a:prstGeom>
          <a:solidFill>
            <a:srgbClr val="F2B705"/>
          </a:solidFill>
          <a:ln/>
        </p:spPr>
      </p:sp>
      <p:sp>
        <p:nvSpPr>
          <p:cNvPr id="10" name="Text 8"/>
          <p:cNvSpPr txBox="1"/>
          <p:nvPr/>
        </p:nvSpPr>
        <p:spPr>
          <a:xfrm>
            <a:off x="4868570" y="1847088"/>
            <a:ext cx="2728874"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Lower support load</a:t>
            </a:r>
            <a:endParaRPr lang="en-US" sz="1400" dirty="0"/>
          </a:p>
        </p:txBody>
      </p:sp>
      <p:sp>
        <p:nvSpPr>
          <p:cNvPr id="11" name="Text 9"/>
          <p:cNvSpPr txBox="1"/>
          <p:nvPr/>
        </p:nvSpPr>
        <p:spPr>
          <a:xfrm>
            <a:off x="4594250" y="2249424"/>
            <a:ext cx="3003194" cy="566928"/>
          </a:xfrm>
          <a:prstGeom prst="rect">
            <a:avLst/>
          </a:prstGeom>
          <a:noFill/>
          <a:ln/>
        </p:spPr>
        <p:txBody>
          <a:bodyPr wrap="square" lIns="0" tIns="0" rIns="0" bIns="0" rtlCol="0" anchor="t"/>
          <a:lstStyle/>
          <a:p>
            <a:pPr indent="0" marL="0">
              <a:lnSpc>
                <a:spcPts val="1450"/>
              </a:lnSpc>
              <a:buNone/>
            </a:pPr>
            <a:r>
              <a:rPr lang="en-US" sz="1100" dirty="0">
                <a:solidFill>
                  <a:srgbClr val="9DB8B1"/>
                </a:solidFill>
                <a:latin typeface="Calibri" pitchFamily="34" charset="0"/>
                <a:ea typeface="Calibri" pitchFamily="34" charset="-122"/>
                <a:cs typeface="Calibri" pitchFamily="34" charset="-120"/>
              </a:rPr>
              <a:t>Customers self-serve order status and tracking in the chat they already have open.</a:t>
            </a:r>
            <a:endParaRPr lang="en-US" sz="1100" dirty="0"/>
          </a:p>
        </p:txBody>
      </p:sp>
      <p:sp>
        <p:nvSpPr>
          <p:cNvPr id="12" name="Shape 10"/>
          <p:cNvSpPr/>
          <p:nvPr/>
        </p:nvSpPr>
        <p:spPr>
          <a:xfrm>
            <a:off x="8127797" y="1645920"/>
            <a:ext cx="3515258" cy="1298448"/>
          </a:xfrm>
          <a:prstGeom prst="roundRect">
            <a:avLst>
              <a:gd name="adj" fmla="val 7042"/>
            </a:avLst>
          </a:prstGeom>
          <a:solidFill>
            <a:srgbClr val="12403A"/>
          </a:solidFill>
          <a:ln/>
        </p:spPr>
      </p:sp>
      <p:sp>
        <p:nvSpPr>
          <p:cNvPr id="13" name="Shape 11"/>
          <p:cNvSpPr/>
          <p:nvPr/>
        </p:nvSpPr>
        <p:spPr>
          <a:xfrm>
            <a:off x="8383829" y="1920240"/>
            <a:ext cx="164592" cy="164592"/>
          </a:xfrm>
          <a:prstGeom prst="ellipse">
            <a:avLst/>
          </a:prstGeom>
          <a:solidFill>
            <a:srgbClr val="F2B705"/>
          </a:solidFill>
          <a:ln/>
        </p:spPr>
      </p:sp>
      <p:sp>
        <p:nvSpPr>
          <p:cNvPr id="14" name="Text 12"/>
          <p:cNvSpPr txBox="1"/>
          <p:nvPr/>
        </p:nvSpPr>
        <p:spPr>
          <a:xfrm>
            <a:off x="8658149" y="1847088"/>
            <a:ext cx="2728874"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No acquisition friction</a:t>
            </a:r>
            <a:endParaRPr lang="en-US" sz="1400" dirty="0"/>
          </a:p>
        </p:txBody>
      </p:sp>
      <p:sp>
        <p:nvSpPr>
          <p:cNvPr id="15" name="Text 13"/>
          <p:cNvSpPr txBox="1"/>
          <p:nvPr/>
        </p:nvSpPr>
        <p:spPr>
          <a:xfrm>
            <a:off x="8383829" y="2249424"/>
            <a:ext cx="3003194" cy="566928"/>
          </a:xfrm>
          <a:prstGeom prst="rect">
            <a:avLst/>
          </a:prstGeom>
          <a:noFill/>
          <a:ln/>
        </p:spPr>
        <p:txBody>
          <a:bodyPr wrap="square" lIns="0" tIns="0" rIns="0" bIns="0" rtlCol="0" anchor="t"/>
          <a:lstStyle/>
          <a:p>
            <a:pPr indent="0" marL="0">
              <a:lnSpc>
                <a:spcPts val="1450"/>
              </a:lnSpc>
              <a:buNone/>
            </a:pPr>
            <a:r>
              <a:rPr lang="en-US" sz="1100" dirty="0">
                <a:solidFill>
                  <a:srgbClr val="9DB8B1"/>
                </a:solidFill>
                <a:latin typeface="Calibri" pitchFamily="34" charset="0"/>
                <a:ea typeface="Calibri" pitchFamily="34" charset="-122"/>
                <a:cs typeface="Calibri" pitchFamily="34" charset="-120"/>
              </a:rPr>
              <a:t>Nothing to install, nothing to sign up for. The channel is already on the phone.</a:t>
            </a:r>
            <a:endParaRPr lang="en-US" sz="1100" dirty="0"/>
          </a:p>
        </p:txBody>
      </p:sp>
      <p:sp>
        <p:nvSpPr>
          <p:cNvPr id="16" name="Shape 14"/>
          <p:cNvSpPr/>
          <p:nvPr/>
        </p:nvSpPr>
        <p:spPr>
          <a:xfrm>
            <a:off x="548640" y="3200400"/>
            <a:ext cx="3515258" cy="1298448"/>
          </a:xfrm>
          <a:prstGeom prst="roundRect">
            <a:avLst>
              <a:gd name="adj" fmla="val 7042"/>
            </a:avLst>
          </a:prstGeom>
          <a:solidFill>
            <a:srgbClr val="12403A"/>
          </a:solidFill>
          <a:ln/>
        </p:spPr>
      </p:sp>
      <p:sp>
        <p:nvSpPr>
          <p:cNvPr id="17" name="Shape 15"/>
          <p:cNvSpPr/>
          <p:nvPr/>
        </p:nvSpPr>
        <p:spPr>
          <a:xfrm>
            <a:off x="804672" y="3474720"/>
            <a:ext cx="164592" cy="164592"/>
          </a:xfrm>
          <a:prstGeom prst="ellipse">
            <a:avLst/>
          </a:prstGeom>
          <a:solidFill>
            <a:srgbClr val="F2B705"/>
          </a:solidFill>
          <a:ln/>
        </p:spPr>
      </p:sp>
      <p:sp>
        <p:nvSpPr>
          <p:cNvPr id="18" name="Text 16"/>
          <p:cNvSpPr txBox="1"/>
          <p:nvPr/>
        </p:nvSpPr>
        <p:spPr>
          <a:xfrm>
            <a:off x="1078992" y="3401568"/>
            <a:ext cx="2728874"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Real operational control</a:t>
            </a:r>
            <a:endParaRPr lang="en-US" sz="1400" dirty="0"/>
          </a:p>
        </p:txBody>
      </p:sp>
      <p:sp>
        <p:nvSpPr>
          <p:cNvPr id="19" name="Text 17"/>
          <p:cNvSpPr txBox="1"/>
          <p:nvPr/>
        </p:nvSpPr>
        <p:spPr>
          <a:xfrm>
            <a:off x="804672" y="3803904"/>
            <a:ext cx="3003194" cy="566928"/>
          </a:xfrm>
          <a:prstGeom prst="rect">
            <a:avLst/>
          </a:prstGeom>
          <a:noFill/>
          <a:ln/>
        </p:spPr>
        <p:txBody>
          <a:bodyPr wrap="square" lIns="0" tIns="0" rIns="0" bIns="0" rtlCol="0" anchor="t"/>
          <a:lstStyle/>
          <a:p>
            <a:pPr indent="0" marL="0">
              <a:lnSpc>
                <a:spcPts val="1450"/>
              </a:lnSpc>
              <a:buNone/>
            </a:pPr>
            <a:r>
              <a:rPr lang="en-US" sz="1100" dirty="0">
                <a:solidFill>
                  <a:srgbClr val="9DB8B1"/>
                </a:solidFill>
                <a:latin typeface="Calibri" pitchFamily="34" charset="0"/>
                <a:ea typeface="Calibri" pitchFamily="34" charset="-122"/>
                <a:cs typeface="Calibri" pitchFamily="34" charset="-120"/>
              </a:rPr>
              <a:t>Every order, payment, shipment and message visible and correctable in one panel.</a:t>
            </a:r>
            <a:endParaRPr lang="en-US" sz="1100" dirty="0"/>
          </a:p>
        </p:txBody>
      </p:sp>
      <p:sp>
        <p:nvSpPr>
          <p:cNvPr id="20" name="Shape 18"/>
          <p:cNvSpPr/>
          <p:nvPr/>
        </p:nvSpPr>
        <p:spPr>
          <a:xfrm>
            <a:off x="4338218" y="3200400"/>
            <a:ext cx="3515258" cy="1298448"/>
          </a:xfrm>
          <a:prstGeom prst="roundRect">
            <a:avLst>
              <a:gd name="adj" fmla="val 7042"/>
            </a:avLst>
          </a:prstGeom>
          <a:solidFill>
            <a:srgbClr val="12403A"/>
          </a:solidFill>
          <a:ln/>
        </p:spPr>
      </p:sp>
      <p:sp>
        <p:nvSpPr>
          <p:cNvPr id="21" name="Shape 19"/>
          <p:cNvSpPr/>
          <p:nvPr/>
        </p:nvSpPr>
        <p:spPr>
          <a:xfrm>
            <a:off x="4594250" y="3474720"/>
            <a:ext cx="164592" cy="164592"/>
          </a:xfrm>
          <a:prstGeom prst="ellipse">
            <a:avLst/>
          </a:prstGeom>
          <a:solidFill>
            <a:srgbClr val="F2B705"/>
          </a:solidFill>
          <a:ln/>
        </p:spPr>
      </p:sp>
      <p:sp>
        <p:nvSpPr>
          <p:cNvPr id="22" name="Text 20"/>
          <p:cNvSpPr txBox="1"/>
          <p:nvPr/>
        </p:nvSpPr>
        <p:spPr>
          <a:xfrm>
            <a:off x="4868570" y="3401568"/>
            <a:ext cx="2728874"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Provider independence</a:t>
            </a:r>
            <a:endParaRPr lang="en-US" sz="1400" dirty="0"/>
          </a:p>
        </p:txBody>
      </p:sp>
      <p:sp>
        <p:nvSpPr>
          <p:cNvPr id="23" name="Text 21"/>
          <p:cNvSpPr txBox="1"/>
          <p:nvPr/>
        </p:nvSpPr>
        <p:spPr>
          <a:xfrm>
            <a:off x="4594250" y="3803904"/>
            <a:ext cx="3003194" cy="566928"/>
          </a:xfrm>
          <a:prstGeom prst="rect">
            <a:avLst/>
          </a:prstGeom>
          <a:noFill/>
          <a:ln/>
        </p:spPr>
        <p:txBody>
          <a:bodyPr wrap="square" lIns="0" tIns="0" rIns="0" bIns="0" rtlCol="0" anchor="t"/>
          <a:lstStyle/>
          <a:p>
            <a:pPr indent="0" marL="0">
              <a:lnSpc>
                <a:spcPts val="1450"/>
              </a:lnSpc>
              <a:buNone/>
            </a:pPr>
            <a:r>
              <a:rPr lang="en-US" sz="1100" dirty="0">
                <a:solidFill>
                  <a:srgbClr val="9DB8B1"/>
                </a:solidFill>
                <a:latin typeface="Calibri" pitchFamily="34" charset="0"/>
                <a:ea typeface="Calibri" pitchFamily="34" charset="-122"/>
                <a:cs typeface="Calibri" pitchFamily="34" charset="-120"/>
              </a:rPr>
              <a:t>Courier, gateway, and messaging provider can each be replaced without a rewrite.</a:t>
            </a:r>
            <a:endParaRPr lang="en-US" sz="1100" dirty="0"/>
          </a:p>
        </p:txBody>
      </p:sp>
      <p:sp>
        <p:nvSpPr>
          <p:cNvPr id="24" name="Shape 22"/>
          <p:cNvSpPr/>
          <p:nvPr/>
        </p:nvSpPr>
        <p:spPr>
          <a:xfrm>
            <a:off x="8127797" y="3200400"/>
            <a:ext cx="3515258" cy="1298448"/>
          </a:xfrm>
          <a:prstGeom prst="roundRect">
            <a:avLst>
              <a:gd name="adj" fmla="val 7042"/>
            </a:avLst>
          </a:prstGeom>
          <a:solidFill>
            <a:srgbClr val="12403A"/>
          </a:solidFill>
          <a:ln/>
        </p:spPr>
      </p:sp>
      <p:sp>
        <p:nvSpPr>
          <p:cNvPr id="25" name="Shape 23"/>
          <p:cNvSpPr/>
          <p:nvPr/>
        </p:nvSpPr>
        <p:spPr>
          <a:xfrm>
            <a:off x="8383829" y="3474720"/>
            <a:ext cx="164592" cy="164592"/>
          </a:xfrm>
          <a:prstGeom prst="ellipse">
            <a:avLst/>
          </a:prstGeom>
          <a:solidFill>
            <a:srgbClr val="F2B705"/>
          </a:solidFill>
          <a:ln/>
        </p:spPr>
      </p:sp>
      <p:sp>
        <p:nvSpPr>
          <p:cNvPr id="26" name="Text 24"/>
          <p:cNvSpPr txBox="1"/>
          <p:nvPr/>
        </p:nvSpPr>
        <p:spPr>
          <a:xfrm>
            <a:off x="8658149" y="3401568"/>
            <a:ext cx="2728874"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Auditable by design</a:t>
            </a:r>
            <a:endParaRPr lang="en-US" sz="1400" dirty="0"/>
          </a:p>
        </p:txBody>
      </p:sp>
      <p:sp>
        <p:nvSpPr>
          <p:cNvPr id="27" name="Text 25"/>
          <p:cNvSpPr txBox="1"/>
          <p:nvPr/>
        </p:nvSpPr>
        <p:spPr>
          <a:xfrm>
            <a:off x="8383829" y="3803904"/>
            <a:ext cx="3003194" cy="566928"/>
          </a:xfrm>
          <a:prstGeom prst="rect">
            <a:avLst/>
          </a:prstGeom>
          <a:noFill/>
          <a:ln/>
        </p:spPr>
        <p:txBody>
          <a:bodyPr wrap="square" lIns="0" tIns="0" rIns="0" bIns="0" rtlCol="0" anchor="t"/>
          <a:lstStyle/>
          <a:p>
            <a:pPr indent="0" marL="0">
              <a:lnSpc>
                <a:spcPts val="1450"/>
              </a:lnSpc>
              <a:buNone/>
            </a:pPr>
            <a:r>
              <a:rPr lang="en-US" sz="1100" dirty="0">
                <a:solidFill>
                  <a:srgbClr val="9DB8B1"/>
                </a:solidFill>
                <a:latin typeface="Calibri" pitchFamily="34" charset="0"/>
                <a:ea typeface="Calibri" pitchFamily="34" charset="-122"/>
                <a:cs typeface="Calibri" pitchFamily="34" charset="-120"/>
              </a:rPr>
              <a:t>Immutable status history, raw event storage, and a reason logged on every override.</a:t>
            </a:r>
            <a:endParaRPr lang="en-US" sz="1100" dirty="0"/>
          </a:p>
        </p:txBody>
      </p:sp>
      <p:sp>
        <p:nvSpPr>
          <p:cNvPr id="28" name="Text 26"/>
          <p:cNvSpPr txBox="1"/>
          <p:nvPr/>
        </p:nvSpPr>
        <p:spPr>
          <a:xfrm>
            <a:off x="548640" y="5074920"/>
            <a:ext cx="2567864" cy="548640"/>
          </a:xfrm>
          <a:prstGeom prst="rect">
            <a:avLst/>
          </a:prstGeom>
          <a:noFill/>
          <a:ln/>
        </p:spPr>
        <p:txBody>
          <a:bodyPr wrap="square" lIns="0" tIns="0" rIns="0" bIns="0" rtlCol="0" anchor="ctr"/>
          <a:lstStyle/>
          <a:p>
            <a:pPr indent="0" marL="0">
              <a:buNone/>
            </a:pPr>
            <a:r>
              <a:rPr lang="en-US" sz="3200" b="1" dirty="0">
                <a:solidFill>
                  <a:srgbClr val="17A38C"/>
                </a:solidFill>
                <a:latin typeface="Cambria" pitchFamily="34" charset="0"/>
                <a:ea typeface="Cambria" pitchFamily="34" charset="-122"/>
                <a:cs typeface="Cambria" pitchFamily="34" charset="-120"/>
              </a:rPr>
              <a:t>&lt; 500 ms</a:t>
            </a:r>
            <a:endParaRPr lang="en-US" sz="3200" dirty="0"/>
          </a:p>
        </p:txBody>
      </p:sp>
      <p:sp>
        <p:nvSpPr>
          <p:cNvPr id="29" name="Text 27"/>
          <p:cNvSpPr txBox="1"/>
          <p:nvPr/>
        </p:nvSpPr>
        <p:spPr>
          <a:xfrm>
            <a:off x="548640" y="5632704"/>
            <a:ext cx="2567864" cy="292608"/>
          </a:xfrm>
          <a:prstGeom prst="rect">
            <a:avLst/>
          </a:prstGeom>
          <a:noFill/>
          <a:ln/>
        </p:spPr>
        <p:txBody>
          <a:bodyPr wrap="square" lIns="0" tIns="0" rIns="0" bIns="0" rtlCol="0" anchor="ctr"/>
          <a:lstStyle/>
          <a:p>
            <a:pPr indent="0" marL="0">
              <a:buNone/>
            </a:pPr>
            <a:r>
              <a:rPr lang="en-US" sz="1100" dirty="0">
                <a:solidFill>
                  <a:srgbClr val="6B8F87"/>
                </a:solidFill>
                <a:latin typeface="Calibri" pitchFamily="34" charset="0"/>
                <a:ea typeface="Calibri" pitchFamily="34" charset="-122"/>
                <a:cs typeface="Calibri" pitchFamily="34" charset="-120"/>
              </a:rPr>
              <a:t>webhook ack, p95</a:t>
            </a:r>
            <a:endParaRPr lang="en-US" sz="1100" dirty="0"/>
          </a:p>
        </p:txBody>
      </p:sp>
      <p:sp>
        <p:nvSpPr>
          <p:cNvPr id="30" name="Text 28"/>
          <p:cNvSpPr txBox="1"/>
          <p:nvPr/>
        </p:nvSpPr>
        <p:spPr>
          <a:xfrm>
            <a:off x="3390824" y="5074920"/>
            <a:ext cx="2567864" cy="548640"/>
          </a:xfrm>
          <a:prstGeom prst="rect">
            <a:avLst/>
          </a:prstGeom>
          <a:noFill/>
          <a:ln/>
        </p:spPr>
        <p:txBody>
          <a:bodyPr wrap="square" lIns="0" tIns="0" rIns="0" bIns="0" rtlCol="0" anchor="ctr"/>
          <a:lstStyle/>
          <a:p>
            <a:pPr indent="0" marL="0">
              <a:buNone/>
            </a:pPr>
            <a:r>
              <a:rPr lang="en-US" sz="3200" b="1" dirty="0">
                <a:solidFill>
                  <a:srgbClr val="17A38C"/>
                </a:solidFill>
                <a:latin typeface="Cambria" pitchFamily="34" charset="0"/>
                <a:ea typeface="Cambria" pitchFamily="34" charset="-122"/>
                <a:cs typeface="Cambria" pitchFamily="34" charset="-120"/>
              </a:rPr>
              <a:t>99.5%</a:t>
            </a:r>
            <a:endParaRPr lang="en-US" sz="3200" dirty="0"/>
          </a:p>
        </p:txBody>
      </p:sp>
      <p:sp>
        <p:nvSpPr>
          <p:cNvPr id="31" name="Text 29"/>
          <p:cNvSpPr txBox="1"/>
          <p:nvPr/>
        </p:nvSpPr>
        <p:spPr>
          <a:xfrm>
            <a:off x="3390824" y="5632704"/>
            <a:ext cx="2567864" cy="292608"/>
          </a:xfrm>
          <a:prstGeom prst="rect">
            <a:avLst/>
          </a:prstGeom>
          <a:noFill/>
          <a:ln/>
        </p:spPr>
        <p:txBody>
          <a:bodyPr wrap="square" lIns="0" tIns="0" rIns="0" bIns="0" rtlCol="0" anchor="ctr"/>
          <a:lstStyle/>
          <a:p>
            <a:pPr indent="0" marL="0">
              <a:buNone/>
            </a:pPr>
            <a:r>
              <a:rPr lang="en-US" sz="1100" dirty="0">
                <a:solidFill>
                  <a:srgbClr val="6B8F87"/>
                </a:solidFill>
                <a:latin typeface="Calibri" pitchFamily="34" charset="0"/>
                <a:ea typeface="Calibri" pitchFamily="34" charset="-122"/>
                <a:cs typeface="Calibri" pitchFamily="34" charset="-120"/>
              </a:rPr>
              <a:t>monthly uptime target</a:t>
            </a:r>
            <a:endParaRPr lang="en-US" sz="1100" dirty="0"/>
          </a:p>
        </p:txBody>
      </p:sp>
      <p:sp>
        <p:nvSpPr>
          <p:cNvPr id="32" name="Text 30"/>
          <p:cNvSpPr txBox="1"/>
          <p:nvPr/>
        </p:nvSpPr>
        <p:spPr>
          <a:xfrm>
            <a:off x="6233008" y="5074920"/>
            <a:ext cx="2567864" cy="548640"/>
          </a:xfrm>
          <a:prstGeom prst="rect">
            <a:avLst/>
          </a:prstGeom>
          <a:noFill/>
          <a:ln/>
        </p:spPr>
        <p:txBody>
          <a:bodyPr wrap="square" lIns="0" tIns="0" rIns="0" bIns="0" rtlCol="0" anchor="ctr"/>
          <a:lstStyle/>
          <a:p>
            <a:pPr indent="0" marL="0">
              <a:buNone/>
            </a:pPr>
            <a:r>
              <a:rPr lang="en-US" sz="3200" b="1" dirty="0">
                <a:solidFill>
                  <a:srgbClr val="17A38C"/>
                </a:solidFill>
                <a:latin typeface="Cambria" pitchFamily="34" charset="0"/>
                <a:ea typeface="Cambria" pitchFamily="34" charset="-122"/>
                <a:cs typeface="Cambria" pitchFamily="34" charset="-120"/>
              </a:rPr>
              <a:t>4</a:t>
            </a:r>
            <a:endParaRPr lang="en-US" sz="3200" dirty="0"/>
          </a:p>
        </p:txBody>
      </p:sp>
      <p:sp>
        <p:nvSpPr>
          <p:cNvPr id="33" name="Text 31"/>
          <p:cNvSpPr txBox="1"/>
          <p:nvPr/>
        </p:nvSpPr>
        <p:spPr>
          <a:xfrm>
            <a:off x="6233008" y="5632704"/>
            <a:ext cx="2567864" cy="292608"/>
          </a:xfrm>
          <a:prstGeom prst="rect">
            <a:avLst/>
          </a:prstGeom>
          <a:noFill/>
          <a:ln/>
        </p:spPr>
        <p:txBody>
          <a:bodyPr wrap="square" lIns="0" tIns="0" rIns="0" bIns="0" rtlCol="0" anchor="ctr"/>
          <a:lstStyle/>
          <a:p>
            <a:pPr indent="0" marL="0">
              <a:buNone/>
            </a:pPr>
            <a:r>
              <a:rPr lang="en-US" sz="1100" dirty="0">
                <a:solidFill>
                  <a:srgbClr val="6B8F87"/>
                </a:solidFill>
                <a:latin typeface="Calibri" pitchFamily="34" charset="0"/>
                <a:ea typeface="Calibri" pitchFamily="34" charset="-122"/>
                <a:cs typeface="Calibri" pitchFamily="34" charset="-120"/>
              </a:rPr>
              <a:t>provider integrations</a:t>
            </a:r>
            <a:endParaRPr lang="en-US" sz="1100" dirty="0"/>
          </a:p>
        </p:txBody>
      </p:sp>
      <p:sp>
        <p:nvSpPr>
          <p:cNvPr id="34" name="Text 32"/>
          <p:cNvSpPr txBox="1"/>
          <p:nvPr/>
        </p:nvSpPr>
        <p:spPr>
          <a:xfrm>
            <a:off x="9075191" y="5074920"/>
            <a:ext cx="2567864" cy="548640"/>
          </a:xfrm>
          <a:prstGeom prst="rect">
            <a:avLst/>
          </a:prstGeom>
          <a:noFill/>
          <a:ln/>
        </p:spPr>
        <p:txBody>
          <a:bodyPr wrap="square" lIns="0" tIns="0" rIns="0" bIns="0" rtlCol="0" anchor="ctr"/>
          <a:lstStyle/>
          <a:p>
            <a:pPr indent="0" marL="0">
              <a:buNone/>
            </a:pPr>
            <a:r>
              <a:rPr lang="en-US" sz="3200" b="1" dirty="0">
                <a:solidFill>
                  <a:srgbClr val="17A38C"/>
                </a:solidFill>
                <a:latin typeface="Cambria" pitchFamily="34" charset="0"/>
                <a:ea typeface="Cambria" pitchFamily="34" charset="-122"/>
                <a:cs typeface="Cambria" pitchFamily="34" charset="-120"/>
              </a:rPr>
              <a:t>10</a:t>
            </a:r>
            <a:endParaRPr lang="en-US" sz="3200" dirty="0"/>
          </a:p>
        </p:txBody>
      </p:sp>
      <p:sp>
        <p:nvSpPr>
          <p:cNvPr id="35" name="Text 33"/>
          <p:cNvSpPr txBox="1"/>
          <p:nvPr/>
        </p:nvSpPr>
        <p:spPr>
          <a:xfrm>
            <a:off x="9075191" y="5632704"/>
            <a:ext cx="2567864" cy="292608"/>
          </a:xfrm>
          <a:prstGeom prst="rect">
            <a:avLst/>
          </a:prstGeom>
          <a:noFill/>
          <a:ln/>
        </p:spPr>
        <p:txBody>
          <a:bodyPr wrap="square" lIns="0" tIns="0" rIns="0" bIns="0" rtlCol="0" anchor="ctr"/>
          <a:lstStyle/>
          <a:p>
            <a:pPr indent="0" marL="0">
              <a:buNone/>
            </a:pPr>
            <a:r>
              <a:rPr lang="en-US" sz="1100" dirty="0">
                <a:solidFill>
                  <a:srgbClr val="6B8F87"/>
                </a:solidFill>
                <a:latin typeface="Calibri" pitchFamily="34" charset="0"/>
                <a:ea typeface="Calibri" pitchFamily="34" charset="-122"/>
                <a:cs typeface="Calibri" pitchFamily="34" charset="-120"/>
              </a:rPr>
              <a:t>templates per language</a:t>
            </a:r>
            <a:endParaRPr lang="en-US" sz="1100" dirty="0"/>
          </a:p>
        </p:txBody>
      </p:sp>
      <p:sp>
        <p:nvSpPr>
          <p:cNvPr id="37" name="Text 34"/>
          <p:cNvSpPr txBox="1"/>
          <p:nvPr/>
        </p:nvSpPr>
        <p:spPr>
          <a:xfrm>
            <a:off x="11094415" y="6199632"/>
            <a:ext cx="548640" cy="274320"/>
          </a:xfrm>
          <a:prstGeom prst="rect">
            <a:avLst/>
          </a:prstGeom>
          <a:noFill/>
          <a:ln/>
        </p:spPr>
        <p:txBody>
          <a:bodyPr wrap="square" lIns="0" tIns="0" rIns="0" bIns="0" rtlCol="0" anchor="ctr"/>
          <a:lstStyle/>
          <a:p>
            <a:pPr algn="r" indent="0" marL="0">
              <a:buNone/>
            </a:pPr>
            <a:r>
              <a:rPr lang="en-US" sz="1000" dirty="0">
                <a:solidFill>
                  <a:srgbClr val="6B8F87"/>
                </a:solidFill>
                <a:latin typeface="Calibri" pitchFamily="34" charset="0"/>
                <a:ea typeface="Calibri" pitchFamily="34" charset="-122"/>
                <a:cs typeface="Calibri" pitchFamily="34" charset="-120"/>
              </a:rPr>
              <a:t>14</a:t>
            </a:r>
            <a:endParaRPr lang="en-US" sz="1000" dirty="0"/>
          </a:p>
        </p:txBody>
      </p:sp>
      <p:sp>
        <p:nvSpPr>
          <p:cNvPr id="38" name="Text 35"/>
          <p:cNvSpPr txBox="1"/>
          <p:nvPr/>
        </p:nvSpPr>
        <p:spPr>
          <a:xfrm>
            <a:off x="548640" y="6199632"/>
            <a:ext cx="4572000" cy="274320"/>
          </a:xfrm>
          <a:prstGeom prst="rect">
            <a:avLst/>
          </a:prstGeom>
          <a:noFill/>
          <a:ln/>
        </p:spPr>
        <p:txBody>
          <a:bodyPr wrap="square" lIns="0" tIns="0" rIns="0" bIns="0" rtlCol="0" anchor="ctr"/>
          <a:lstStyle/>
          <a:p>
            <a:pPr algn="l" indent="0" marL="0">
              <a:buNone/>
            </a:pPr>
            <a:r>
              <a:rPr lang="en-US" sz="900" dirty="0">
                <a:solidFill>
                  <a:srgbClr val="6B8F87"/>
                </a:solidFill>
                <a:latin typeface="Calibri" pitchFamily="34" charset="0"/>
                <a:ea typeface="Calibri" pitchFamily="34" charset="-122"/>
                <a:cs typeface="Calibri" pitchFamily="34" charset="-120"/>
              </a:rPr>
              <a:t>WhatsApp Commerce Platform  ·  Implementation Plan v2</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56032"/>
          </a:xfrm>
          <a:prstGeom prst="rect">
            <a:avLst/>
          </a:prstGeom>
          <a:noFill/>
          <a:ln/>
        </p:spPr>
        <p:txBody>
          <a:bodyPr wrap="square" lIns="0" tIns="0" rIns="0" bIns="0" rtlCol="0" anchor="ctr"/>
          <a:lstStyle/>
          <a:p>
            <a:pPr algn="l" indent="0" marL="0">
              <a:buNone/>
            </a:pPr>
            <a:r>
              <a:rPr lang="en-US" sz="1100" b="1" spc="200" kern="0" dirty="0">
                <a:solidFill>
                  <a:srgbClr val="0E6B5C"/>
                </a:solidFill>
                <a:latin typeface="Calibri" pitchFamily="34" charset="0"/>
                <a:ea typeface="Calibri" pitchFamily="34" charset="-122"/>
                <a:cs typeface="Calibri" pitchFamily="34" charset="-120"/>
              </a:rPr>
              <a:t>ECONOMICS</a:t>
            </a:r>
            <a:endParaRPr lang="en-US" sz="1100" dirty="0"/>
          </a:p>
        </p:txBody>
      </p:sp>
      <p:sp>
        <p:nvSpPr>
          <p:cNvPr id="3" name="Text 1"/>
          <p:cNvSpPr txBox="1"/>
          <p:nvPr/>
        </p:nvSpPr>
        <p:spPr>
          <a:xfrm>
            <a:off x="548640" y="640080"/>
            <a:ext cx="11094415" cy="731520"/>
          </a:xfrm>
          <a:prstGeom prst="rect">
            <a:avLst/>
          </a:prstGeom>
          <a:noFill/>
          <a:ln/>
        </p:spPr>
        <p:txBody>
          <a:bodyPr wrap="square" lIns="0" tIns="0" rIns="0" bIns="0" rtlCol="0" anchor="ctr"/>
          <a:lstStyle/>
          <a:p>
            <a:pPr algn="l" indent="0" marL="0">
              <a:buNone/>
            </a:pPr>
            <a:r>
              <a:rPr lang="en-US" sz="3300" b="1" dirty="0">
                <a:solidFill>
                  <a:srgbClr val="1F2A28"/>
                </a:solidFill>
                <a:latin typeface="Cambria" pitchFamily="34" charset="0"/>
                <a:ea typeface="Cambria" pitchFamily="34" charset="-122"/>
                <a:cs typeface="Cambria" pitchFamily="34" charset="-120"/>
              </a:rPr>
              <a:t>What each order actually costs to serve</a:t>
            </a:r>
            <a:endParaRPr lang="en-US" sz="3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788920"/>
                <a:gridCol w="3246120"/>
                <a:gridCol w="5056632"/>
              </a:tblGrid>
              <a:tr h="40233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Cost driver</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0B2B2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Charged on</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0B2B2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The lever we control</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0B2B26"/>
                    </a:solidFill>
                  </a:tcPr>
                </a:tc>
              </a:tr>
              <a:tr h="530352">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WhatsApp templates</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Per message sent, per market</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Consolidate notifications; finish conversations inside the free window</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r>
              <a:tr h="530352">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Payment gateway</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Percentage of prepaid order value</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Encourage COD where margin is better; negotiate rate at volume</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r>
              <a:tr h="475488">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Courier</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Per shipment, by weight and zone</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Zone-aware fee banding using the delivery pin</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r>
              <a:tr h="475488">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Geocoding</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Per address lookup</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Geocode once per address and cache; never per page view</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r>
              <a:tr h="475488">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Tracking map loads</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Per map render</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Poll position data, not the map — the map loads once</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4617720"/>
            <a:ext cx="11094415" cy="914400"/>
          </a:xfrm>
          <a:prstGeom prst="roundRect">
            <a:avLst>
              <a:gd name="adj" fmla="val 10000"/>
            </a:avLst>
          </a:prstGeom>
          <a:solidFill>
            <a:srgbClr val="F2B705"/>
          </a:solidFill>
          <a:ln/>
        </p:spPr>
      </p:sp>
      <p:sp>
        <p:nvSpPr>
          <p:cNvPr id="6" name="Text 3"/>
          <p:cNvSpPr txBox="1"/>
          <p:nvPr/>
        </p:nvSpPr>
        <p:spPr>
          <a:xfrm>
            <a:off x="868680" y="4617720"/>
            <a:ext cx="10454335" cy="914400"/>
          </a:xfrm>
          <a:prstGeom prst="rect">
            <a:avLst/>
          </a:prstGeom>
          <a:noFill/>
          <a:ln/>
        </p:spPr>
        <p:txBody>
          <a:bodyPr wrap="square" lIns="0" tIns="0" rIns="0" bIns="0" rtlCol="0" anchor="ctr"/>
          <a:lstStyle/>
          <a:p>
            <a:pPr indent="0" marL="0">
              <a:lnSpc>
                <a:spcPts val="1800"/>
              </a:lnSpc>
              <a:buNone/>
            </a:pPr>
            <a:r>
              <a:rPr lang="en-US" sz="1300" b="1" dirty="0">
                <a:solidFill>
                  <a:srgbClr val="0B2B26"/>
                </a:solidFill>
                <a:latin typeface="Calibri" pitchFamily="34" charset="0"/>
                <a:ea typeface="Calibri" pitchFamily="34" charset="-122"/>
                <a:cs typeface="Calibri" pitchFamily="34" charset="-120"/>
              </a:rPr>
              <a:t>The one insight worth remembering:  </a:t>
            </a:r>
            <a:pPr indent="0" marL="0">
              <a:lnSpc>
                <a:spcPts val="1800"/>
              </a:lnSpc>
              <a:buNone/>
            </a:pPr>
            <a:r>
              <a:rPr lang="en-US" sz="1300" dirty="0">
                <a:solidFill>
                  <a:srgbClr val="0B2B26"/>
                </a:solidFill>
                <a:latin typeface="Calibri" pitchFamily="34" charset="0"/>
                <a:ea typeface="Calibri" pitchFamily="34" charset="-122"/>
                <a:cs typeface="Calibri" pitchFamily="34" charset="-120"/>
              </a:rPr>
              <a:t>messages inside the 24-hour window are the cheap path. Designing conversations to complete inside it is a cost decision, not just a user-experience one.</a:t>
            </a:r>
            <a:endParaRPr lang="en-US" sz="1300" dirty="0"/>
          </a:p>
        </p:txBody>
      </p:sp>
      <p:sp>
        <p:nvSpPr>
          <p:cNvPr id="7" name="Text 4"/>
          <p:cNvSpPr txBox="1"/>
          <p:nvPr/>
        </p:nvSpPr>
        <p:spPr>
          <a:xfrm>
            <a:off x="548640" y="5596128"/>
            <a:ext cx="11094415" cy="548640"/>
          </a:xfrm>
          <a:prstGeom prst="rect">
            <a:avLst/>
          </a:prstGeom>
          <a:noFill/>
          <a:ln/>
        </p:spPr>
        <p:txBody>
          <a:bodyPr wrap="square" lIns="0" tIns="0" rIns="0" bIns="0" rtlCol="0" anchor="t"/>
          <a:lstStyle/>
          <a:p>
            <a:pPr indent="0" marL="0">
              <a:lnSpc>
                <a:spcPts val="1600"/>
              </a:lnSpc>
              <a:buNone/>
            </a:pPr>
            <a:r>
              <a:rPr lang="en-US" sz="1150" dirty="0">
                <a:solidFill>
                  <a:srgbClr val="6B8F87"/>
                </a:solidFill>
                <a:latin typeface="Calibri" pitchFamily="34" charset="0"/>
                <a:ea typeface="Calibri" pitchFamily="34" charset="-122"/>
                <a:cs typeface="Calibri" pitchFamily="34" charset="-120"/>
              </a:rPr>
              <a:t>No rupee figures here on purpose — messaging rates, gateway percentages and courier slabs all need confirming against current provider pricing in Phase 0 before we quote anything. Fixed monthly costs sit on top: hosting for the API, worker, admin, Postgres and Redis, plus object storage, error tracking, and domain and TLS.</a:t>
            </a:r>
            <a:endParaRPr lang="en-US" sz="1150" dirty="0"/>
          </a:p>
        </p:txBody>
      </p:sp>
      <p:sp>
        <p:nvSpPr>
          <p:cNvPr id="9" name="Text 5"/>
          <p:cNvSpPr txBox="1"/>
          <p:nvPr/>
        </p:nvSpPr>
        <p:spPr>
          <a:xfrm>
            <a:off x="11094415" y="6199632"/>
            <a:ext cx="548640" cy="274320"/>
          </a:xfrm>
          <a:prstGeom prst="rect">
            <a:avLst/>
          </a:prstGeom>
          <a:noFill/>
          <a:ln/>
        </p:spPr>
        <p:txBody>
          <a:bodyPr wrap="square" lIns="0" tIns="0" rIns="0" bIns="0" rtlCol="0" anchor="ctr"/>
          <a:lstStyle/>
          <a:p>
            <a:pPr algn="r" indent="0" marL="0">
              <a:buNone/>
            </a:pPr>
            <a:r>
              <a:rPr lang="en-US" sz="1000" dirty="0">
                <a:solidFill>
                  <a:srgbClr val="9DB8B1"/>
                </a:solidFill>
                <a:latin typeface="Calibri" pitchFamily="34" charset="0"/>
                <a:ea typeface="Calibri" pitchFamily="34" charset="-122"/>
                <a:cs typeface="Calibri" pitchFamily="34" charset="-120"/>
              </a:rPr>
              <a:t>15</a:t>
            </a:r>
            <a:endParaRPr lang="en-US" sz="1000" dirty="0"/>
          </a:p>
        </p:txBody>
      </p:sp>
      <p:sp>
        <p:nvSpPr>
          <p:cNvPr id="10" name="Text 6"/>
          <p:cNvSpPr txBox="1"/>
          <p:nvPr/>
        </p:nvSpPr>
        <p:spPr>
          <a:xfrm>
            <a:off x="548640" y="6199632"/>
            <a:ext cx="4572000" cy="274320"/>
          </a:xfrm>
          <a:prstGeom prst="rect">
            <a:avLst/>
          </a:prstGeom>
          <a:noFill/>
          <a:ln/>
        </p:spPr>
        <p:txBody>
          <a:bodyPr wrap="square" lIns="0" tIns="0" rIns="0" bIns="0" rtlCol="0" anchor="ctr"/>
          <a:lstStyle/>
          <a:p>
            <a:pPr algn="l" indent="0" marL="0">
              <a:buNone/>
            </a:pPr>
            <a:r>
              <a:rPr lang="en-US" sz="900" dirty="0">
                <a:solidFill>
                  <a:srgbClr val="9DB8B1"/>
                </a:solidFill>
                <a:latin typeface="Calibri" pitchFamily="34" charset="0"/>
                <a:ea typeface="Calibri" pitchFamily="34" charset="-122"/>
                <a:cs typeface="Calibri" pitchFamily="34" charset="-120"/>
              </a:rPr>
              <a:t>WhatsApp Commerce Platform  ·  Implementation Plan v2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56032"/>
          </a:xfrm>
          <a:prstGeom prst="rect">
            <a:avLst/>
          </a:prstGeom>
          <a:noFill/>
          <a:ln/>
        </p:spPr>
        <p:txBody>
          <a:bodyPr wrap="square" lIns="0" tIns="0" rIns="0" bIns="0" rtlCol="0" anchor="ctr"/>
          <a:lstStyle/>
          <a:p>
            <a:pPr algn="l" indent="0" marL="0">
              <a:buNone/>
            </a:pPr>
            <a:r>
              <a:rPr lang="en-US" sz="1100" b="1" spc="200" kern="0" dirty="0">
                <a:solidFill>
                  <a:srgbClr val="0E6B5C"/>
                </a:solidFill>
                <a:latin typeface="Calibri" pitchFamily="34" charset="0"/>
                <a:ea typeface="Calibri" pitchFamily="34" charset="-122"/>
                <a:cs typeface="Calibri" pitchFamily="34" charset="-120"/>
              </a:rPr>
              <a:t>DELIVERY</a:t>
            </a:r>
            <a:endParaRPr lang="en-US" sz="1100" dirty="0"/>
          </a:p>
        </p:txBody>
      </p:sp>
      <p:sp>
        <p:nvSpPr>
          <p:cNvPr id="3" name="Text 1"/>
          <p:cNvSpPr txBox="1"/>
          <p:nvPr/>
        </p:nvSpPr>
        <p:spPr>
          <a:xfrm>
            <a:off x="548640" y="640080"/>
            <a:ext cx="11094415" cy="731520"/>
          </a:xfrm>
          <a:prstGeom prst="rect">
            <a:avLst/>
          </a:prstGeom>
          <a:noFill/>
          <a:ln/>
        </p:spPr>
        <p:txBody>
          <a:bodyPr wrap="square" lIns="0" tIns="0" rIns="0" bIns="0" rtlCol="0" anchor="ctr"/>
          <a:lstStyle/>
          <a:p>
            <a:pPr algn="l" indent="0" marL="0">
              <a:buNone/>
            </a:pPr>
            <a:r>
              <a:rPr lang="en-US" sz="3300" b="1" dirty="0">
                <a:solidFill>
                  <a:srgbClr val="1F2A28"/>
                </a:solidFill>
                <a:latin typeface="Cambria" pitchFamily="34" charset="0"/>
                <a:ea typeface="Cambria" pitchFamily="34" charset="-122"/>
                <a:cs typeface="Cambria" pitchFamily="34" charset="-120"/>
              </a:rPr>
              <a:t>Twenty weeks, six phases, one parallel track</a:t>
            </a:r>
            <a:endParaRPr lang="en-US" sz="3300" dirty="0"/>
          </a:p>
        </p:txBody>
      </p:sp>
      <p:sp>
        <p:nvSpPr>
          <p:cNvPr id="4" name="Text 2"/>
          <p:cNvSpPr txBox="1"/>
          <p:nvPr/>
        </p:nvSpPr>
        <p:spPr>
          <a:xfrm>
            <a:off x="2788920" y="1554480"/>
            <a:ext cx="871698" cy="256032"/>
          </a:xfrm>
          <a:prstGeom prst="rect">
            <a:avLst/>
          </a:prstGeom>
          <a:noFill/>
          <a:ln/>
        </p:spPr>
        <p:txBody>
          <a:bodyPr wrap="square" lIns="0" tIns="0" rIns="0" bIns="0" rtlCol="0" anchor="ctr"/>
          <a:lstStyle/>
          <a:p>
            <a:pPr algn="l" indent="0" marL="0">
              <a:buNone/>
            </a:pPr>
            <a:r>
              <a:rPr lang="en-US" sz="950" dirty="0">
                <a:solidFill>
                  <a:srgbClr val="6B8F87"/>
                </a:solidFill>
                <a:latin typeface="Calibri" pitchFamily="34" charset="0"/>
                <a:ea typeface="Calibri" pitchFamily="34" charset="-122"/>
                <a:cs typeface="Calibri" pitchFamily="34" charset="-120"/>
              </a:rPr>
              <a:t>W1</a:t>
            </a:r>
            <a:endParaRPr lang="en-US" sz="950" dirty="0"/>
          </a:p>
        </p:txBody>
      </p:sp>
      <p:sp>
        <p:nvSpPr>
          <p:cNvPr id="5" name="Text 3"/>
          <p:cNvSpPr txBox="1"/>
          <p:nvPr/>
        </p:nvSpPr>
        <p:spPr>
          <a:xfrm>
            <a:off x="3660618" y="1554480"/>
            <a:ext cx="871698" cy="256032"/>
          </a:xfrm>
          <a:prstGeom prst="rect">
            <a:avLst/>
          </a:prstGeom>
          <a:noFill/>
          <a:ln/>
        </p:spPr>
        <p:txBody>
          <a:bodyPr wrap="square" lIns="0" tIns="0" rIns="0" bIns="0" rtlCol="0" anchor="ctr"/>
          <a:lstStyle/>
          <a:p>
            <a:pPr algn="l" indent="0" marL="0">
              <a:buNone/>
            </a:pPr>
            <a:r>
              <a:rPr lang="en-US" sz="950" dirty="0">
                <a:solidFill>
                  <a:srgbClr val="6B8F87"/>
                </a:solidFill>
                <a:latin typeface="Calibri" pitchFamily="34" charset="0"/>
                <a:ea typeface="Calibri" pitchFamily="34" charset="-122"/>
                <a:cs typeface="Calibri" pitchFamily="34" charset="-120"/>
              </a:rPr>
              <a:t>W3</a:t>
            </a:r>
            <a:endParaRPr lang="en-US" sz="950" dirty="0"/>
          </a:p>
        </p:txBody>
      </p:sp>
      <p:sp>
        <p:nvSpPr>
          <p:cNvPr id="6" name="Text 4"/>
          <p:cNvSpPr txBox="1"/>
          <p:nvPr/>
        </p:nvSpPr>
        <p:spPr>
          <a:xfrm>
            <a:off x="4532315" y="1554480"/>
            <a:ext cx="871698" cy="256032"/>
          </a:xfrm>
          <a:prstGeom prst="rect">
            <a:avLst/>
          </a:prstGeom>
          <a:noFill/>
          <a:ln/>
        </p:spPr>
        <p:txBody>
          <a:bodyPr wrap="square" lIns="0" tIns="0" rIns="0" bIns="0" rtlCol="0" anchor="ctr"/>
          <a:lstStyle/>
          <a:p>
            <a:pPr algn="l" indent="0" marL="0">
              <a:buNone/>
            </a:pPr>
            <a:r>
              <a:rPr lang="en-US" sz="950" dirty="0">
                <a:solidFill>
                  <a:srgbClr val="6B8F87"/>
                </a:solidFill>
                <a:latin typeface="Calibri" pitchFamily="34" charset="0"/>
                <a:ea typeface="Calibri" pitchFamily="34" charset="-122"/>
                <a:cs typeface="Calibri" pitchFamily="34" charset="-120"/>
              </a:rPr>
              <a:t>W5</a:t>
            </a:r>
            <a:endParaRPr lang="en-US" sz="950" dirty="0"/>
          </a:p>
        </p:txBody>
      </p:sp>
      <p:sp>
        <p:nvSpPr>
          <p:cNvPr id="7" name="Text 5"/>
          <p:cNvSpPr txBox="1"/>
          <p:nvPr/>
        </p:nvSpPr>
        <p:spPr>
          <a:xfrm>
            <a:off x="5404013" y="1554480"/>
            <a:ext cx="871698" cy="256032"/>
          </a:xfrm>
          <a:prstGeom prst="rect">
            <a:avLst/>
          </a:prstGeom>
          <a:noFill/>
          <a:ln/>
        </p:spPr>
        <p:txBody>
          <a:bodyPr wrap="square" lIns="0" tIns="0" rIns="0" bIns="0" rtlCol="0" anchor="ctr"/>
          <a:lstStyle/>
          <a:p>
            <a:pPr algn="l" indent="0" marL="0">
              <a:buNone/>
            </a:pPr>
            <a:r>
              <a:rPr lang="en-US" sz="950" dirty="0">
                <a:solidFill>
                  <a:srgbClr val="6B8F87"/>
                </a:solidFill>
                <a:latin typeface="Calibri" pitchFamily="34" charset="0"/>
                <a:ea typeface="Calibri" pitchFamily="34" charset="-122"/>
                <a:cs typeface="Calibri" pitchFamily="34" charset="-120"/>
              </a:rPr>
              <a:t>W7</a:t>
            </a:r>
            <a:endParaRPr lang="en-US" sz="950" dirty="0"/>
          </a:p>
        </p:txBody>
      </p:sp>
      <p:sp>
        <p:nvSpPr>
          <p:cNvPr id="8" name="Text 6"/>
          <p:cNvSpPr txBox="1"/>
          <p:nvPr/>
        </p:nvSpPr>
        <p:spPr>
          <a:xfrm>
            <a:off x="6275710" y="1554480"/>
            <a:ext cx="871698" cy="256032"/>
          </a:xfrm>
          <a:prstGeom prst="rect">
            <a:avLst/>
          </a:prstGeom>
          <a:noFill/>
          <a:ln/>
        </p:spPr>
        <p:txBody>
          <a:bodyPr wrap="square" lIns="0" tIns="0" rIns="0" bIns="0" rtlCol="0" anchor="ctr"/>
          <a:lstStyle/>
          <a:p>
            <a:pPr algn="l" indent="0" marL="0">
              <a:buNone/>
            </a:pPr>
            <a:r>
              <a:rPr lang="en-US" sz="950" dirty="0">
                <a:solidFill>
                  <a:srgbClr val="6B8F87"/>
                </a:solidFill>
                <a:latin typeface="Calibri" pitchFamily="34" charset="0"/>
                <a:ea typeface="Calibri" pitchFamily="34" charset="-122"/>
                <a:cs typeface="Calibri" pitchFamily="34" charset="-120"/>
              </a:rPr>
              <a:t>W9</a:t>
            </a:r>
            <a:endParaRPr lang="en-US" sz="950" dirty="0"/>
          </a:p>
        </p:txBody>
      </p:sp>
      <p:sp>
        <p:nvSpPr>
          <p:cNvPr id="9" name="Text 7"/>
          <p:cNvSpPr txBox="1"/>
          <p:nvPr/>
        </p:nvSpPr>
        <p:spPr>
          <a:xfrm>
            <a:off x="7147408" y="1554480"/>
            <a:ext cx="871698" cy="256032"/>
          </a:xfrm>
          <a:prstGeom prst="rect">
            <a:avLst/>
          </a:prstGeom>
          <a:noFill/>
          <a:ln/>
        </p:spPr>
        <p:txBody>
          <a:bodyPr wrap="square" lIns="0" tIns="0" rIns="0" bIns="0" rtlCol="0" anchor="ctr"/>
          <a:lstStyle/>
          <a:p>
            <a:pPr algn="l" indent="0" marL="0">
              <a:buNone/>
            </a:pPr>
            <a:r>
              <a:rPr lang="en-US" sz="950" dirty="0">
                <a:solidFill>
                  <a:srgbClr val="6B8F87"/>
                </a:solidFill>
                <a:latin typeface="Calibri" pitchFamily="34" charset="0"/>
                <a:ea typeface="Calibri" pitchFamily="34" charset="-122"/>
                <a:cs typeface="Calibri" pitchFamily="34" charset="-120"/>
              </a:rPr>
              <a:t>W11</a:t>
            </a:r>
            <a:endParaRPr lang="en-US" sz="950" dirty="0"/>
          </a:p>
        </p:txBody>
      </p:sp>
      <p:sp>
        <p:nvSpPr>
          <p:cNvPr id="10" name="Text 8"/>
          <p:cNvSpPr txBox="1"/>
          <p:nvPr/>
        </p:nvSpPr>
        <p:spPr>
          <a:xfrm>
            <a:off x="8019105" y="1554480"/>
            <a:ext cx="871698" cy="256032"/>
          </a:xfrm>
          <a:prstGeom prst="rect">
            <a:avLst/>
          </a:prstGeom>
          <a:noFill/>
          <a:ln/>
        </p:spPr>
        <p:txBody>
          <a:bodyPr wrap="square" lIns="0" tIns="0" rIns="0" bIns="0" rtlCol="0" anchor="ctr"/>
          <a:lstStyle/>
          <a:p>
            <a:pPr algn="l" indent="0" marL="0">
              <a:buNone/>
            </a:pPr>
            <a:r>
              <a:rPr lang="en-US" sz="950" dirty="0">
                <a:solidFill>
                  <a:srgbClr val="6B8F87"/>
                </a:solidFill>
                <a:latin typeface="Calibri" pitchFamily="34" charset="0"/>
                <a:ea typeface="Calibri" pitchFamily="34" charset="-122"/>
                <a:cs typeface="Calibri" pitchFamily="34" charset="-120"/>
              </a:rPr>
              <a:t>W13</a:t>
            </a:r>
            <a:endParaRPr lang="en-US" sz="950" dirty="0"/>
          </a:p>
        </p:txBody>
      </p:sp>
      <p:sp>
        <p:nvSpPr>
          <p:cNvPr id="11" name="Text 9"/>
          <p:cNvSpPr txBox="1"/>
          <p:nvPr/>
        </p:nvSpPr>
        <p:spPr>
          <a:xfrm>
            <a:off x="8890803" y="1554480"/>
            <a:ext cx="871698" cy="256032"/>
          </a:xfrm>
          <a:prstGeom prst="rect">
            <a:avLst/>
          </a:prstGeom>
          <a:noFill/>
          <a:ln/>
        </p:spPr>
        <p:txBody>
          <a:bodyPr wrap="square" lIns="0" tIns="0" rIns="0" bIns="0" rtlCol="0" anchor="ctr"/>
          <a:lstStyle/>
          <a:p>
            <a:pPr algn="l" indent="0" marL="0">
              <a:buNone/>
            </a:pPr>
            <a:r>
              <a:rPr lang="en-US" sz="950" dirty="0">
                <a:solidFill>
                  <a:srgbClr val="6B8F87"/>
                </a:solidFill>
                <a:latin typeface="Calibri" pitchFamily="34" charset="0"/>
                <a:ea typeface="Calibri" pitchFamily="34" charset="-122"/>
                <a:cs typeface="Calibri" pitchFamily="34" charset="-120"/>
              </a:rPr>
              <a:t>W15</a:t>
            </a:r>
            <a:endParaRPr lang="en-US" sz="950" dirty="0"/>
          </a:p>
        </p:txBody>
      </p:sp>
      <p:sp>
        <p:nvSpPr>
          <p:cNvPr id="12" name="Text 10"/>
          <p:cNvSpPr txBox="1"/>
          <p:nvPr/>
        </p:nvSpPr>
        <p:spPr>
          <a:xfrm>
            <a:off x="9762500" y="1554480"/>
            <a:ext cx="871698" cy="256032"/>
          </a:xfrm>
          <a:prstGeom prst="rect">
            <a:avLst/>
          </a:prstGeom>
          <a:noFill/>
          <a:ln/>
        </p:spPr>
        <p:txBody>
          <a:bodyPr wrap="square" lIns="0" tIns="0" rIns="0" bIns="0" rtlCol="0" anchor="ctr"/>
          <a:lstStyle/>
          <a:p>
            <a:pPr algn="l" indent="0" marL="0">
              <a:buNone/>
            </a:pPr>
            <a:r>
              <a:rPr lang="en-US" sz="950" dirty="0">
                <a:solidFill>
                  <a:srgbClr val="6B8F87"/>
                </a:solidFill>
                <a:latin typeface="Calibri" pitchFamily="34" charset="0"/>
                <a:ea typeface="Calibri" pitchFamily="34" charset="-122"/>
                <a:cs typeface="Calibri" pitchFamily="34" charset="-120"/>
              </a:rPr>
              <a:t>W17</a:t>
            </a:r>
            <a:endParaRPr lang="en-US" sz="950" dirty="0"/>
          </a:p>
        </p:txBody>
      </p:sp>
      <p:sp>
        <p:nvSpPr>
          <p:cNvPr id="13" name="Text 11"/>
          <p:cNvSpPr txBox="1"/>
          <p:nvPr/>
        </p:nvSpPr>
        <p:spPr>
          <a:xfrm>
            <a:off x="10634198" y="1554480"/>
            <a:ext cx="871698" cy="256032"/>
          </a:xfrm>
          <a:prstGeom prst="rect">
            <a:avLst/>
          </a:prstGeom>
          <a:noFill/>
          <a:ln/>
        </p:spPr>
        <p:txBody>
          <a:bodyPr wrap="square" lIns="0" tIns="0" rIns="0" bIns="0" rtlCol="0" anchor="ctr"/>
          <a:lstStyle/>
          <a:p>
            <a:pPr algn="l" indent="0" marL="0">
              <a:buNone/>
            </a:pPr>
            <a:r>
              <a:rPr lang="en-US" sz="950" dirty="0">
                <a:solidFill>
                  <a:srgbClr val="6B8F87"/>
                </a:solidFill>
                <a:latin typeface="Calibri" pitchFamily="34" charset="0"/>
                <a:ea typeface="Calibri" pitchFamily="34" charset="-122"/>
                <a:cs typeface="Calibri" pitchFamily="34" charset="-120"/>
              </a:rPr>
              <a:t>W19</a:t>
            </a:r>
            <a:endParaRPr lang="en-US" sz="950" dirty="0"/>
          </a:p>
        </p:txBody>
      </p:sp>
      <p:sp>
        <p:nvSpPr>
          <p:cNvPr id="14" name="Text 12"/>
          <p:cNvSpPr txBox="1"/>
          <p:nvPr/>
        </p:nvSpPr>
        <p:spPr>
          <a:xfrm>
            <a:off x="548640" y="1874520"/>
            <a:ext cx="2148840" cy="365760"/>
          </a:xfrm>
          <a:prstGeom prst="rect">
            <a:avLst/>
          </a:prstGeom>
          <a:noFill/>
          <a:ln/>
        </p:spPr>
        <p:txBody>
          <a:bodyPr wrap="square" lIns="0" tIns="0" rIns="0" bIns="0" rtlCol="0" anchor="ctr"/>
          <a:lstStyle/>
          <a:p>
            <a:pPr indent="0" marL="0">
              <a:buNone/>
            </a:pPr>
            <a:r>
              <a:rPr lang="en-US" sz="1050" b="1" dirty="0">
                <a:solidFill>
                  <a:srgbClr val="B98A04"/>
                </a:solidFill>
                <a:latin typeface="Calibri" pitchFamily="34" charset="0"/>
                <a:ea typeface="Calibri" pitchFamily="34" charset="-122"/>
                <a:cs typeface="Calibri" pitchFamily="34" charset="-120"/>
              </a:rPr>
              <a:t>Track A · Compliance</a:t>
            </a:r>
            <a:endParaRPr lang="en-US" sz="1050" dirty="0"/>
          </a:p>
        </p:txBody>
      </p:sp>
      <p:sp>
        <p:nvSpPr>
          <p:cNvPr id="15" name="Shape 13"/>
          <p:cNvSpPr/>
          <p:nvPr/>
        </p:nvSpPr>
        <p:spPr>
          <a:xfrm>
            <a:off x="2788920" y="2043684"/>
            <a:ext cx="8716975" cy="27432"/>
          </a:xfrm>
          <a:prstGeom prst="rect">
            <a:avLst/>
          </a:prstGeom>
          <a:solidFill>
            <a:srgbClr val="E4EDEA"/>
          </a:solidFill>
          <a:ln/>
        </p:spPr>
      </p:sp>
      <p:sp>
        <p:nvSpPr>
          <p:cNvPr id="16" name="Shape 14"/>
          <p:cNvSpPr/>
          <p:nvPr/>
        </p:nvSpPr>
        <p:spPr>
          <a:xfrm>
            <a:off x="2788920" y="1874520"/>
            <a:ext cx="2560229" cy="365760"/>
          </a:xfrm>
          <a:prstGeom prst="roundRect">
            <a:avLst>
              <a:gd name="adj" fmla="val 15000"/>
            </a:avLst>
          </a:prstGeom>
          <a:solidFill>
            <a:srgbClr val="F2B705"/>
          </a:solidFill>
          <a:ln/>
        </p:spPr>
      </p:sp>
      <p:sp>
        <p:nvSpPr>
          <p:cNvPr id="17" name="Text 15"/>
          <p:cNvSpPr txBox="1"/>
          <p:nvPr/>
        </p:nvSpPr>
        <p:spPr>
          <a:xfrm>
            <a:off x="2788920" y="1874520"/>
            <a:ext cx="2560229" cy="365760"/>
          </a:xfrm>
          <a:prstGeom prst="rect">
            <a:avLst/>
          </a:prstGeom>
          <a:noFill/>
          <a:ln/>
        </p:spPr>
        <p:txBody>
          <a:bodyPr wrap="square" lIns="0" tIns="0" rIns="0" bIns="0" rtlCol="0" anchor="ctr"/>
          <a:lstStyle/>
          <a:p>
            <a:pPr algn="ctr" indent="0" marL="0">
              <a:buNone/>
            </a:pPr>
            <a:r>
              <a:rPr lang="en-US" sz="1000" b="1" dirty="0">
                <a:solidFill>
                  <a:srgbClr val="0B2B26"/>
                </a:solidFill>
                <a:latin typeface="Calibri" pitchFamily="34" charset="0"/>
                <a:ea typeface="Calibri" pitchFamily="34" charset="-122"/>
                <a:cs typeface="Calibri" pitchFamily="34" charset="-120"/>
              </a:rPr>
              <a:t>W1–6</a:t>
            </a:r>
            <a:endParaRPr lang="en-US" sz="1000" dirty="0"/>
          </a:p>
        </p:txBody>
      </p:sp>
      <p:sp>
        <p:nvSpPr>
          <p:cNvPr id="18" name="Text 16"/>
          <p:cNvSpPr txBox="1"/>
          <p:nvPr/>
        </p:nvSpPr>
        <p:spPr>
          <a:xfrm>
            <a:off x="5458877" y="1874520"/>
            <a:ext cx="1371600" cy="365760"/>
          </a:xfrm>
          <a:prstGeom prst="rect">
            <a:avLst/>
          </a:prstGeom>
          <a:noFill/>
          <a:ln/>
        </p:spPr>
        <p:txBody>
          <a:bodyPr wrap="square" lIns="0" tIns="0" rIns="0" bIns="0" rtlCol="0" anchor="ctr"/>
          <a:lstStyle/>
          <a:p>
            <a:pPr indent="0" marL="0">
              <a:buNone/>
            </a:pPr>
            <a:r>
              <a:rPr lang="en-US" sz="950" i="1" dirty="0">
                <a:solidFill>
                  <a:srgbClr val="B98A04"/>
                </a:solidFill>
                <a:latin typeface="Calibri" pitchFamily="34" charset="0"/>
                <a:ea typeface="Calibri" pitchFamily="34" charset="-122"/>
                <a:cs typeface="Calibri" pitchFamily="34" charset="-120"/>
              </a:rPr>
              <a:t>critical path</a:t>
            </a:r>
            <a:endParaRPr lang="en-US" sz="950" dirty="0"/>
          </a:p>
        </p:txBody>
      </p:sp>
      <p:sp>
        <p:nvSpPr>
          <p:cNvPr id="19" name="Text 17"/>
          <p:cNvSpPr txBox="1"/>
          <p:nvPr/>
        </p:nvSpPr>
        <p:spPr>
          <a:xfrm>
            <a:off x="548640" y="2322576"/>
            <a:ext cx="2148840" cy="365760"/>
          </a:xfrm>
          <a:prstGeom prst="rect">
            <a:avLst/>
          </a:prstGeom>
          <a:noFill/>
          <a:ln/>
        </p:spPr>
        <p:txBody>
          <a:bodyPr wrap="square" lIns="0" tIns="0" rIns="0" bIns="0" rtlCol="0" anchor="ctr"/>
          <a:lstStyle/>
          <a:p>
            <a:pPr indent="0" marL="0">
              <a:buNone/>
            </a:pPr>
            <a:r>
              <a:rPr lang="en-US" sz="1050" dirty="0">
                <a:solidFill>
                  <a:srgbClr val="1F2A28"/>
                </a:solidFill>
                <a:latin typeface="Calibri" pitchFamily="34" charset="0"/>
                <a:ea typeface="Calibri" pitchFamily="34" charset="-122"/>
                <a:cs typeface="Calibri" pitchFamily="34" charset="-120"/>
              </a:rPr>
              <a:t>Phase 0 · Discovery</a:t>
            </a:r>
            <a:endParaRPr lang="en-US" sz="1050" dirty="0"/>
          </a:p>
        </p:txBody>
      </p:sp>
      <p:sp>
        <p:nvSpPr>
          <p:cNvPr id="20" name="Shape 18"/>
          <p:cNvSpPr/>
          <p:nvPr/>
        </p:nvSpPr>
        <p:spPr>
          <a:xfrm>
            <a:off x="2788920" y="2491740"/>
            <a:ext cx="8716975" cy="27432"/>
          </a:xfrm>
          <a:prstGeom prst="rect">
            <a:avLst/>
          </a:prstGeom>
          <a:solidFill>
            <a:srgbClr val="E4EDEA"/>
          </a:solidFill>
          <a:ln/>
        </p:spPr>
      </p:sp>
      <p:sp>
        <p:nvSpPr>
          <p:cNvPr id="21" name="Shape 19"/>
          <p:cNvSpPr/>
          <p:nvPr/>
        </p:nvSpPr>
        <p:spPr>
          <a:xfrm>
            <a:off x="2788920" y="2322576"/>
            <a:ext cx="816834" cy="365760"/>
          </a:xfrm>
          <a:prstGeom prst="roundRect">
            <a:avLst>
              <a:gd name="adj" fmla="val 15000"/>
            </a:avLst>
          </a:prstGeom>
          <a:solidFill>
            <a:srgbClr val="0E6B5C"/>
          </a:solidFill>
          <a:ln/>
        </p:spPr>
      </p:sp>
      <p:sp>
        <p:nvSpPr>
          <p:cNvPr id="22" name="Text 20"/>
          <p:cNvSpPr txBox="1"/>
          <p:nvPr/>
        </p:nvSpPr>
        <p:spPr>
          <a:xfrm>
            <a:off x="2788920" y="2322576"/>
            <a:ext cx="816834"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W1–2</a:t>
            </a:r>
            <a:endParaRPr lang="en-US" sz="1000" dirty="0"/>
          </a:p>
        </p:txBody>
      </p:sp>
      <p:sp>
        <p:nvSpPr>
          <p:cNvPr id="23" name="Text 21"/>
          <p:cNvSpPr txBox="1"/>
          <p:nvPr/>
        </p:nvSpPr>
        <p:spPr>
          <a:xfrm>
            <a:off x="548640" y="2770632"/>
            <a:ext cx="2148840" cy="365760"/>
          </a:xfrm>
          <a:prstGeom prst="rect">
            <a:avLst/>
          </a:prstGeom>
          <a:noFill/>
          <a:ln/>
        </p:spPr>
        <p:txBody>
          <a:bodyPr wrap="square" lIns="0" tIns="0" rIns="0" bIns="0" rtlCol="0" anchor="ctr"/>
          <a:lstStyle/>
          <a:p>
            <a:pPr indent="0" marL="0">
              <a:buNone/>
            </a:pPr>
            <a:r>
              <a:rPr lang="en-US" sz="1050" dirty="0">
                <a:solidFill>
                  <a:srgbClr val="1F2A28"/>
                </a:solidFill>
                <a:latin typeface="Calibri" pitchFamily="34" charset="0"/>
                <a:ea typeface="Calibri" pitchFamily="34" charset="-122"/>
                <a:cs typeface="Calibri" pitchFamily="34" charset="-120"/>
              </a:rPr>
              <a:t>Phase 1 · Foundation</a:t>
            </a:r>
            <a:endParaRPr lang="en-US" sz="1050" dirty="0"/>
          </a:p>
        </p:txBody>
      </p:sp>
      <p:sp>
        <p:nvSpPr>
          <p:cNvPr id="24" name="Shape 22"/>
          <p:cNvSpPr/>
          <p:nvPr/>
        </p:nvSpPr>
        <p:spPr>
          <a:xfrm>
            <a:off x="2788920" y="2939796"/>
            <a:ext cx="8716975" cy="27432"/>
          </a:xfrm>
          <a:prstGeom prst="rect">
            <a:avLst/>
          </a:prstGeom>
          <a:solidFill>
            <a:srgbClr val="E4EDEA"/>
          </a:solidFill>
          <a:ln/>
        </p:spPr>
      </p:sp>
      <p:sp>
        <p:nvSpPr>
          <p:cNvPr id="25" name="Shape 23"/>
          <p:cNvSpPr/>
          <p:nvPr/>
        </p:nvSpPr>
        <p:spPr>
          <a:xfrm>
            <a:off x="3224769" y="2770632"/>
            <a:ext cx="1252682" cy="365760"/>
          </a:xfrm>
          <a:prstGeom prst="roundRect">
            <a:avLst>
              <a:gd name="adj" fmla="val 15000"/>
            </a:avLst>
          </a:prstGeom>
          <a:solidFill>
            <a:srgbClr val="0E6B5C"/>
          </a:solidFill>
          <a:ln/>
        </p:spPr>
      </p:sp>
      <p:sp>
        <p:nvSpPr>
          <p:cNvPr id="26" name="Text 24"/>
          <p:cNvSpPr txBox="1"/>
          <p:nvPr/>
        </p:nvSpPr>
        <p:spPr>
          <a:xfrm>
            <a:off x="3224769" y="2770632"/>
            <a:ext cx="1252682"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W2–4</a:t>
            </a:r>
            <a:endParaRPr lang="en-US" sz="1000" dirty="0"/>
          </a:p>
        </p:txBody>
      </p:sp>
      <p:sp>
        <p:nvSpPr>
          <p:cNvPr id="27" name="Text 25"/>
          <p:cNvSpPr txBox="1"/>
          <p:nvPr/>
        </p:nvSpPr>
        <p:spPr>
          <a:xfrm>
            <a:off x="548640" y="3218688"/>
            <a:ext cx="2148840" cy="365760"/>
          </a:xfrm>
          <a:prstGeom prst="rect">
            <a:avLst/>
          </a:prstGeom>
          <a:noFill/>
          <a:ln/>
        </p:spPr>
        <p:txBody>
          <a:bodyPr wrap="square" lIns="0" tIns="0" rIns="0" bIns="0" rtlCol="0" anchor="ctr"/>
          <a:lstStyle/>
          <a:p>
            <a:pPr indent="0" marL="0">
              <a:buNone/>
            </a:pPr>
            <a:r>
              <a:rPr lang="en-US" sz="1050" dirty="0">
                <a:solidFill>
                  <a:srgbClr val="1F2A28"/>
                </a:solidFill>
                <a:latin typeface="Calibri" pitchFamily="34" charset="0"/>
                <a:ea typeface="Calibri" pitchFamily="34" charset="-122"/>
                <a:cs typeface="Calibri" pitchFamily="34" charset="-120"/>
              </a:rPr>
              <a:t>Phase 2 · Catalogue &amp; flow</a:t>
            </a:r>
            <a:endParaRPr lang="en-US" sz="1050" dirty="0"/>
          </a:p>
        </p:txBody>
      </p:sp>
      <p:sp>
        <p:nvSpPr>
          <p:cNvPr id="28" name="Shape 26"/>
          <p:cNvSpPr/>
          <p:nvPr/>
        </p:nvSpPr>
        <p:spPr>
          <a:xfrm>
            <a:off x="2788920" y="3387852"/>
            <a:ext cx="8716975" cy="27432"/>
          </a:xfrm>
          <a:prstGeom prst="rect">
            <a:avLst/>
          </a:prstGeom>
          <a:solidFill>
            <a:srgbClr val="E4EDEA"/>
          </a:solidFill>
          <a:ln/>
        </p:spPr>
      </p:sp>
      <p:sp>
        <p:nvSpPr>
          <p:cNvPr id="29" name="Shape 27"/>
          <p:cNvSpPr/>
          <p:nvPr/>
        </p:nvSpPr>
        <p:spPr>
          <a:xfrm>
            <a:off x="4096466" y="3218688"/>
            <a:ext cx="1688531" cy="365760"/>
          </a:xfrm>
          <a:prstGeom prst="roundRect">
            <a:avLst>
              <a:gd name="adj" fmla="val 15000"/>
            </a:avLst>
          </a:prstGeom>
          <a:solidFill>
            <a:srgbClr val="0E6B5C"/>
          </a:solidFill>
          <a:ln/>
        </p:spPr>
      </p:sp>
      <p:sp>
        <p:nvSpPr>
          <p:cNvPr id="30" name="Text 28"/>
          <p:cNvSpPr txBox="1"/>
          <p:nvPr/>
        </p:nvSpPr>
        <p:spPr>
          <a:xfrm>
            <a:off x="4096466" y="3218688"/>
            <a:ext cx="1688531"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W4–7</a:t>
            </a:r>
            <a:endParaRPr lang="en-US" sz="1000" dirty="0"/>
          </a:p>
        </p:txBody>
      </p:sp>
      <p:sp>
        <p:nvSpPr>
          <p:cNvPr id="31" name="Text 29"/>
          <p:cNvSpPr txBox="1"/>
          <p:nvPr/>
        </p:nvSpPr>
        <p:spPr>
          <a:xfrm>
            <a:off x="548640" y="3666744"/>
            <a:ext cx="2148840" cy="365760"/>
          </a:xfrm>
          <a:prstGeom prst="rect">
            <a:avLst/>
          </a:prstGeom>
          <a:noFill/>
          <a:ln/>
        </p:spPr>
        <p:txBody>
          <a:bodyPr wrap="square" lIns="0" tIns="0" rIns="0" bIns="0" rtlCol="0" anchor="ctr"/>
          <a:lstStyle/>
          <a:p>
            <a:pPr indent="0" marL="0">
              <a:buNone/>
            </a:pPr>
            <a:r>
              <a:rPr lang="en-US" sz="1050" dirty="0">
                <a:solidFill>
                  <a:srgbClr val="1F2A28"/>
                </a:solidFill>
                <a:latin typeface="Calibri" pitchFamily="34" charset="0"/>
                <a:ea typeface="Calibri" pitchFamily="34" charset="-122"/>
                <a:cs typeface="Calibri" pitchFamily="34" charset="-120"/>
              </a:rPr>
              <a:t>Phase 3 · Location &amp; payment</a:t>
            </a:r>
            <a:endParaRPr lang="en-US" sz="1050" dirty="0"/>
          </a:p>
        </p:txBody>
      </p:sp>
      <p:sp>
        <p:nvSpPr>
          <p:cNvPr id="32" name="Shape 30"/>
          <p:cNvSpPr/>
          <p:nvPr/>
        </p:nvSpPr>
        <p:spPr>
          <a:xfrm>
            <a:off x="2788920" y="3835908"/>
            <a:ext cx="8716975" cy="27432"/>
          </a:xfrm>
          <a:prstGeom prst="rect">
            <a:avLst/>
          </a:prstGeom>
          <a:solidFill>
            <a:srgbClr val="E4EDEA"/>
          </a:solidFill>
          <a:ln/>
        </p:spPr>
      </p:sp>
      <p:sp>
        <p:nvSpPr>
          <p:cNvPr id="33" name="Shape 31"/>
          <p:cNvSpPr/>
          <p:nvPr/>
        </p:nvSpPr>
        <p:spPr>
          <a:xfrm>
            <a:off x="5404013" y="3666744"/>
            <a:ext cx="2124380" cy="365760"/>
          </a:xfrm>
          <a:prstGeom prst="roundRect">
            <a:avLst>
              <a:gd name="adj" fmla="val 15000"/>
            </a:avLst>
          </a:prstGeom>
          <a:solidFill>
            <a:srgbClr val="17A38C"/>
          </a:solidFill>
          <a:ln/>
        </p:spPr>
      </p:sp>
      <p:sp>
        <p:nvSpPr>
          <p:cNvPr id="34" name="Text 32"/>
          <p:cNvSpPr txBox="1"/>
          <p:nvPr/>
        </p:nvSpPr>
        <p:spPr>
          <a:xfrm>
            <a:off x="5404013" y="3666744"/>
            <a:ext cx="212438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W7–11</a:t>
            </a:r>
            <a:endParaRPr lang="en-US" sz="1000" dirty="0"/>
          </a:p>
        </p:txBody>
      </p:sp>
      <p:sp>
        <p:nvSpPr>
          <p:cNvPr id="35" name="Text 33"/>
          <p:cNvSpPr txBox="1"/>
          <p:nvPr/>
        </p:nvSpPr>
        <p:spPr>
          <a:xfrm>
            <a:off x="548640" y="4114800"/>
            <a:ext cx="2148840" cy="365760"/>
          </a:xfrm>
          <a:prstGeom prst="rect">
            <a:avLst/>
          </a:prstGeom>
          <a:noFill/>
          <a:ln/>
        </p:spPr>
        <p:txBody>
          <a:bodyPr wrap="square" lIns="0" tIns="0" rIns="0" bIns="0" rtlCol="0" anchor="ctr"/>
          <a:lstStyle/>
          <a:p>
            <a:pPr indent="0" marL="0">
              <a:buNone/>
            </a:pPr>
            <a:r>
              <a:rPr lang="en-US" sz="1050" dirty="0">
                <a:solidFill>
                  <a:srgbClr val="1F2A28"/>
                </a:solidFill>
                <a:latin typeface="Calibri" pitchFamily="34" charset="0"/>
                <a:ea typeface="Calibri" pitchFamily="34" charset="-122"/>
                <a:cs typeface="Calibri" pitchFamily="34" charset="-120"/>
              </a:rPr>
              <a:t>Phase 4 · Fulfilment &amp; tracking</a:t>
            </a:r>
            <a:endParaRPr lang="en-US" sz="1050" dirty="0"/>
          </a:p>
        </p:txBody>
      </p:sp>
      <p:sp>
        <p:nvSpPr>
          <p:cNvPr id="36" name="Shape 34"/>
          <p:cNvSpPr/>
          <p:nvPr/>
        </p:nvSpPr>
        <p:spPr>
          <a:xfrm>
            <a:off x="2788920" y="4283964"/>
            <a:ext cx="8716975" cy="27432"/>
          </a:xfrm>
          <a:prstGeom prst="rect">
            <a:avLst/>
          </a:prstGeom>
          <a:solidFill>
            <a:srgbClr val="E4EDEA"/>
          </a:solidFill>
          <a:ln/>
        </p:spPr>
      </p:sp>
      <p:sp>
        <p:nvSpPr>
          <p:cNvPr id="37" name="Shape 35"/>
          <p:cNvSpPr/>
          <p:nvPr/>
        </p:nvSpPr>
        <p:spPr>
          <a:xfrm>
            <a:off x="7147408" y="4114800"/>
            <a:ext cx="2124380" cy="365760"/>
          </a:xfrm>
          <a:prstGeom prst="roundRect">
            <a:avLst>
              <a:gd name="adj" fmla="val 15000"/>
            </a:avLst>
          </a:prstGeom>
          <a:solidFill>
            <a:srgbClr val="17A38C"/>
          </a:solidFill>
          <a:ln/>
        </p:spPr>
      </p:sp>
      <p:sp>
        <p:nvSpPr>
          <p:cNvPr id="38" name="Text 36"/>
          <p:cNvSpPr txBox="1"/>
          <p:nvPr/>
        </p:nvSpPr>
        <p:spPr>
          <a:xfrm>
            <a:off x="7147408" y="4114800"/>
            <a:ext cx="212438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W11–15</a:t>
            </a:r>
            <a:endParaRPr lang="en-US" sz="1000" dirty="0"/>
          </a:p>
        </p:txBody>
      </p:sp>
      <p:sp>
        <p:nvSpPr>
          <p:cNvPr id="39" name="Text 37"/>
          <p:cNvSpPr txBox="1"/>
          <p:nvPr/>
        </p:nvSpPr>
        <p:spPr>
          <a:xfrm>
            <a:off x="548640" y="4562856"/>
            <a:ext cx="2148840" cy="365760"/>
          </a:xfrm>
          <a:prstGeom prst="rect">
            <a:avLst/>
          </a:prstGeom>
          <a:noFill/>
          <a:ln/>
        </p:spPr>
        <p:txBody>
          <a:bodyPr wrap="square" lIns="0" tIns="0" rIns="0" bIns="0" rtlCol="0" anchor="ctr"/>
          <a:lstStyle/>
          <a:p>
            <a:pPr indent="0" marL="0">
              <a:buNone/>
            </a:pPr>
            <a:r>
              <a:rPr lang="en-US" sz="1050" dirty="0">
                <a:solidFill>
                  <a:srgbClr val="1F2A28"/>
                </a:solidFill>
                <a:latin typeface="Calibri" pitchFamily="34" charset="0"/>
                <a:ea typeface="Calibri" pitchFamily="34" charset="-122"/>
                <a:cs typeface="Calibri" pitchFamily="34" charset="-120"/>
              </a:rPr>
              <a:t>Phase 5 · Admin hardening</a:t>
            </a:r>
            <a:endParaRPr lang="en-US" sz="1050" dirty="0"/>
          </a:p>
        </p:txBody>
      </p:sp>
      <p:sp>
        <p:nvSpPr>
          <p:cNvPr id="40" name="Shape 38"/>
          <p:cNvSpPr/>
          <p:nvPr/>
        </p:nvSpPr>
        <p:spPr>
          <a:xfrm>
            <a:off x="2788920" y="4732020"/>
            <a:ext cx="8716975" cy="27432"/>
          </a:xfrm>
          <a:prstGeom prst="rect">
            <a:avLst/>
          </a:prstGeom>
          <a:solidFill>
            <a:srgbClr val="E4EDEA"/>
          </a:solidFill>
          <a:ln/>
        </p:spPr>
      </p:sp>
      <p:sp>
        <p:nvSpPr>
          <p:cNvPr id="41" name="Shape 39"/>
          <p:cNvSpPr/>
          <p:nvPr/>
        </p:nvSpPr>
        <p:spPr>
          <a:xfrm>
            <a:off x="8890803" y="4562856"/>
            <a:ext cx="1252682" cy="365760"/>
          </a:xfrm>
          <a:prstGeom prst="roundRect">
            <a:avLst>
              <a:gd name="adj" fmla="val 15000"/>
            </a:avLst>
          </a:prstGeom>
          <a:solidFill>
            <a:srgbClr val="0E6B5C"/>
          </a:solidFill>
          <a:ln/>
        </p:spPr>
      </p:sp>
      <p:sp>
        <p:nvSpPr>
          <p:cNvPr id="42" name="Text 40"/>
          <p:cNvSpPr txBox="1"/>
          <p:nvPr/>
        </p:nvSpPr>
        <p:spPr>
          <a:xfrm>
            <a:off x="8890803" y="4562856"/>
            <a:ext cx="1252682"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W15–17</a:t>
            </a:r>
            <a:endParaRPr lang="en-US" sz="1000" dirty="0"/>
          </a:p>
        </p:txBody>
      </p:sp>
      <p:sp>
        <p:nvSpPr>
          <p:cNvPr id="43" name="Text 41"/>
          <p:cNvSpPr txBox="1"/>
          <p:nvPr/>
        </p:nvSpPr>
        <p:spPr>
          <a:xfrm>
            <a:off x="548640" y="5010912"/>
            <a:ext cx="2148840" cy="365760"/>
          </a:xfrm>
          <a:prstGeom prst="rect">
            <a:avLst/>
          </a:prstGeom>
          <a:noFill/>
          <a:ln/>
        </p:spPr>
        <p:txBody>
          <a:bodyPr wrap="square" lIns="0" tIns="0" rIns="0" bIns="0" rtlCol="0" anchor="ctr"/>
          <a:lstStyle/>
          <a:p>
            <a:pPr indent="0" marL="0">
              <a:buNone/>
            </a:pPr>
            <a:r>
              <a:rPr lang="en-US" sz="1050" dirty="0">
                <a:solidFill>
                  <a:srgbClr val="1F2A28"/>
                </a:solidFill>
                <a:latin typeface="Calibri" pitchFamily="34" charset="0"/>
                <a:ea typeface="Calibri" pitchFamily="34" charset="-122"/>
                <a:cs typeface="Calibri" pitchFamily="34" charset="-120"/>
              </a:rPr>
              <a:t>Phase 6 · QA, UAT &amp; go-live</a:t>
            </a:r>
            <a:endParaRPr lang="en-US" sz="1050" dirty="0"/>
          </a:p>
        </p:txBody>
      </p:sp>
      <p:sp>
        <p:nvSpPr>
          <p:cNvPr id="44" name="Shape 42"/>
          <p:cNvSpPr/>
          <p:nvPr/>
        </p:nvSpPr>
        <p:spPr>
          <a:xfrm>
            <a:off x="2788920" y="5180076"/>
            <a:ext cx="8716975" cy="27432"/>
          </a:xfrm>
          <a:prstGeom prst="rect">
            <a:avLst/>
          </a:prstGeom>
          <a:solidFill>
            <a:srgbClr val="E4EDEA"/>
          </a:solidFill>
          <a:ln/>
        </p:spPr>
      </p:sp>
      <p:sp>
        <p:nvSpPr>
          <p:cNvPr id="45" name="Shape 43"/>
          <p:cNvSpPr/>
          <p:nvPr/>
        </p:nvSpPr>
        <p:spPr>
          <a:xfrm>
            <a:off x="9762500" y="5010912"/>
            <a:ext cx="1688531" cy="365760"/>
          </a:xfrm>
          <a:prstGeom prst="roundRect">
            <a:avLst>
              <a:gd name="adj" fmla="val 15000"/>
            </a:avLst>
          </a:prstGeom>
          <a:solidFill>
            <a:srgbClr val="0B2B26"/>
          </a:solidFill>
          <a:ln/>
        </p:spPr>
      </p:sp>
      <p:sp>
        <p:nvSpPr>
          <p:cNvPr id="46" name="Text 44"/>
          <p:cNvSpPr txBox="1"/>
          <p:nvPr/>
        </p:nvSpPr>
        <p:spPr>
          <a:xfrm>
            <a:off x="9762500" y="5010912"/>
            <a:ext cx="1688531"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W17–20</a:t>
            </a:r>
            <a:endParaRPr lang="en-US" sz="1000" dirty="0"/>
          </a:p>
        </p:txBody>
      </p:sp>
      <p:sp>
        <p:nvSpPr>
          <p:cNvPr id="47" name="Shape 45"/>
          <p:cNvSpPr/>
          <p:nvPr/>
        </p:nvSpPr>
        <p:spPr>
          <a:xfrm>
            <a:off x="548640" y="5468112"/>
            <a:ext cx="11094415" cy="640080"/>
          </a:xfrm>
          <a:prstGeom prst="roundRect">
            <a:avLst>
              <a:gd name="adj" fmla="val 14286"/>
            </a:avLst>
          </a:prstGeom>
          <a:solidFill>
            <a:srgbClr val="0B2B26"/>
          </a:solidFill>
          <a:ln/>
        </p:spPr>
      </p:sp>
      <p:sp>
        <p:nvSpPr>
          <p:cNvPr id="48" name="Text 46"/>
          <p:cNvSpPr txBox="1"/>
          <p:nvPr/>
        </p:nvSpPr>
        <p:spPr>
          <a:xfrm>
            <a:off x="868680" y="5468112"/>
            <a:ext cx="10454335" cy="640080"/>
          </a:xfrm>
          <a:prstGeom prst="rect">
            <a:avLst/>
          </a:prstGeom>
          <a:noFill/>
          <a:ln/>
        </p:spPr>
        <p:txBody>
          <a:bodyPr wrap="square" lIns="0" tIns="0" rIns="0" bIns="0" rtlCol="0" anchor="ctr"/>
          <a:lstStyle/>
          <a:p>
            <a:pPr indent="0" marL="0">
              <a:buNone/>
            </a:pPr>
            <a:r>
              <a:rPr lang="en-US" sz="1250" b="1" dirty="0">
                <a:solidFill>
                  <a:srgbClr val="F2B705"/>
                </a:solidFill>
                <a:latin typeface="Calibri" pitchFamily="34" charset="0"/>
                <a:ea typeface="Calibri" pitchFamily="34" charset="-122"/>
                <a:cs typeface="Calibri" pitchFamily="34" charset="-120"/>
              </a:rPr>
              <a:t>Track A runs from day one, in parallel with everything.  </a:t>
            </a:r>
            <a:pPr indent="0" marL="0">
              <a:buNone/>
            </a:pPr>
            <a:r>
              <a:rPr lang="en-US" sz="1250" dirty="0">
                <a:solidFill>
                  <a:srgbClr val="9DB8B1"/>
                </a:solidFill>
                <a:latin typeface="Calibri" pitchFamily="34" charset="0"/>
                <a:ea typeface="Calibri" pitchFamily="34" charset="-122"/>
                <a:cs typeface="Calibri" pitchFamily="34" charset="-120"/>
              </a:rPr>
              <a:t>All ten templates are submitted by week two, so rejections surface in week three while there is still time to fix them.</a:t>
            </a:r>
            <a:endParaRPr lang="en-US" sz="1250" dirty="0"/>
          </a:p>
        </p:txBody>
      </p:sp>
      <p:sp>
        <p:nvSpPr>
          <p:cNvPr id="50" name="Text 47"/>
          <p:cNvSpPr txBox="1"/>
          <p:nvPr/>
        </p:nvSpPr>
        <p:spPr>
          <a:xfrm>
            <a:off x="11094415" y="6199632"/>
            <a:ext cx="548640" cy="274320"/>
          </a:xfrm>
          <a:prstGeom prst="rect">
            <a:avLst/>
          </a:prstGeom>
          <a:noFill/>
          <a:ln/>
        </p:spPr>
        <p:txBody>
          <a:bodyPr wrap="square" lIns="0" tIns="0" rIns="0" bIns="0" rtlCol="0" anchor="ctr"/>
          <a:lstStyle/>
          <a:p>
            <a:pPr algn="r" indent="0" marL="0">
              <a:buNone/>
            </a:pPr>
            <a:r>
              <a:rPr lang="en-US" sz="1000" dirty="0">
                <a:solidFill>
                  <a:srgbClr val="9DB8B1"/>
                </a:solidFill>
                <a:latin typeface="Calibri" pitchFamily="34" charset="0"/>
                <a:ea typeface="Calibri" pitchFamily="34" charset="-122"/>
                <a:cs typeface="Calibri" pitchFamily="34" charset="-120"/>
              </a:rPr>
              <a:t>16</a:t>
            </a:r>
            <a:endParaRPr lang="en-US" sz="1000" dirty="0"/>
          </a:p>
        </p:txBody>
      </p:sp>
      <p:sp>
        <p:nvSpPr>
          <p:cNvPr id="51" name="Text 48"/>
          <p:cNvSpPr txBox="1"/>
          <p:nvPr/>
        </p:nvSpPr>
        <p:spPr>
          <a:xfrm>
            <a:off x="548640" y="6199632"/>
            <a:ext cx="4572000" cy="274320"/>
          </a:xfrm>
          <a:prstGeom prst="rect">
            <a:avLst/>
          </a:prstGeom>
          <a:noFill/>
          <a:ln/>
        </p:spPr>
        <p:txBody>
          <a:bodyPr wrap="square" lIns="0" tIns="0" rIns="0" bIns="0" rtlCol="0" anchor="ctr"/>
          <a:lstStyle/>
          <a:p>
            <a:pPr algn="l" indent="0" marL="0">
              <a:buNone/>
            </a:pPr>
            <a:r>
              <a:rPr lang="en-US" sz="900" dirty="0">
                <a:solidFill>
                  <a:srgbClr val="9DB8B1"/>
                </a:solidFill>
                <a:latin typeface="Calibri" pitchFamily="34" charset="0"/>
                <a:ea typeface="Calibri" pitchFamily="34" charset="-122"/>
                <a:cs typeface="Calibri" pitchFamily="34" charset="-120"/>
              </a:rPr>
              <a:t>WhatsApp Commerce Platform  ·  Implementation Plan v2</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2B26"/>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56032"/>
          </a:xfrm>
          <a:prstGeom prst="rect">
            <a:avLst/>
          </a:prstGeom>
          <a:noFill/>
          <a:ln/>
        </p:spPr>
        <p:txBody>
          <a:bodyPr wrap="square" lIns="0" tIns="0" rIns="0" bIns="0" rtlCol="0" anchor="ctr"/>
          <a:lstStyle/>
          <a:p>
            <a:pPr algn="l" indent="0" marL="0">
              <a:buNone/>
            </a:pPr>
            <a:r>
              <a:rPr lang="en-US" sz="1100" b="1" spc="200" kern="0" dirty="0">
                <a:solidFill>
                  <a:srgbClr val="F2B705"/>
                </a:solidFill>
                <a:latin typeface="Calibri" pitchFamily="34" charset="0"/>
                <a:ea typeface="Calibri" pitchFamily="34" charset="-122"/>
                <a:cs typeface="Calibri" pitchFamily="34" charset="-120"/>
              </a:rPr>
              <a:t>THE RISK NOBODY PLANS FOR</a:t>
            </a:r>
            <a:endParaRPr lang="en-US" sz="1100" dirty="0"/>
          </a:p>
        </p:txBody>
      </p:sp>
      <p:sp>
        <p:nvSpPr>
          <p:cNvPr id="3" name="Text 1"/>
          <p:cNvSpPr txBox="1"/>
          <p:nvPr/>
        </p:nvSpPr>
        <p:spPr>
          <a:xfrm>
            <a:off x="548640" y="640080"/>
            <a:ext cx="11094415" cy="731520"/>
          </a:xfrm>
          <a:prstGeom prst="rect">
            <a:avLst/>
          </a:prstGeom>
          <a:noFill/>
          <a:ln/>
        </p:spPr>
        <p:txBody>
          <a:bodyPr wrap="square" lIns="0" tIns="0" rIns="0" bIns="0" rtlCol="0" anchor="ctr"/>
          <a:lstStyle/>
          <a:p>
            <a:pPr algn="l" indent="0" marL="0">
              <a:buNone/>
            </a:pPr>
            <a:r>
              <a:rPr lang="en-US" sz="3300" b="1" dirty="0">
                <a:solidFill>
                  <a:srgbClr val="FFFFFF"/>
                </a:solidFill>
                <a:latin typeface="Cambria" pitchFamily="34" charset="0"/>
                <a:ea typeface="Cambria" pitchFamily="34" charset="-122"/>
                <a:cs typeface="Cambria" pitchFamily="34" charset="-120"/>
              </a:rPr>
              <a:t>The critical path is paperwork, not code</a:t>
            </a:r>
            <a:endParaRPr lang="en-US" sz="3300" dirty="0"/>
          </a:p>
        </p:txBody>
      </p:sp>
      <p:sp>
        <p:nvSpPr>
          <p:cNvPr id="4" name="Shape 2"/>
          <p:cNvSpPr/>
          <p:nvPr/>
        </p:nvSpPr>
        <p:spPr>
          <a:xfrm>
            <a:off x="548640" y="1737360"/>
            <a:ext cx="11094415" cy="658368"/>
          </a:xfrm>
          <a:prstGeom prst="roundRect">
            <a:avLst>
              <a:gd name="adj" fmla="val 13889"/>
            </a:avLst>
          </a:prstGeom>
          <a:solidFill>
            <a:srgbClr val="0B2B26"/>
          </a:solidFill>
          <a:ln w="12700">
            <a:solidFill>
              <a:srgbClr val="12403A"/>
            </a:solidFill>
            <a:prstDash val="solid"/>
          </a:ln>
        </p:spPr>
      </p:sp>
      <p:sp>
        <p:nvSpPr>
          <p:cNvPr id="5" name="Text 3"/>
          <p:cNvSpPr txBox="1"/>
          <p:nvPr/>
        </p:nvSpPr>
        <p:spPr>
          <a:xfrm>
            <a:off x="841248" y="1737360"/>
            <a:ext cx="310896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Meta business verification</a:t>
            </a:r>
            <a:endParaRPr lang="en-US" sz="1300" dirty="0"/>
          </a:p>
        </p:txBody>
      </p:sp>
      <p:sp>
        <p:nvSpPr>
          <p:cNvPr id="6" name="Text 4"/>
          <p:cNvSpPr txBox="1"/>
          <p:nvPr/>
        </p:nvSpPr>
        <p:spPr>
          <a:xfrm>
            <a:off x="4069080" y="1737360"/>
            <a:ext cx="3657600" cy="658368"/>
          </a:xfrm>
          <a:prstGeom prst="rect">
            <a:avLst/>
          </a:prstGeom>
          <a:noFill/>
          <a:ln/>
        </p:spPr>
        <p:txBody>
          <a:bodyPr wrap="square" lIns="0" tIns="0" rIns="0" bIns="0" rtlCol="0" anchor="ctr"/>
          <a:lstStyle/>
          <a:p>
            <a:pPr indent="0" marL="0">
              <a:buNone/>
            </a:pPr>
            <a:r>
              <a:rPr lang="en-US" sz="1150" dirty="0">
                <a:solidFill>
                  <a:srgbClr val="9DB8B1"/>
                </a:solidFill>
                <a:latin typeface="Calibri" pitchFamily="34" charset="0"/>
                <a:ea typeface="Calibri" pitchFamily="34" charset="-122"/>
                <a:cs typeface="Calibri" pitchFamily="34" charset="-120"/>
              </a:rPr>
              <a:t>Documents and business proof</a:t>
            </a:r>
            <a:endParaRPr lang="en-US" sz="1150" dirty="0"/>
          </a:p>
        </p:txBody>
      </p:sp>
      <p:sp>
        <p:nvSpPr>
          <p:cNvPr id="7" name="Text 5"/>
          <p:cNvSpPr txBox="1"/>
          <p:nvPr/>
        </p:nvSpPr>
        <p:spPr>
          <a:xfrm>
            <a:off x="7863840" y="1737360"/>
            <a:ext cx="1828800" cy="658368"/>
          </a:xfrm>
          <a:prstGeom prst="rect">
            <a:avLst/>
          </a:prstGeom>
          <a:noFill/>
          <a:ln/>
        </p:spPr>
        <p:txBody>
          <a:bodyPr wrap="square" lIns="0" tIns="0" rIns="0" bIns="0" rtlCol="0" anchor="ctr"/>
          <a:lstStyle/>
          <a:p>
            <a:pPr indent="0" marL="0">
              <a:buNone/>
            </a:pPr>
            <a:r>
              <a:rPr lang="en-US" sz="1250" b="1" dirty="0">
                <a:solidFill>
                  <a:srgbClr val="F2B705"/>
                </a:solidFill>
                <a:latin typeface="Calibri" pitchFamily="34" charset="0"/>
                <a:ea typeface="Calibri" pitchFamily="34" charset="-122"/>
                <a:cs typeface="Calibri" pitchFamily="34" charset="-120"/>
              </a:rPr>
              <a:t>1–3 weeks</a:t>
            </a:r>
            <a:endParaRPr lang="en-US" sz="1250" dirty="0"/>
          </a:p>
        </p:txBody>
      </p:sp>
      <p:sp>
        <p:nvSpPr>
          <p:cNvPr id="8" name="Text 6"/>
          <p:cNvSpPr txBox="1"/>
          <p:nvPr/>
        </p:nvSpPr>
        <p:spPr>
          <a:xfrm>
            <a:off x="9784080" y="1737360"/>
            <a:ext cx="1600200" cy="658368"/>
          </a:xfrm>
          <a:prstGeom prst="rect">
            <a:avLst/>
          </a:prstGeom>
          <a:noFill/>
          <a:ln/>
        </p:spPr>
        <p:txBody>
          <a:bodyPr wrap="square" lIns="0" tIns="0" rIns="0" bIns="0" rtlCol="0" anchor="ctr"/>
          <a:lstStyle/>
          <a:p>
            <a:pPr algn="r" indent="0" marL="0">
              <a:buNone/>
            </a:pPr>
            <a:r>
              <a:rPr lang="en-US" sz="1100" dirty="0">
                <a:solidFill>
                  <a:srgbClr val="6B8F87"/>
                </a:solidFill>
                <a:latin typeface="Calibri" pitchFamily="34" charset="0"/>
                <a:ea typeface="Calibri" pitchFamily="34" charset="-122"/>
                <a:cs typeface="Calibri" pitchFamily="34" charset="-120"/>
              </a:rPr>
              <a:t>Client + us</a:t>
            </a:r>
            <a:endParaRPr lang="en-US" sz="1100" dirty="0"/>
          </a:p>
        </p:txBody>
      </p:sp>
      <p:sp>
        <p:nvSpPr>
          <p:cNvPr id="9" name="Shape 7"/>
          <p:cNvSpPr/>
          <p:nvPr/>
        </p:nvSpPr>
        <p:spPr>
          <a:xfrm>
            <a:off x="548640" y="2496312"/>
            <a:ext cx="11094415" cy="658368"/>
          </a:xfrm>
          <a:prstGeom prst="roundRect">
            <a:avLst>
              <a:gd name="adj" fmla="val 13889"/>
            </a:avLst>
          </a:prstGeom>
          <a:solidFill>
            <a:srgbClr val="12403A"/>
          </a:solidFill>
          <a:ln w="12700">
            <a:solidFill>
              <a:srgbClr val="12403A"/>
            </a:solidFill>
            <a:prstDash val="solid"/>
          </a:ln>
        </p:spPr>
      </p:sp>
      <p:sp>
        <p:nvSpPr>
          <p:cNvPr id="10" name="Text 8"/>
          <p:cNvSpPr txBox="1"/>
          <p:nvPr/>
        </p:nvSpPr>
        <p:spPr>
          <a:xfrm>
            <a:off x="841248" y="2496312"/>
            <a:ext cx="310896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Display name approval</a:t>
            </a:r>
            <a:endParaRPr lang="en-US" sz="1300" dirty="0"/>
          </a:p>
        </p:txBody>
      </p:sp>
      <p:sp>
        <p:nvSpPr>
          <p:cNvPr id="11" name="Text 9"/>
          <p:cNvSpPr txBox="1"/>
          <p:nvPr/>
        </p:nvSpPr>
        <p:spPr>
          <a:xfrm>
            <a:off x="4069080" y="2496312"/>
            <a:ext cx="3657600" cy="658368"/>
          </a:xfrm>
          <a:prstGeom prst="rect">
            <a:avLst/>
          </a:prstGeom>
          <a:noFill/>
          <a:ln/>
        </p:spPr>
        <p:txBody>
          <a:bodyPr wrap="square" lIns="0" tIns="0" rIns="0" bIns="0" rtlCol="0" anchor="ctr"/>
          <a:lstStyle/>
          <a:p>
            <a:pPr indent="0" marL="0">
              <a:buNone/>
            </a:pPr>
            <a:r>
              <a:rPr lang="en-US" sz="1150" dirty="0">
                <a:solidFill>
                  <a:srgbClr val="9DB8B1"/>
                </a:solidFill>
                <a:latin typeface="Calibri" pitchFamily="34" charset="0"/>
                <a:ea typeface="Calibri" pitchFamily="34" charset="-122"/>
                <a:cs typeface="Calibri" pitchFamily="34" charset="-120"/>
              </a:rPr>
              <a:t>Can be rejected on wording</a:t>
            </a:r>
            <a:endParaRPr lang="en-US" sz="1150" dirty="0"/>
          </a:p>
        </p:txBody>
      </p:sp>
      <p:sp>
        <p:nvSpPr>
          <p:cNvPr id="12" name="Text 10"/>
          <p:cNvSpPr txBox="1"/>
          <p:nvPr/>
        </p:nvSpPr>
        <p:spPr>
          <a:xfrm>
            <a:off x="7863840" y="2496312"/>
            <a:ext cx="1828800" cy="658368"/>
          </a:xfrm>
          <a:prstGeom prst="rect">
            <a:avLst/>
          </a:prstGeom>
          <a:noFill/>
          <a:ln/>
        </p:spPr>
        <p:txBody>
          <a:bodyPr wrap="square" lIns="0" tIns="0" rIns="0" bIns="0" rtlCol="0" anchor="ctr"/>
          <a:lstStyle/>
          <a:p>
            <a:pPr indent="0" marL="0">
              <a:buNone/>
            </a:pPr>
            <a:r>
              <a:rPr lang="en-US" sz="1250" b="1" dirty="0">
                <a:solidFill>
                  <a:srgbClr val="F2B705"/>
                </a:solidFill>
                <a:latin typeface="Calibri" pitchFamily="34" charset="0"/>
                <a:ea typeface="Calibri" pitchFamily="34" charset="-122"/>
                <a:cs typeface="Calibri" pitchFamily="34" charset="-120"/>
              </a:rPr>
              <a:t>2–7 days</a:t>
            </a:r>
            <a:endParaRPr lang="en-US" sz="1250" dirty="0"/>
          </a:p>
        </p:txBody>
      </p:sp>
      <p:sp>
        <p:nvSpPr>
          <p:cNvPr id="13" name="Text 11"/>
          <p:cNvSpPr txBox="1"/>
          <p:nvPr/>
        </p:nvSpPr>
        <p:spPr>
          <a:xfrm>
            <a:off x="9784080" y="2496312"/>
            <a:ext cx="1600200" cy="658368"/>
          </a:xfrm>
          <a:prstGeom prst="rect">
            <a:avLst/>
          </a:prstGeom>
          <a:noFill/>
          <a:ln/>
        </p:spPr>
        <p:txBody>
          <a:bodyPr wrap="square" lIns="0" tIns="0" rIns="0" bIns="0" rtlCol="0" anchor="ctr"/>
          <a:lstStyle/>
          <a:p>
            <a:pPr algn="r" indent="0" marL="0">
              <a:buNone/>
            </a:pPr>
            <a:r>
              <a:rPr lang="en-US" sz="1100" dirty="0">
                <a:solidFill>
                  <a:srgbClr val="6B8F87"/>
                </a:solidFill>
                <a:latin typeface="Calibri" pitchFamily="34" charset="0"/>
                <a:ea typeface="Calibri" pitchFamily="34" charset="-122"/>
                <a:cs typeface="Calibri" pitchFamily="34" charset="-120"/>
              </a:rPr>
              <a:t>Client</a:t>
            </a:r>
            <a:endParaRPr lang="en-US" sz="1100" dirty="0"/>
          </a:p>
        </p:txBody>
      </p:sp>
      <p:sp>
        <p:nvSpPr>
          <p:cNvPr id="14" name="Shape 12"/>
          <p:cNvSpPr/>
          <p:nvPr/>
        </p:nvSpPr>
        <p:spPr>
          <a:xfrm>
            <a:off x="548640" y="3255264"/>
            <a:ext cx="11094415" cy="658368"/>
          </a:xfrm>
          <a:prstGeom prst="roundRect">
            <a:avLst>
              <a:gd name="adj" fmla="val 13889"/>
            </a:avLst>
          </a:prstGeom>
          <a:solidFill>
            <a:srgbClr val="0B2B26"/>
          </a:solidFill>
          <a:ln w="12700">
            <a:solidFill>
              <a:srgbClr val="12403A"/>
            </a:solidFill>
            <a:prstDash val="solid"/>
          </a:ln>
        </p:spPr>
      </p:sp>
      <p:sp>
        <p:nvSpPr>
          <p:cNvPr id="15" name="Text 13"/>
          <p:cNvSpPr txBox="1"/>
          <p:nvPr/>
        </p:nvSpPr>
        <p:spPr>
          <a:xfrm>
            <a:off x="841248" y="3255264"/>
            <a:ext cx="310896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Template approval</a:t>
            </a:r>
            <a:endParaRPr lang="en-US" sz="1300" dirty="0"/>
          </a:p>
        </p:txBody>
      </p:sp>
      <p:sp>
        <p:nvSpPr>
          <p:cNvPr id="16" name="Text 14"/>
          <p:cNvSpPr txBox="1"/>
          <p:nvPr/>
        </p:nvSpPr>
        <p:spPr>
          <a:xfrm>
            <a:off x="4069080" y="3255264"/>
            <a:ext cx="3657600" cy="658368"/>
          </a:xfrm>
          <a:prstGeom prst="rect">
            <a:avLst/>
          </a:prstGeom>
          <a:noFill/>
          <a:ln/>
        </p:spPr>
        <p:txBody>
          <a:bodyPr wrap="square" lIns="0" tIns="0" rIns="0" bIns="0" rtlCol="0" anchor="ctr"/>
          <a:lstStyle/>
          <a:p>
            <a:pPr indent="0" marL="0">
              <a:buNone/>
            </a:pPr>
            <a:r>
              <a:rPr lang="en-US" sz="1150" dirty="0">
                <a:solidFill>
                  <a:srgbClr val="9DB8B1"/>
                </a:solidFill>
                <a:latin typeface="Calibri" pitchFamily="34" charset="0"/>
                <a:ea typeface="Calibri" pitchFamily="34" charset="-122"/>
                <a:cs typeface="Calibri" pitchFamily="34" charset="-120"/>
              </a:rPr>
              <a:t>Per template, per language, ten of them</a:t>
            </a:r>
            <a:endParaRPr lang="en-US" sz="1150" dirty="0"/>
          </a:p>
        </p:txBody>
      </p:sp>
      <p:sp>
        <p:nvSpPr>
          <p:cNvPr id="17" name="Text 15"/>
          <p:cNvSpPr txBox="1"/>
          <p:nvPr/>
        </p:nvSpPr>
        <p:spPr>
          <a:xfrm>
            <a:off x="7863840" y="3255264"/>
            <a:ext cx="1828800" cy="658368"/>
          </a:xfrm>
          <a:prstGeom prst="rect">
            <a:avLst/>
          </a:prstGeom>
          <a:noFill/>
          <a:ln/>
        </p:spPr>
        <p:txBody>
          <a:bodyPr wrap="square" lIns="0" tIns="0" rIns="0" bIns="0" rtlCol="0" anchor="ctr"/>
          <a:lstStyle/>
          <a:p>
            <a:pPr indent="0" marL="0">
              <a:buNone/>
            </a:pPr>
            <a:r>
              <a:rPr lang="en-US" sz="1250" b="1" dirty="0">
                <a:solidFill>
                  <a:srgbClr val="F2B705"/>
                </a:solidFill>
                <a:latin typeface="Calibri" pitchFamily="34" charset="0"/>
                <a:ea typeface="Calibri" pitchFamily="34" charset="-122"/>
                <a:cs typeface="Calibri" pitchFamily="34" charset="-120"/>
              </a:rPr>
              <a:t>1–3 days each</a:t>
            </a:r>
            <a:endParaRPr lang="en-US" sz="1250" dirty="0"/>
          </a:p>
        </p:txBody>
      </p:sp>
      <p:sp>
        <p:nvSpPr>
          <p:cNvPr id="18" name="Text 16"/>
          <p:cNvSpPr txBox="1"/>
          <p:nvPr/>
        </p:nvSpPr>
        <p:spPr>
          <a:xfrm>
            <a:off x="9784080" y="3255264"/>
            <a:ext cx="1600200" cy="658368"/>
          </a:xfrm>
          <a:prstGeom prst="rect">
            <a:avLst/>
          </a:prstGeom>
          <a:noFill/>
          <a:ln/>
        </p:spPr>
        <p:txBody>
          <a:bodyPr wrap="square" lIns="0" tIns="0" rIns="0" bIns="0" rtlCol="0" anchor="ctr"/>
          <a:lstStyle/>
          <a:p>
            <a:pPr algn="r" indent="0" marL="0">
              <a:buNone/>
            </a:pPr>
            <a:r>
              <a:rPr lang="en-US" sz="1100" dirty="0">
                <a:solidFill>
                  <a:srgbClr val="6B8F87"/>
                </a:solidFill>
                <a:latin typeface="Calibri" pitchFamily="34" charset="0"/>
                <a:ea typeface="Calibri" pitchFamily="34" charset="-122"/>
                <a:cs typeface="Calibri" pitchFamily="34" charset="-120"/>
              </a:rPr>
              <a:t>Us</a:t>
            </a:r>
            <a:endParaRPr lang="en-US" sz="1100" dirty="0"/>
          </a:p>
        </p:txBody>
      </p:sp>
      <p:sp>
        <p:nvSpPr>
          <p:cNvPr id="19" name="Shape 17"/>
          <p:cNvSpPr/>
          <p:nvPr/>
        </p:nvSpPr>
        <p:spPr>
          <a:xfrm>
            <a:off x="548640" y="4014216"/>
            <a:ext cx="11094415" cy="658368"/>
          </a:xfrm>
          <a:prstGeom prst="roundRect">
            <a:avLst>
              <a:gd name="adj" fmla="val 13889"/>
            </a:avLst>
          </a:prstGeom>
          <a:solidFill>
            <a:srgbClr val="12403A"/>
          </a:solidFill>
          <a:ln w="12700">
            <a:solidFill>
              <a:srgbClr val="12403A"/>
            </a:solidFill>
            <a:prstDash val="solid"/>
          </a:ln>
        </p:spPr>
      </p:sp>
      <p:sp>
        <p:nvSpPr>
          <p:cNvPr id="20" name="Text 18"/>
          <p:cNvSpPr txBox="1"/>
          <p:nvPr/>
        </p:nvSpPr>
        <p:spPr>
          <a:xfrm>
            <a:off x="841248" y="4014216"/>
            <a:ext cx="310896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Payment gateway KYC</a:t>
            </a:r>
            <a:endParaRPr lang="en-US" sz="1300" dirty="0"/>
          </a:p>
        </p:txBody>
      </p:sp>
      <p:sp>
        <p:nvSpPr>
          <p:cNvPr id="21" name="Text 19"/>
          <p:cNvSpPr txBox="1"/>
          <p:nvPr/>
        </p:nvSpPr>
        <p:spPr>
          <a:xfrm>
            <a:off x="4069080" y="4014216"/>
            <a:ext cx="3657600" cy="658368"/>
          </a:xfrm>
          <a:prstGeom prst="rect">
            <a:avLst/>
          </a:prstGeom>
          <a:noFill/>
          <a:ln/>
        </p:spPr>
        <p:txBody>
          <a:bodyPr wrap="square" lIns="0" tIns="0" rIns="0" bIns="0" rtlCol="0" anchor="ctr"/>
          <a:lstStyle/>
          <a:p>
            <a:pPr indent="0" marL="0">
              <a:buNone/>
            </a:pPr>
            <a:r>
              <a:rPr lang="en-US" sz="1150" dirty="0">
                <a:solidFill>
                  <a:srgbClr val="9DB8B1"/>
                </a:solidFill>
                <a:latin typeface="Calibri" pitchFamily="34" charset="0"/>
                <a:ea typeface="Calibri" pitchFamily="34" charset="-122"/>
                <a:cs typeface="Calibri" pitchFamily="34" charset="-120"/>
              </a:rPr>
              <a:t>Merchant onboarding</a:t>
            </a:r>
            <a:endParaRPr lang="en-US" sz="1150" dirty="0"/>
          </a:p>
        </p:txBody>
      </p:sp>
      <p:sp>
        <p:nvSpPr>
          <p:cNvPr id="22" name="Text 20"/>
          <p:cNvSpPr txBox="1"/>
          <p:nvPr/>
        </p:nvSpPr>
        <p:spPr>
          <a:xfrm>
            <a:off x="7863840" y="4014216"/>
            <a:ext cx="1828800" cy="658368"/>
          </a:xfrm>
          <a:prstGeom prst="rect">
            <a:avLst/>
          </a:prstGeom>
          <a:noFill/>
          <a:ln/>
        </p:spPr>
        <p:txBody>
          <a:bodyPr wrap="square" lIns="0" tIns="0" rIns="0" bIns="0" rtlCol="0" anchor="ctr"/>
          <a:lstStyle/>
          <a:p>
            <a:pPr indent="0" marL="0">
              <a:buNone/>
            </a:pPr>
            <a:r>
              <a:rPr lang="en-US" sz="1250" b="1" dirty="0">
                <a:solidFill>
                  <a:srgbClr val="F2B705"/>
                </a:solidFill>
                <a:latin typeface="Calibri" pitchFamily="34" charset="0"/>
                <a:ea typeface="Calibri" pitchFamily="34" charset="-122"/>
                <a:cs typeface="Calibri" pitchFamily="34" charset="-120"/>
              </a:rPr>
              <a:t>1–2 weeks</a:t>
            </a:r>
            <a:endParaRPr lang="en-US" sz="1250" dirty="0"/>
          </a:p>
        </p:txBody>
      </p:sp>
      <p:sp>
        <p:nvSpPr>
          <p:cNvPr id="23" name="Text 21"/>
          <p:cNvSpPr txBox="1"/>
          <p:nvPr/>
        </p:nvSpPr>
        <p:spPr>
          <a:xfrm>
            <a:off x="9784080" y="4014216"/>
            <a:ext cx="1600200" cy="658368"/>
          </a:xfrm>
          <a:prstGeom prst="rect">
            <a:avLst/>
          </a:prstGeom>
          <a:noFill/>
          <a:ln/>
        </p:spPr>
        <p:txBody>
          <a:bodyPr wrap="square" lIns="0" tIns="0" rIns="0" bIns="0" rtlCol="0" anchor="ctr"/>
          <a:lstStyle/>
          <a:p>
            <a:pPr algn="r" indent="0" marL="0">
              <a:buNone/>
            </a:pPr>
            <a:r>
              <a:rPr lang="en-US" sz="1100" dirty="0">
                <a:solidFill>
                  <a:srgbClr val="6B8F87"/>
                </a:solidFill>
                <a:latin typeface="Calibri" pitchFamily="34" charset="0"/>
                <a:ea typeface="Calibri" pitchFamily="34" charset="-122"/>
                <a:cs typeface="Calibri" pitchFamily="34" charset="-120"/>
              </a:rPr>
              <a:t>Client</a:t>
            </a:r>
            <a:endParaRPr lang="en-US" sz="1100" dirty="0"/>
          </a:p>
        </p:txBody>
      </p:sp>
      <p:sp>
        <p:nvSpPr>
          <p:cNvPr id="24" name="Shape 22"/>
          <p:cNvSpPr/>
          <p:nvPr/>
        </p:nvSpPr>
        <p:spPr>
          <a:xfrm>
            <a:off x="548640" y="4773168"/>
            <a:ext cx="11094415" cy="658368"/>
          </a:xfrm>
          <a:prstGeom prst="roundRect">
            <a:avLst>
              <a:gd name="adj" fmla="val 13889"/>
            </a:avLst>
          </a:prstGeom>
          <a:solidFill>
            <a:srgbClr val="0B2B26"/>
          </a:solidFill>
          <a:ln w="12700">
            <a:solidFill>
              <a:srgbClr val="12403A"/>
            </a:solidFill>
            <a:prstDash val="solid"/>
          </a:ln>
        </p:spPr>
      </p:sp>
      <p:sp>
        <p:nvSpPr>
          <p:cNvPr id="25" name="Text 23"/>
          <p:cNvSpPr txBox="1"/>
          <p:nvPr/>
        </p:nvSpPr>
        <p:spPr>
          <a:xfrm>
            <a:off x="841248" y="4773168"/>
            <a:ext cx="310896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Courier account</a:t>
            </a:r>
            <a:endParaRPr lang="en-US" sz="1300" dirty="0"/>
          </a:p>
        </p:txBody>
      </p:sp>
      <p:sp>
        <p:nvSpPr>
          <p:cNvPr id="26" name="Text 24"/>
          <p:cNvSpPr txBox="1"/>
          <p:nvPr/>
        </p:nvSpPr>
        <p:spPr>
          <a:xfrm>
            <a:off x="4069080" y="4773168"/>
            <a:ext cx="3657600" cy="658368"/>
          </a:xfrm>
          <a:prstGeom prst="rect">
            <a:avLst/>
          </a:prstGeom>
          <a:noFill/>
          <a:ln/>
        </p:spPr>
        <p:txBody>
          <a:bodyPr wrap="square" lIns="0" tIns="0" rIns="0" bIns="0" rtlCol="0" anchor="ctr"/>
          <a:lstStyle/>
          <a:p>
            <a:pPr indent="0" marL="0">
              <a:buNone/>
            </a:pPr>
            <a:r>
              <a:rPr lang="en-US" sz="1150" dirty="0">
                <a:solidFill>
                  <a:srgbClr val="9DB8B1"/>
                </a:solidFill>
                <a:latin typeface="Calibri" pitchFamily="34" charset="0"/>
                <a:ea typeface="Calibri" pitchFamily="34" charset="-122"/>
                <a:cs typeface="Calibri" pitchFamily="34" charset="-120"/>
              </a:rPr>
              <a:t>Contract and API credentials</a:t>
            </a:r>
            <a:endParaRPr lang="en-US" sz="1150" dirty="0"/>
          </a:p>
        </p:txBody>
      </p:sp>
      <p:sp>
        <p:nvSpPr>
          <p:cNvPr id="27" name="Text 25"/>
          <p:cNvSpPr txBox="1"/>
          <p:nvPr/>
        </p:nvSpPr>
        <p:spPr>
          <a:xfrm>
            <a:off x="7863840" y="4773168"/>
            <a:ext cx="1828800" cy="658368"/>
          </a:xfrm>
          <a:prstGeom prst="rect">
            <a:avLst/>
          </a:prstGeom>
          <a:noFill/>
          <a:ln/>
        </p:spPr>
        <p:txBody>
          <a:bodyPr wrap="square" lIns="0" tIns="0" rIns="0" bIns="0" rtlCol="0" anchor="ctr"/>
          <a:lstStyle/>
          <a:p>
            <a:pPr indent="0" marL="0">
              <a:buNone/>
            </a:pPr>
            <a:r>
              <a:rPr lang="en-US" sz="1250" b="1" dirty="0">
                <a:solidFill>
                  <a:srgbClr val="F2B705"/>
                </a:solidFill>
                <a:latin typeface="Calibri" pitchFamily="34" charset="0"/>
                <a:ea typeface="Calibri" pitchFamily="34" charset="-122"/>
                <a:cs typeface="Calibri" pitchFamily="34" charset="-120"/>
              </a:rPr>
              <a:t>1–2 weeks</a:t>
            </a:r>
            <a:endParaRPr lang="en-US" sz="1250" dirty="0"/>
          </a:p>
        </p:txBody>
      </p:sp>
      <p:sp>
        <p:nvSpPr>
          <p:cNvPr id="28" name="Text 26"/>
          <p:cNvSpPr txBox="1"/>
          <p:nvPr/>
        </p:nvSpPr>
        <p:spPr>
          <a:xfrm>
            <a:off x="9784080" y="4773168"/>
            <a:ext cx="1600200" cy="658368"/>
          </a:xfrm>
          <a:prstGeom prst="rect">
            <a:avLst/>
          </a:prstGeom>
          <a:noFill/>
          <a:ln/>
        </p:spPr>
        <p:txBody>
          <a:bodyPr wrap="square" lIns="0" tIns="0" rIns="0" bIns="0" rtlCol="0" anchor="ctr"/>
          <a:lstStyle/>
          <a:p>
            <a:pPr algn="r" indent="0" marL="0">
              <a:buNone/>
            </a:pPr>
            <a:r>
              <a:rPr lang="en-US" sz="1100" dirty="0">
                <a:solidFill>
                  <a:srgbClr val="6B8F87"/>
                </a:solidFill>
                <a:latin typeface="Calibri" pitchFamily="34" charset="0"/>
                <a:ea typeface="Calibri" pitchFamily="34" charset="-122"/>
                <a:cs typeface="Calibri" pitchFamily="34" charset="-120"/>
              </a:rPr>
              <a:t>Client</a:t>
            </a:r>
            <a:endParaRPr lang="en-US" sz="1100" dirty="0"/>
          </a:p>
        </p:txBody>
      </p:sp>
      <p:sp>
        <p:nvSpPr>
          <p:cNvPr id="29" name="Text 27"/>
          <p:cNvSpPr txBox="1"/>
          <p:nvPr/>
        </p:nvSpPr>
        <p:spPr>
          <a:xfrm>
            <a:off x="548640" y="5522976"/>
            <a:ext cx="11094415" cy="603504"/>
          </a:xfrm>
          <a:prstGeom prst="rect">
            <a:avLst/>
          </a:prstGeom>
          <a:noFill/>
          <a:ln/>
        </p:spPr>
        <p:txBody>
          <a:bodyPr wrap="square" lIns="0" tIns="0" rIns="0" bIns="0" rtlCol="0" anchor="ctr"/>
          <a:lstStyle/>
          <a:p>
            <a:pPr indent="0" marL="0">
              <a:lnSpc>
                <a:spcPts val="1900"/>
              </a:lnSpc>
              <a:buNone/>
            </a:pPr>
            <a:r>
              <a:rPr lang="en-US" sz="1300" dirty="0">
                <a:solidFill>
                  <a:srgbClr val="F1F6F4"/>
                </a:solidFill>
                <a:latin typeface="Calibri" pitchFamily="34" charset="0"/>
                <a:ea typeface="Calibri" pitchFamily="34" charset="-122"/>
                <a:cs typeface="Calibri" pitchFamily="34" charset="-120"/>
              </a:rPr>
              <a:t>Every one of these is external, slow, and capable of rejection. None of them can be sprinted. If they start in week one, we ship in twenty weeks; if they start when the code is ready, the date is anyone's guess.</a:t>
            </a:r>
            <a:endParaRPr lang="en-US" sz="1300" dirty="0"/>
          </a:p>
        </p:txBody>
      </p:sp>
      <p:sp>
        <p:nvSpPr>
          <p:cNvPr id="31" name="Text 28"/>
          <p:cNvSpPr txBox="1"/>
          <p:nvPr/>
        </p:nvSpPr>
        <p:spPr>
          <a:xfrm>
            <a:off x="11094415" y="6199632"/>
            <a:ext cx="548640" cy="274320"/>
          </a:xfrm>
          <a:prstGeom prst="rect">
            <a:avLst/>
          </a:prstGeom>
          <a:noFill/>
          <a:ln/>
        </p:spPr>
        <p:txBody>
          <a:bodyPr wrap="square" lIns="0" tIns="0" rIns="0" bIns="0" rtlCol="0" anchor="ctr"/>
          <a:lstStyle/>
          <a:p>
            <a:pPr algn="r" indent="0" marL="0">
              <a:buNone/>
            </a:pPr>
            <a:r>
              <a:rPr lang="en-US" sz="1000" dirty="0">
                <a:solidFill>
                  <a:srgbClr val="6B8F87"/>
                </a:solidFill>
                <a:latin typeface="Calibri" pitchFamily="34" charset="0"/>
                <a:ea typeface="Calibri" pitchFamily="34" charset="-122"/>
                <a:cs typeface="Calibri" pitchFamily="34" charset="-120"/>
              </a:rPr>
              <a:t>17</a:t>
            </a:r>
            <a:endParaRPr lang="en-US" sz="1000" dirty="0"/>
          </a:p>
        </p:txBody>
      </p:sp>
      <p:sp>
        <p:nvSpPr>
          <p:cNvPr id="32" name="Text 29"/>
          <p:cNvSpPr txBox="1"/>
          <p:nvPr/>
        </p:nvSpPr>
        <p:spPr>
          <a:xfrm>
            <a:off x="548640" y="6199632"/>
            <a:ext cx="4572000" cy="274320"/>
          </a:xfrm>
          <a:prstGeom prst="rect">
            <a:avLst/>
          </a:prstGeom>
          <a:noFill/>
          <a:ln/>
        </p:spPr>
        <p:txBody>
          <a:bodyPr wrap="square" lIns="0" tIns="0" rIns="0" bIns="0" rtlCol="0" anchor="ctr"/>
          <a:lstStyle/>
          <a:p>
            <a:pPr algn="l" indent="0" marL="0">
              <a:buNone/>
            </a:pPr>
            <a:r>
              <a:rPr lang="en-US" sz="900" dirty="0">
                <a:solidFill>
                  <a:srgbClr val="6B8F87"/>
                </a:solidFill>
                <a:latin typeface="Calibri" pitchFamily="34" charset="0"/>
                <a:ea typeface="Calibri" pitchFamily="34" charset="-122"/>
                <a:cs typeface="Calibri" pitchFamily="34" charset="-120"/>
              </a:rPr>
              <a:t>WhatsApp Commerce Platform  ·  Implementation Plan v2</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56032"/>
          </a:xfrm>
          <a:prstGeom prst="rect">
            <a:avLst/>
          </a:prstGeom>
          <a:noFill/>
          <a:ln/>
        </p:spPr>
        <p:txBody>
          <a:bodyPr wrap="square" lIns="0" tIns="0" rIns="0" bIns="0" rtlCol="0" anchor="ctr"/>
          <a:lstStyle/>
          <a:p>
            <a:pPr algn="l" indent="0" marL="0">
              <a:buNone/>
            </a:pPr>
            <a:r>
              <a:rPr lang="en-US" sz="1100" b="1" spc="200" kern="0" dirty="0">
                <a:solidFill>
                  <a:srgbClr val="0E6B5C"/>
                </a:solidFill>
                <a:latin typeface="Calibri" pitchFamily="34" charset="0"/>
                <a:ea typeface="Calibri" pitchFamily="34" charset="-122"/>
                <a:cs typeface="Calibri" pitchFamily="34" charset="-120"/>
              </a:rPr>
              <a:t>RISK</a:t>
            </a:r>
            <a:endParaRPr lang="en-US" sz="1100" dirty="0"/>
          </a:p>
        </p:txBody>
      </p:sp>
      <p:sp>
        <p:nvSpPr>
          <p:cNvPr id="3" name="Text 1"/>
          <p:cNvSpPr txBox="1"/>
          <p:nvPr/>
        </p:nvSpPr>
        <p:spPr>
          <a:xfrm>
            <a:off x="548640" y="640080"/>
            <a:ext cx="11094415" cy="731520"/>
          </a:xfrm>
          <a:prstGeom prst="rect">
            <a:avLst/>
          </a:prstGeom>
          <a:noFill/>
          <a:ln/>
        </p:spPr>
        <p:txBody>
          <a:bodyPr wrap="square" lIns="0" tIns="0" rIns="0" bIns="0" rtlCol="0" anchor="ctr"/>
          <a:lstStyle/>
          <a:p>
            <a:pPr algn="l" indent="0" marL="0">
              <a:buNone/>
            </a:pPr>
            <a:r>
              <a:rPr lang="en-US" sz="3300" b="1" dirty="0">
                <a:solidFill>
                  <a:srgbClr val="1F2A28"/>
                </a:solidFill>
                <a:latin typeface="Cambria" pitchFamily="34" charset="0"/>
                <a:ea typeface="Cambria" pitchFamily="34" charset="-122"/>
                <a:cs typeface="Cambria" pitchFamily="34" charset="-120"/>
              </a:rPr>
              <a:t>What could go wrong, and what we do about it</a:t>
            </a:r>
            <a:endParaRPr lang="en-US" sz="3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520440"/>
                <a:gridCol w="2377440"/>
                <a:gridCol w="5193792"/>
              </a:tblGrid>
              <a:tr h="3840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Risk</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0B2B2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Impact</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0B2B2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Mitigation</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0B2B26"/>
                    </a:solidFill>
                  </a:tcPr>
                </a:tc>
              </a:tr>
              <a:tr h="566928">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Meta verification or template rejection</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Go-live blocked</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Track A starts week one; all templates in by week two; spare copy variants ready</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r>
              <a:tr h="512064">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Customer denies location permission</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Checkout dead-ends</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Mandatory typed-address fallback that forward-geocodes to coordinates</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r>
              <a:tr h="566928">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Client expects live location inside WhatsApp</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Expectation gap at UAT</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Capability documented now; tracking-page approach agreed in writing at kickoff</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r>
              <a:tr h="566928">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Rider GPS drops or app is backgrounded</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Tracking gaps</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Show last-known position with its timestamp; never render a stale pin as current</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r>
              <a:tr h="475488">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Duplicate provider webhooks</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Duplicate orders or corrupt status</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Idempotency keys plus raw event storage and replay</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r>
              <a:tr h="512064">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Messaging tier cap hit at launch</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Customers unreachable</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c>
                  <a:txBody>
                    <a:bodyPr/>
                    <a:lstStyle/>
                    <a:p>
                      <a:pPr indent="0" marL="0">
                        <a:buNone/>
                      </a:pPr>
                      <a:r>
                        <a:rPr lang="en-US" sz="1150" dirty="0">
                          <a:solidFill>
                            <a:srgbClr val="1F2A28"/>
                          </a:solidFill>
                          <a:latin typeface="Calibri" pitchFamily="34" charset="0"/>
                          <a:ea typeface="Calibri" pitchFamily="34" charset="-122"/>
                          <a:cs typeface="Calibri" pitchFamily="34" charset="-120"/>
                        </a:rPr>
                        <a:t>Model launch volume against the starting tier; monitor quality rating daily</a:t>
                      </a:r>
                      <a:endParaRPr lang="en-US" sz="1150" dirty="0">
                        <a:latin typeface="Calibri" charset="0"/>
                        <a:ea typeface="Calibri" charset="0"/>
                        <a:cs typeface="Calibri" charset="0"/>
                      </a:endParaRPr>
                    </a:p>
                  </a:txBody>
                  <a:tcPr marL="91440" marR="91440" marT="91440" marB="91440" anchor="ctr">
                    <a:lnL w="12700" cap="flat" cmpd="sng" algn="ctr">
                      <a:solidFill>
                        <a:srgbClr val="E4EDEA"/>
                      </a:solidFill>
                      <a:prstDash val="solid"/>
                      <a:round/>
                      <a:headEnd type="none" w="med" len="med"/>
                      <a:tailEnd type="none" w="med" len="med"/>
                    </a:lnL>
                    <a:lnR w="12700" cap="flat" cmpd="sng" algn="ctr">
                      <a:solidFill>
                        <a:srgbClr val="E4EDEA"/>
                      </a:solidFill>
                      <a:prstDash val="solid"/>
                      <a:round/>
                      <a:headEnd type="none" w="med" len="med"/>
                      <a:tailEnd type="none" w="med" len="med"/>
                    </a:lnR>
                    <a:lnT w="12700" cap="flat" cmpd="sng" algn="ctr">
                      <a:solidFill>
                        <a:srgbClr val="E4EDEA"/>
                      </a:solidFill>
                      <a:prstDash val="solid"/>
                      <a:round/>
                      <a:headEnd type="none" w="med" len="med"/>
                      <a:tailEnd type="none" w="med" len="med"/>
                    </a:lnT>
                    <a:lnB w="12700" cap="flat" cmpd="sng" algn="ctr">
                      <a:solidFill>
                        <a:srgbClr val="E4EDEA"/>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623560"/>
            <a:ext cx="11094415" cy="548640"/>
          </a:xfrm>
          <a:prstGeom prst="rect">
            <a:avLst/>
          </a:prstGeom>
          <a:noFill/>
          <a:ln/>
        </p:spPr>
        <p:txBody>
          <a:bodyPr wrap="square" lIns="0" tIns="0" rIns="0" bIns="0" rtlCol="0" anchor="ctr"/>
          <a:lstStyle/>
          <a:p>
            <a:pPr indent="0" marL="0">
              <a:lnSpc>
                <a:spcPts val="1800"/>
              </a:lnSpc>
              <a:buNone/>
            </a:pPr>
            <a:r>
              <a:rPr lang="en-US" sz="1250" i="1" dirty="0">
                <a:solidFill>
                  <a:srgbClr val="0E6B5C"/>
                </a:solidFill>
                <a:latin typeface="Calibri" pitchFamily="34" charset="0"/>
                <a:ea typeface="Calibri" pitchFamily="34" charset="-122"/>
                <a:cs typeface="Calibri" pitchFamily="34" charset="-120"/>
              </a:rPr>
              <a:t>The third row is the one to settle today — it is an expectation risk, not a technical one, and it is cheapest to fix before anyone has promised a client a moving dot inside WhatsApp.</a:t>
            </a:r>
            <a:endParaRPr lang="en-US" sz="1250" dirty="0"/>
          </a:p>
        </p:txBody>
      </p:sp>
      <p:sp>
        <p:nvSpPr>
          <p:cNvPr id="7" name="Text 3"/>
          <p:cNvSpPr txBox="1"/>
          <p:nvPr/>
        </p:nvSpPr>
        <p:spPr>
          <a:xfrm>
            <a:off x="11094415" y="6199632"/>
            <a:ext cx="548640" cy="274320"/>
          </a:xfrm>
          <a:prstGeom prst="rect">
            <a:avLst/>
          </a:prstGeom>
          <a:noFill/>
          <a:ln/>
        </p:spPr>
        <p:txBody>
          <a:bodyPr wrap="square" lIns="0" tIns="0" rIns="0" bIns="0" rtlCol="0" anchor="ctr"/>
          <a:lstStyle/>
          <a:p>
            <a:pPr algn="r" indent="0" marL="0">
              <a:buNone/>
            </a:pPr>
            <a:r>
              <a:rPr lang="en-US" sz="1000" dirty="0">
                <a:solidFill>
                  <a:srgbClr val="9DB8B1"/>
                </a:solidFill>
                <a:latin typeface="Calibri" pitchFamily="34" charset="0"/>
                <a:ea typeface="Calibri" pitchFamily="34" charset="-122"/>
                <a:cs typeface="Calibri" pitchFamily="34" charset="-120"/>
              </a:rPr>
              <a:t>18</a:t>
            </a:r>
            <a:endParaRPr lang="en-US" sz="1000" dirty="0"/>
          </a:p>
        </p:txBody>
      </p:sp>
      <p:sp>
        <p:nvSpPr>
          <p:cNvPr id="8" name="Text 4"/>
          <p:cNvSpPr txBox="1"/>
          <p:nvPr/>
        </p:nvSpPr>
        <p:spPr>
          <a:xfrm>
            <a:off x="548640" y="6199632"/>
            <a:ext cx="4572000" cy="274320"/>
          </a:xfrm>
          <a:prstGeom prst="rect">
            <a:avLst/>
          </a:prstGeom>
          <a:noFill/>
          <a:ln/>
        </p:spPr>
        <p:txBody>
          <a:bodyPr wrap="square" lIns="0" tIns="0" rIns="0" bIns="0" rtlCol="0" anchor="ctr"/>
          <a:lstStyle/>
          <a:p>
            <a:pPr algn="l" indent="0" marL="0">
              <a:buNone/>
            </a:pPr>
            <a:r>
              <a:rPr lang="en-US" sz="900" dirty="0">
                <a:solidFill>
                  <a:srgbClr val="9DB8B1"/>
                </a:solidFill>
                <a:latin typeface="Calibri" pitchFamily="34" charset="0"/>
                <a:ea typeface="Calibri" pitchFamily="34" charset="-122"/>
                <a:cs typeface="Calibri" pitchFamily="34" charset="-120"/>
              </a:rPr>
              <a:t>WhatsApp Commerce Platform  ·  Implementation Plan v2</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256032"/>
          </a:xfrm>
          <a:prstGeom prst="rect">
            <a:avLst/>
          </a:prstGeom>
          <a:noFill/>
          <a:ln/>
        </p:spPr>
        <p:txBody>
          <a:bodyPr wrap="square" lIns="0" tIns="0" rIns="0" bIns="0" rtlCol="0" anchor="ctr"/>
          <a:lstStyle/>
          <a:p>
            <a:pPr algn="l" indent="0" marL="0">
              <a:buNone/>
            </a:pPr>
            <a:r>
              <a:rPr lang="en-US" sz="1100" b="1" spc="200" kern="0" dirty="0">
                <a:solidFill>
                  <a:srgbClr val="0E6B5C"/>
                </a:solidFill>
                <a:latin typeface="Calibri" pitchFamily="34" charset="0"/>
                <a:ea typeface="Calibri" pitchFamily="34" charset="-122"/>
                <a:cs typeface="Calibri" pitchFamily="34" charset="-120"/>
              </a:rPr>
              <a:t>OVER TO YOU</a:t>
            </a:r>
            <a:endParaRPr lang="en-US" sz="1100" dirty="0"/>
          </a:p>
        </p:txBody>
      </p:sp>
      <p:sp>
        <p:nvSpPr>
          <p:cNvPr id="3" name="Text 1"/>
          <p:cNvSpPr txBox="1"/>
          <p:nvPr/>
        </p:nvSpPr>
        <p:spPr>
          <a:xfrm>
            <a:off x="548640" y="640080"/>
            <a:ext cx="11094415" cy="731520"/>
          </a:xfrm>
          <a:prstGeom prst="rect">
            <a:avLst/>
          </a:prstGeom>
          <a:noFill/>
          <a:ln/>
        </p:spPr>
        <p:txBody>
          <a:bodyPr wrap="square" lIns="0" tIns="0" rIns="0" bIns="0" rtlCol="0" anchor="ctr"/>
          <a:lstStyle/>
          <a:p>
            <a:pPr algn="l" indent="0" marL="0">
              <a:buNone/>
            </a:pPr>
            <a:r>
              <a:rPr lang="en-US" sz="3300" b="1" dirty="0">
                <a:solidFill>
                  <a:srgbClr val="1F2A28"/>
                </a:solidFill>
                <a:latin typeface="Cambria" pitchFamily="34" charset="0"/>
                <a:ea typeface="Cambria" pitchFamily="34" charset="-122"/>
                <a:cs typeface="Cambria" pitchFamily="34" charset="-120"/>
              </a:rPr>
              <a:t>Six decisions we need before build starts</a:t>
            </a:r>
            <a:endParaRPr lang="en-US" sz="3300" dirty="0"/>
          </a:p>
        </p:txBody>
      </p:sp>
      <p:sp>
        <p:nvSpPr>
          <p:cNvPr id="4" name="Shape 2"/>
          <p:cNvSpPr/>
          <p:nvPr/>
        </p:nvSpPr>
        <p:spPr>
          <a:xfrm>
            <a:off x="548640" y="1691640"/>
            <a:ext cx="5341468" cy="1225296"/>
          </a:xfrm>
          <a:prstGeom prst="roundRect">
            <a:avLst>
              <a:gd name="adj" fmla="val 7463"/>
            </a:avLst>
          </a:prstGeom>
          <a:solidFill>
            <a:srgbClr val="F1F6F4"/>
          </a:solidFill>
          <a:ln w="15875">
            <a:solidFill>
              <a:srgbClr val="E4EDEA"/>
            </a:solidFill>
            <a:prstDash val="solid"/>
          </a:ln>
        </p:spPr>
      </p:sp>
      <p:sp>
        <p:nvSpPr>
          <p:cNvPr id="5" name="Shape 3"/>
          <p:cNvSpPr/>
          <p:nvPr/>
        </p:nvSpPr>
        <p:spPr>
          <a:xfrm>
            <a:off x="822960" y="1929384"/>
            <a:ext cx="420624" cy="420624"/>
          </a:xfrm>
          <a:prstGeom prst="ellipse">
            <a:avLst/>
          </a:prstGeom>
          <a:solidFill>
            <a:srgbClr val="0E6B5C"/>
          </a:solidFill>
          <a:ln/>
        </p:spPr>
      </p:sp>
      <p:sp>
        <p:nvSpPr>
          <p:cNvPr id="6" name="Text 4"/>
          <p:cNvSpPr txBox="1"/>
          <p:nvPr/>
        </p:nvSpPr>
        <p:spPr>
          <a:xfrm>
            <a:off x="822960" y="192938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371600" y="1892808"/>
            <a:ext cx="4244188" cy="384048"/>
          </a:xfrm>
          <a:prstGeom prst="rect">
            <a:avLst/>
          </a:prstGeom>
          <a:noFill/>
          <a:ln/>
        </p:spPr>
        <p:txBody>
          <a:bodyPr wrap="square" lIns="0" tIns="0" rIns="0" bIns="0" rtlCol="0" anchor="ctr"/>
          <a:lstStyle/>
          <a:p>
            <a:pPr indent="0" marL="0">
              <a:buNone/>
            </a:pPr>
            <a:r>
              <a:rPr lang="en-US" sz="1350" b="1" dirty="0">
                <a:solidFill>
                  <a:srgbClr val="1F2A28"/>
                </a:solidFill>
                <a:latin typeface="Calibri" pitchFamily="34" charset="0"/>
                <a:ea typeface="Calibri" pitchFamily="34" charset="-122"/>
                <a:cs typeface="Calibri" pitchFamily="34" charset="-120"/>
              </a:rPr>
              <a:t>Direct Cloud API, or go through a BSP?</a:t>
            </a:r>
            <a:endParaRPr lang="en-US" sz="1350" dirty="0"/>
          </a:p>
        </p:txBody>
      </p:sp>
      <p:sp>
        <p:nvSpPr>
          <p:cNvPr id="8" name="Text 6"/>
          <p:cNvSpPr txBox="1"/>
          <p:nvPr/>
        </p:nvSpPr>
        <p:spPr>
          <a:xfrm>
            <a:off x="1371600" y="2276856"/>
            <a:ext cx="4244188" cy="365760"/>
          </a:xfrm>
          <a:prstGeom prst="rect">
            <a:avLst/>
          </a:prstGeom>
          <a:noFill/>
          <a:ln/>
        </p:spPr>
        <p:txBody>
          <a:bodyPr wrap="square" lIns="0" tIns="0" rIns="0" bIns="0" rtlCol="0" anchor="t"/>
          <a:lstStyle/>
          <a:p>
            <a:pPr indent="0" marL="0">
              <a:buNone/>
            </a:pPr>
            <a:r>
              <a:rPr lang="en-US" sz="1100" dirty="0">
                <a:solidFill>
                  <a:srgbClr val="6B8F87"/>
                </a:solidFill>
                <a:latin typeface="Calibri" pitchFamily="34" charset="0"/>
                <a:ea typeface="Calibri" pitchFamily="34" charset="-122"/>
                <a:cs typeface="Calibri" pitchFamily="34" charset="-120"/>
              </a:rPr>
              <a:t>Changes per-message cost, template workflow, and how much we build ourselves.</a:t>
            </a:r>
            <a:endParaRPr lang="en-US" sz="1100" dirty="0"/>
          </a:p>
        </p:txBody>
      </p:sp>
      <p:sp>
        <p:nvSpPr>
          <p:cNvPr id="9" name="Text 7"/>
          <p:cNvSpPr txBox="1"/>
          <p:nvPr/>
        </p:nvSpPr>
        <p:spPr>
          <a:xfrm>
            <a:off x="1371600" y="2642616"/>
            <a:ext cx="4244188" cy="256032"/>
          </a:xfrm>
          <a:prstGeom prst="rect">
            <a:avLst/>
          </a:prstGeom>
          <a:noFill/>
          <a:ln/>
        </p:spPr>
        <p:txBody>
          <a:bodyPr wrap="square" lIns="0" tIns="0" rIns="0" bIns="0" rtlCol="0" anchor="ctr"/>
          <a:lstStyle/>
          <a:p>
            <a:pPr indent="0" marL="0">
              <a:buNone/>
            </a:pPr>
            <a:r>
              <a:rPr lang="en-US" sz="1050" i="1" dirty="0">
                <a:solidFill>
                  <a:srgbClr val="0E6B5C"/>
                </a:solidFill>
                <a:latin typeface="Calibri" pitchFamily="34" charset="0"/>
                <a:ea typeface="Calibri" pitchFamily="34" charset="-122"/>
                <a:cs typeface="Calibri" pitchFamily="34" charset="-120"/>
              </a:rPr>
              <a:t>Recommend direct, isolated behind an interface.</a:t>
            </a:r>
            <a:endParaRPr lang="en-US" sz="1050" dirty="0"/>
          </a:p>
        </p:txBody>
      </p:sp>
      <p:sp>
        <p:nvSpPr>
          <p:cNvPr id="10" name="Shape 8"/>
          <p:cNvSpPr/>
          <p:nvPr/>
        </p:nvSpPr>
        <p:spPr>
          <a:xfrm>
            <a:off x="6301588" y="1691640"/>
            <a:ext cx="5341468" cy="1225296"/>
          </a:xfrm>
          <a:prstGeom prst="roundRect">
            <a:avLst>
              <a:gd name="adj" fmla="val 7463"/>
            </a:avLst>
          </a:prstGeom>
          <a:solidFill>
            <a:srgbClr val="FFFFFF"/>
          </a:solidFill>
          <a:ln w="15875">
            <a:solidFill>
              <a:srgbClr val="E4EDEA"/>
            </a:solidFill>
            <a:prstDash val="solid"/>
          </a:ln>
        </p:spPr>
      </p:sp>
      <p:sp>
        <p:nvSpPr>
          <p:cNvPr id="11" name="Shape 9"/>
          <p:cNvSpPr/>
          <p:nvPr/>
        </p:nvSpPr>
        <p:spPr>
          <a:xfrm>
            <a:off x="6575908" y="1929384"/>
            <a:ext cx="420624" cy="420624"/>
          </a:xfrm>
          <a:prstGeom prst="ellipse">
            <a:avLst/>
          </a:prstGeom>
          <a:solidFill>
            <a:srgbClr val="0E6B5C"/>
          </a:solidFill>
          <a:ln/>
        </p:spPr>
      </p:sp>
      <p:sp>
        <p:nvSpPr>
          <p:cNvPr id="12" name="Text 10"/>
          <p:cNvSpPr txBox="1"/>
          <p:nvPr/>
        </p:nvSpPr>
        <p:spPr>
          <a:xfrm>
            <a:off x="6575908" y="192938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7124548" y="1892808"/>
            <a:ext cx="4244188" cy="384048"/>
          </a:xfrm>
          <a:prstGeom prst="rect">
            <a:avLst/>
          </a:prstGeom>
          <a:noFill/>
          <a:ln/>
        </p:spPr>
        <p:txBody>
          <a:bodyPr wrap="square" lIns="0" tIns="0" rIns="0" bIns="0" rtlCol="0" anchor="ctr"/>
          <a:lstStyle/>
          <a:p>
            <a:pPr indent="0" marL="0">
              <a:buNone/>
            </a:pPr>
            <a:r>
              <a:rPr lang="en-US" sz="1350" b="1" dirty="0">
                <a:solidFill>
                  <a:srgbClr val="1F2A28"/>
                </a:solidFill>
                <a:latin typeface="Calibri" pitchFamily="34" charset="0"/>
                <a:ea typeface="Calibri" pitchFamily="34" charset="-122"/>
                <a:cs typeface="Calibri" pitchFamily="34" charset="-120"/>
              </a:rPr>
              <a:t>Own riders, a courier partner, or both?</a:t>
            </a:r>
            <a:endParaRPr lang="en-US" sz="1350" dirty="0"/>
          </a:p>
        </p:txBody>
      </p:sp>
      <p:sp>
        <p:nvSpPr>
          <p:cNvPr id="14" name="Text 12"/>
          <p:cNvSpPr txBox="1"/>
          <p:nvPr/>
        </p:nvSpPr>
        <p:spPr>
          <a:xfrm>
            <a:off x="7124548" y="2276856"/>
            <a:ext cx="4244188" cy="365760"/>
          </a:xfrm>
          <a:prstGeom prst="rect">
            <a:avLst/>
          </a:prstGeom>
          <a:noFill/>
          <a:ln/>
        </p:spPr>
        <p:txBody>
          <a:bodyPr wrap="square" lIns="0" tIns="0" rIns="0" bIns="0" rtlCol="0" anchor="t"/>
          <a:lstStyle/>
          <a:p>
            <a:pPr indent="0" marL="0">
              <a:buNone/>
            </a:pPr>
            <a:r>
              <a:rPr lang="en-US" sz="1100" dirty="0">
                <a:solidFill>
                  <a:srgbClr val="6B8F87"/>
                </a:solidFill>
                <a:latin typeface="Calibri" pitchFamily="34" charset="0"/>
                <a:ea typeface="Calibri" pitchFamily="34" charset="-122"/>
                <a:cs typeface="Calibri" pitchFamily="34" charset="-120"/>
              </a:rPr>
              <a:t>The rider app and live tracking only exist if the shop runs its own last mile.</a:t>
            </a:r>
            <a:endParaRPr lang="en-US" sz="1100" dirty="0"/>
          </a:p>
        </p:txBody>
      </p:sp>
      <p:sp>
        <p:nvSpPr>
          <p:cNvPr id="15" name="Text 13"/>
          <p:cNvSpPr txBox="1"/>
          <p:nvPr/>
        </p:nvSpPr>
        <p:spPr>
          <a:xfrm>
            <a:off x="7124548" y="2642616"/>
            <a:ext cx="4244188" cy="256032"/>
          </a:xfrm>
          <a:prstGeom prst="rect">
            <a:avLst/>
          </a:prstGeom>
          <a:noFill/>
          <a:ln/>
        </p:spPr>
        <p:txBody>
          <a:bodyPr wrap="square" lIns="0" tIns="0" rIns="0" bIns="0" rtlCol="0" anchor="ctr"/>
          <a:lstStyle/>
          <a:p>
            <a:pPr indent="0" marL="0">
              <a:buNone/>
            </a:pPr>
            <a:r>
              <a:rPr lang="en-US" sz="1050" i="1" dirty="0">
                <a:solidFill>
                  <a:srgbClr val="0E6B5C"/>
                </a:solidFill>
                <a:latin typeface="Calibri" pitchFamily="34" charset="0"/>
                <a:ea typeface="Calibri" pitchFamily="34" charset="-122"/>
                <a:cs typeface="Calibri" pitchFamily="34" charset="-120"/>
              </a:rPr>
              <a:t>Roughly one week of Phase 4 depends on this.</a:t>
            </a:r>
            <a:endParaRPr lang="en-US" sz="1050" dirty="0"/>
          </a:p>
        </p:txBody>
      </p:sp>
      <p:sp>
        <p:nvSpPr>
          <p:cNvPr id="16" name="Shape 14"/>
          <p:cNvSpPr/>
          <p:nvPr/>
        </p:nvSpPr>
        <p:spPr>
          <a:xfrm>
            <a:off x="548640" y="3136392"/>
            <a:ext cx="5341468" cy="1225296"/>
          </a:xfrm>
          <a:prstGeom prst="roundRect">
            <a:avLst>
              <a:gd name="adj" fmla="val 7463"/>
            </a:avLst>
          </a:prstGeom>
          <a:solidFill>
            <a:srgbClr val="F1F6F4"/>
          </a:solidFill>
          <a:ln w="15875">
            <a:solidFill>
              <a:srgbClr val="E4EDEA"/>
            </a:solidFill>
            <a:prstDash val="solid"/>
          </a:ln>
        </p:spPr>
      </p:sp>
      <p:sp>
        <p:nvSpPr>
          <p:cNvPr id="17" name="Shape 15"/>
          <p:cNvSpPr/>
          <p:nvPr/>
        </p:nvSpPr>
        <p:spPr>
          <a:xfrm>
            <a:off x="822960" y="3374136"/>
            <a:ext cx="420624" cy="420624"/>
          </a:xfrm>
          <a:prstGeom prst="ellipse">
            <a:avLst/>
          </a:prstGeom>
          <a:solidFill>
            <a:srgbClr val="6B8F87"/>
          </a:solidFill>
          <a:ln/>
        </p:spPr>
      </p:sp>
      <p:sp>
        <p:nvSpPr>
          <p:cNvPr id="18" name="Text 16"/>
          <p:cNvSpPr txBox="1"/>
          <p:nvPr/>
        </p:nvSpPr>
        <p:spPr>
          <a:xfrm>
            <a:off x="822960" y="337413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371600" y="3337560"/>
            <a:ext cx="4244188" cy="384048"/>
          </a:xfrm>
          <a:prstGeom prst="rect">
            <a:avLst/>
          </a:prstGeom>
          <a:noFill/>
          <a:ln/>
        </p:spPr>
        <p:txBody>
          <a:bodyPr wrap="square" lIns="0" tIns="0" rIns="0" bIns="0" rtlCol="0" anchor="ctr"/>
          <a:lstStyle/>
          <a:p>
            <a:pPr indent="0" marL="0">
              <a:buNone/>
            </a:pPr>
            <a:r>
              <a:rPr lang="en-US" sz="1350" b="1" dirty="0">
                <a:solidFill>
                  <a:srgbClr val="1F2A28"/>
                </a:solidFill>
                <a:latin typeface="Calibri" pitchFamily="34" charset="0"/>
                <a:ea typeface="Calibri" pitchFamily="34" charset="-122"/>
                <a:cs typeface="Calibri" pitchFamily="34" charset="-120"/>
              </a:rPr>
              <a:t>Which languages need templates?</a:t>
            </a:r>
            <a:endParaRPr lang="en-US" sz="1350" dirty="0"/>
          </a:p>
        </p:txBody>
      </p:sp>
      <p:sp>
        <p:nvSpPr>
          <p:cNvPr id="20" name="Text 18"/>
          <p:cNvSpPr txBox="1"/>
          <p:nvPr/>
        </p:nvSpPr>
        <p:spPr>
          <a:xfrm>
            <a:off x="1371600" y="3721608"/>
            <a:ext cx="4244188" cy="365760"/>
          </a:xfrm>
          <a:prstGeom prst="rect">
            <a:avLst/>
          </a:prstGeom>
          <a:noFill/>
          <a:ln/>
        </p:spPr>
        <p:txBody>
          <a:bodyPr wrap="square" lIns="0" tIns="0" rIns="0" bIns="0" rtlCol="0" anchor="t"/>
          <a:lstStyle/>
          <a:p>
            <a:pPr indent="0" marL="0">
              <a:buNone/>
            </a:pPr>
            <a:r>
              <a:rPr lang="en-US" sz="1100" dirty="0">
                <a:solidFill>
                  <a:srgbClr val="6B8F87"/>
                </a:solidFill>
                <a:latin typeface="Calibri" pitchFamily="34" charset="0"/>
                <a:ea typeface="Calibri" pitchFamily="34" charset="-122"/>
                <a:cs typeface="Calibri" pitchFamily="34" charset="-120"/>
              </a:rPr>
              <a:t>Every template needs separate approval per language.</a:t>
            </a:r>
            <a:endParaRPr lang="en-US" sz="1100" dirty="0"/>
          </a:p>
        </p:txBody>
      </p:sp>
      <p:sp>
        <p:nvSpPr>
          <p:cNvPr id="21" name="Text 19"/>
          <p:cNvSpPr txBox="1"/>
          <p:nvPr/>
        </p:nvSpPr>
        <p:spPr>
          <a:xfrm>
            <a:off x="1371600" y="4087368"/>
            <a:ext cx="4244188" cy="256032"/>
          </a:xfrm>
          <a:prstGeom prst="rect">
            <a:avLst/>
          </a:prstGeom>
          <a:noFill/>
          <a:ln/>
        </p:spPr>
        <p:txBody>
          <a:bodyPr wrap="square" lIns="0" tIns="0" rIns="0" bIns="0" rtlCol="0" anchor="ctr"/>
          <a:lstStyle/>
          <a:p>
            <a:pPr indent="0" marL="0">
              <a:buNone/>
            </a:pPr>
            <a:r>
              <a:rPr lang="en-US" sz="1050" i="1" dirty="0">
                <a:solidFill>
                  <a:srgbClr val="0E6B5C"/>
                </a:solidFill>
                <a:latin typeface="Calibri" pitchFamily="34" charset="0"/>
                <a:ea typeface="Calibri" pitchFamily="34" charset="-122"/>
                <a:cs typeface="Calibri" pitchFamily="34" charset="-120"/>
              </a:rPr>
              <a:t>Hindi or regional support doubles the approval workload.</a:t>
            </a:r>
            <a:endParaRPr lang="en-US" sz="1050" dirty="0"/>
          </a:p>
        </p:txBody>
      </p:sp>
      <p:sp>
        <p:nvSpPr>
          <p:cNvPr id="22" name="Shape 20"/>
          <p:cNvSpPr/>
          <p:nvPr/>
        </p:nvSpPr>
        <p:spPr>
          <a:xfrm>
            <a:off x="6301588" y="3136392"/>
            <a:ext cx="5341468" cy="1225296"/>
          </a:xfrm>
          <a:prstGeom prst="roundRect">
            <a:avLst>
              <a:gd name="adj" fmla="val 7463"/>
            </a:avLst>
          </a:prstGeom>
          <a:solidFill>
            <a:srgbClr val="FFFFFF"/>
          </a:solidFill>
          <a:ln w="15875">
            <a:solidFill>
              <a:srgbClr val="E4EDEA"/>
            </a:solidFill>
            <a:prstDash val="solid"/>
          </a:ln>
        </p:spPr>
      </p:sp>
      <p:sp>
        <p:nvSpPr>
          <p:cNvPr id="23" name="Shape 21"/>
          <p:cNvSpPr/>
          <p:nvPr/>
        </p:nvSpPr>
        <p:spPr>
          <a:xfrm>
            <a:off x="6575908" y="3374136"/>
            <a:ext cx="420624" cy="420624"/>
          </a:xfrm>
          <a:prstGeom prst="ellipse">
            <a:avLst/>
          </a:prstGeom>
          <a:solidFill>
            <a:srgbClr val="6B8F87"/>
          </a:solidFill>
          <a:ln/>
        </p:spPr>
      </p:sp>
      <p:sp>
        <p:nvSpPr>
          <p:cNvPr id="24" name="Text 22"/>
          <p:cNvSpPr txBox="1"/>
          <p:nvPr/>
        </p:nvSpPr>
        <p:spPr>
          <a:xfrm>
            <a:off x="6575908" y="337413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7124548" y="3337560"/>
            <a:ext cx="4244188" cy="384048"/>
          </a:xfrm>
          <a:prstGeom prst="rect">
            <a:avLst/>
          </a:prstGeom>
          <a:noFill/>
          <a:ln/>
        </p:spPr>
        <p:txBody>
          <a:bodyPr wrap="square" lIns="0" tIns="0" rIns="0" bIns="0" rtlCol="0" anchor="ctr"/>
          <a:lstStyle/>
          <a:p>
            <a:pPr indent="0" marL="0">
              <a:buNone/>
            </a:pPr>
            <a:r>
              <a:rPr lang="en-US" sz="1350" b="1" dirty="0">
                <a:solidFill>
                  <a:srgbClr val="1F2A28"/>
                </a:solidFill>
                <a:latin typeface="Calibri" pitchFamily="34" charset="0"/>
                <a:ea typeface="Calibri" pitchFamily="34" charset="-122"/>
                <a:cs typeface="Calibri" pitchFamily="34" charset="-120"/>
              </a:rPr>
              <a:t>What are the COD limits?</a:t>
            </a:r>
            <a:endParaRPr lang="en-US" sz="1350" dirty="0"/>
          </a:p>
        </p:txBody>
      </p:sp>
      <p:sp>
        <p:nvSpPr>
          <p:cNvPr id="26" name="Text 24"/>
          <p:cNvSpPr txBox="1"/>
          <p:nvPr/>
        </p:nvSpPr>
        <p:spPr>
          <a:xfrm>
            <a:off x="7124548" y="3721608"/>
            <a:ext cx="4244188" cy="365760"/>
          </a:xfrm>
          <a:prstGeom prst="rect">
            <a:avLst/>
          </a:prstGeom>
          <a:noFill/>
          <a:ln/>
        </p:spPr>
        <p:txBody>
          <a:bodyPr wrap="square" lIns="0" tIns="0" rIns="0" bIns="0" rtlCol="0" anchor="t"/>
          <a:lstStyle/>
          <a:p>
            <a:pPr indent="0" marL="0">
              <a:buNone/>
            </a:pPr>
            <a:r>
              <a:rPr lang="en-US" sz="1100" dirty="0">
                <a:solidFill>
                  <a:srgbClr val="6B8F87"/>
                </a:solidFill>
                <a:latin typeface="Calibri" pitchFamily="34" charset="0"/>
                <a:ea typeface="Calibri" pitchFamily="34" charset="-122"/>
                <a:cs typeface="Calibri" pitchFamily="34" charset="-120"/>
              </a:rPr>
              <a:t>Ceiling by value, restricted categories, and excluded areas.</a:t>
            </a:r>
            <a:endParaRPr lang="en-US" sz="1100" dirty="0"/>
          </a:p>
        </p:txBody>
      </p:sp>
      <p:sp>
        <p:nvSpPr>
          <p:cNvPr id="27" name="Text 25"/>
          <p:cNvSpPr txBox="1"/>
          <p:nvPr/>
        </p:nvSpPr>
        <p:spPr>
          <a:xfrm>
            <a:off x="7124548" y="4087368"/>
            <a:ext cx="4244188" cy="256032"/>
          </a:xfrm>
          <a:prstGeom prst="rect">
            <a:avLst/>
          </a:prstGeom>
          <a:noFill/>
          <a:ln/>
        </p:spPr>
        <p:txBody>
          <a:bodyPr wrap="square" lIns="0" tIns="0" rIns="0" bIns="0" rtlCol="0" anchor="ctr"/>
          <a:lstStyle/>
          <a:p>
            <a:pPr indent="0" marL="0">
              <a:buNone/>
            </a:pPr>
            <a:r>
              <a:rPr lang="en-US" sz="1050" i="1" dirty="0">
                <a:solidFill>
                  <a:srgbClr val="0E6B5C"/>
                </a:solidFill>
                <a:latin typeface="Calibri" pitchFamily="34" charset="0"/>
                <a:ea typeface="Calibri" pitchFamily="34" charset="-122"/>
                <a:cs typeface="Calibri" pitchFamily="34" charset="-120"/>
              </a:rPr>
              <a:t>Needed before the eligibility rules can be written.</a:t>
            </a:r>
            <a:endParaRPr lang="en-US" sz="1050" dirty="0"/>
          </a:p>
        </p:txBody>
      </p:sp>
      <p:sp>
        <p:nvSpPr>
          <p:cNvPr id="28" name="Shape 26"/>
          <p:cNvSpPr/>
          <p:nvPr/>
        </p:nvSpPr>
        <p:spPr>
          <a:xfrm>
            <a:off x="548640" y="4581144"/>
            <a:ext cx="5341468" cy="1225296"/>
          </a:xfrm>
          <a:prstGeom prst="roundRect">
            <a:avLst>
              <a:gd name="adj" fmla="val 7463"/>
            </a:avLst>
          </a:prstGeom>
          <a:solidFill>
            <a:srgbClr val="F1F6F4"/>
          </a:solidFill>
          <a:ln w="15875">
            <a:solidFill>
              <a:srgbClr val="E4EDEA"/>
            </a:solidFill>
            <a:prstDash val="solid"/>
          </a:ln>
        </p:spPr>
      </p:sp>
      <p:sp>
        <p:nvSpPr>
          <p:cNvPr id="29" name="Shape 27"/>
          <p:cNvSpPr/>
          <p:nvPr/>
        </p:nvSpPr>
        <p:spPr>
          <a:xfrm>
            <a:off x="822960" y="4818888"/>
            <a:ext cx="420624" cy="420624"/>
          </a:xfrm>
          <a:prstGeom prst="ellipse">
            <a:avLst/>
          </a:prstGeom>
          <a:solidFill>
            <a:srgbClr val="6B8F87"/>
          </a:solidFill>
          <a:ln/>
        </p:spPr>
      </p:sp>
      <p:sp>
        <p:nvSpPr>
          <p:cNvPr id="30" name="Text 28"/>
          <p:cNvSpPr txBox="1"/>
          <p:nvPr/>
        </p:nvSpPr>
        <p:spPr>
          <a:xfrm>
            <a:off x="822960" y="481888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1" name="Text 29"/>
          <p:cNvSpPr txBox="1"/>
          <p:nvPr/>
        </p:nvSpPr>
        <p:spPr>
          <a:xfrm>
            <a:off x="1371600" y="4782312"/>
            <a:ext cx="4244188" cy="384048"/>
          </a:xfrm>
          <a:prstGeom prst="rect">
            <a:avLst/>
          </a:prstGeom>
          <a:noFill/>
          <a:ln/>
        </p:spPr>
        <p:txBody>
          <a:bodyPr wrap="square" lIns="0" tIns="0" rIns="0" bIns="0" rtlCol="0" anchor="ctr"/>
          <a:lstStyle/>
          <a:p>
            <a:pPr indent="0" marL="0">
              <a:buNone/>
            </a:pPr>
            <a:r>
              <a:rPr lang="en-US" sz="1350" b="1" dirty="0">
                <a:solidFill>
                  <a:srgbClr val="1F2A28"/>
                </a:solidFill>
                <a:latin typeface="Calibri" pitchFamily="34" charset="0"/>
                <a:ea typeface="Calibri" pitchFamily="34" charset="-122"/>
                <a:cs typeface="Calibri" pitchFamily="34" charset="-120"/>
              </a:rPr>
              <a:t>Who draws the delivery boundaries?</a:t>
            </a:r>
            <a:endParaRPr lang="en-US" sz="1350" dirty="0"/>
          </a:p>
        </p:txBody>
      </p:sp>
      <p:sp>
        <p:nvSpPr>
          <p:cNvPr id="32" name="Text 30"/>
          <p:cNvSpPr txBox="1"/>
          <p:nvPr/>
        </p:nvSpPr>
        <p:spPr>
          <a:xfrm>
            <a:off x="1371600" y="5166360"/>
            <a:ext cx="4244188" cy="365760"/>
          </a:xfrm>
          <a:prstGeom prst="rect">
            <a:avLst/>
          </a:prstGeom>
          <a:noFill/>
          <a:ln/>
        </p:spPr>
        <p:txBody>
          <a:bodyPr wrap="square" lIns="0" tIns="0" rIns="0" bIns="0" rtlCol="0" anchor="t"/>
          <a:lstStyle/>
          <a:p>
            <a:pPr indent="0" marL="0">
              <a:buNone/>
            </a:pPr>
            <a:r>
              <a:rPr lang="en-US" sz="1100" dirty="0">
                <a:solidFill>
                  <a:srgbClr val="6B8F87"/>
                </a:solidFill>
                <a:latin typeface="Calibri" pitchFamily="34" charset="0"/>
                <a:ea typeface="Calibri" pitchFamily="34" charset="-122"/>
                <a:cs typeface="Calibri" pitchFamily="34" charset="-120"/>
              </a:rPr>
              <a:t>We need service areas as polygons, not a list of PIN codes.</a:t>
            </a:r>
            <a:endParaRPr lang="en-US" sz="1100" dirty="0"/>
          </a:p>
        </p:txBody>
      </p:sp>
      <p:sp>
        <p:nvSpPr>
          <p:cNvPr id="33" name="Text 31"/>
          <p:cNvSpPr txBox="1"/>
          <p:nvPr/>
        </p:nvSpPr>
        <p:spPr>
          <a:xfrm>
            <a:off x="1371600" y="5532120"/>
            <a:ext cx="4244188" cy="256032"/>
          </a:xfrm>
          <a:prstGeom prst="rect">
            <a:avLst/>
          </a:prstGeom>
          <a:noFill/>
          <a:ln/>
        </p:spPr>
        <p:txBody>
          <a:bodyPr wrap="square" lIns="0" tIns="0" rIns="0" bIns="0" rtlCol="0" anchor="ctr"/>
          <a:lstStyle/>
          <a:p>
            <a:pPr indent="0" marL="0">
              <a:buNone/>
            </a:pPr>
            <a:r>
              <a:rPr lang="en-US" sz="1050" i="1" dirty="0">
                <a:solidFill>
                  <a:srgbClr val="0E6B5C"/>
                </a:solidFill>
                <a:latin typeface="Calibri" pitchFamily="34" charset="0"/>
                <a:ea typeface="Calibri" pitchFamily="34" charset="-122"/>
                <a:cs typeface="Calibri" pitchFamily="34" charset="-120"/>
              </a:rPr>
              <a:t>A map exercise with the operations team.</a:t>
            </a:r>
            <a:endParaRPr lang="en-US" sz="1050" dirty="0"/>
          </a:p>
        </p:txBody>
      </p:sp>
      <p:sp>
        <p:nvSpPr>
          <p:cNvPr id="34" name="Shape 32"/>
          <p:cNvSpPr/>
          <p:nvPr/>
        </p:nvSpPr>
        <p:spPr>
          <a:xfrm>
            <a:off x="6301588" y="4581144"/>
            <a:ext cx="5341468" cy="1225296"/>
          </a:xfrm>
          <a:prstGeom prst="roundRect">
            <a:avLst>
              <a:gd name="adj" fmla="val 7463"/>
            </a:avLst>
          </a:prstGeom>
          <a:solidFill>
            <a:srgbClr val="FFFFFF"/>
          </a:solidFill>
          <a:ln w="15875">
            <a:solidFill>
              <a:srgbClr val="E4EDEA"/>
            </a:solidFill>
            <a:prstDash val="solid"/>
          </a:ln>
        </p:spPr>
      </p:sp>
      <p:sp>
        <p:nvSpPr>
          <p:cNvPr id="35" name="Shape 33"/>
          <p:cNvSpPr/>
          <p:nvPr/>
        </p:nvSpPr>
        <p:spPr>
          <a:xfrm>
            <a:off x="6575908" y="4818888"/>
            <a:ext cx="420624" cy="420624"/>
          </a:xfrm>
          <a:prstGeom prst="ellipse">
            <a:avLst/>
          </a:prstGeom>
          <a:solidFill>
            <a:srgbClr val="6B8F87"/>
          </a:solidFill>
          <a:ln/>
        </p:spPr>
      </p:sp>
      <p:sp>
        <p:nvSpPr>
          <p:cNvPr id="36" name="Text 34"/>
          <p:cNvSpPr txBox="1"/>
          <p:nvPr/>
        </p:nvSpPr>
        <p:spPr>
          <a:xfrm>
            <a:off x="6575908" y="481888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7" name="Text 35"/>
          <p:cNvSpPr txBox="1"/>
          <p:nvPr/>
        </p:nvSpPr>
        <p:spPr>
          <a:xfrm>
            <a:off x="7124548" y="4782312"/>
            <a:ext cx="4244188" cy="384048"/>
          </a:xfrm>
          <a:prstGeom prst="rect">
            <a:avLst/>
          </a:prstGeom>
          <a:noFill/>
          <a:ln/>
        </p:spPr>
        <p:txBody>
          <a:bodyPr wrap="square" lIns="0" tIns="0" rIns="0" bIns="0" rtlCol="0" anchor="ctr"/>
          <a:lstStyle/>
          <a:p>
            <a:pPr indent="0" marL="0">
              <a:buNone/>
            </a:pPr>
            <a:r>
              <a:rPr lang="en-US" sz="1350" b="1" dirty="0">
                <a:solidFill>
                  <a:srgbClr val="1F2A28"/>
                </a:solidFill>
                <a:latin typeface="Calibri" pitchFamily="34" charset="0"/>
                <a:ea typeface="Calibri" pitchFamily="34" charset="-122"/>
                <a:cs typeface="Calibri" pitchFamily="34" charset="-120"/>
              </a:rPr>
              <a:t>Expected order volume at launch?</a:t>
            </a:r>
            <a:endParaRPr lang="en-US" sz="1350" dirty="0"/>
          </a:p>
        </p:txBody>
      </p:sp>
      <p:sp>
        <p:nvSpPr>
          <p:cNvPr id="38" name="Text 36"/>
          <p:cNvSpPr txBox="1"/>
          <p:nvPr/>
        </p:nvSpPr>
        <p:spPr>
          <a:xfrm>
            <a:off x="7124548" y="5166360"/>
            <a:ext cx="4244188" cy="365760"/>
          </a:xfrm>
          <a:prstGeom prst="rect">
            <a:avLst/>
          </a:prstGeom>
          <a:noFill/>
          <a:ln/>
        </p:spPr>
        <p:txBody>
          <a:bodyPr wrap="square" lIns="0" tIns="0" rIns="0" bIns="0" rtlCol="0" anchor="t"/>
          <a:lstStyle/>
          <a:p>
            <a:pPr indent="0" marL="0">
              <a:buNone/>
            </a:pPr>
            <a:r>
              <a:rPr lang="en-US" sz="1100" dirty="0">
                <a:solidFill>
                  <a:srgbClr val="6B8F87"/>
                </a:solidFill>
                <a:latin typeface="Calibri" pitchFamily="34" charset="0"/>
                <a:ea typeface="Calibri" pitchFamily="34" charset="-122"/>
                <a:cs typeface="Calibri" pitchFamily="34" charset="-120"/>
              </a:rPr>
              <a:t>Determines whether the starting messaging tier is sufficient.</a:t>
            </a:r>
            <a:endParaRPr lang="en-US" sz="1100" dirty="0"/>
          </a:p>
        </p:txBody>
      </p:sp>
      <p:sp>
        <p:nvSpPr>
          <p:cNvPr id="39" name="Text 37"/>
          <p:cNvSpPr txBox="1"/>
          <p:nvPr/>
        </p:nvSpPr>
        <p:spPr>
          <a:xfrm>
            <a:off x="7124548" y="5532120"/>
            <a:ext cx="4244188" cy="256032"/>
          </a:xfrm>
          <a:prstGeom prst="rect">
            <a:avLst/>
          </a:prstGeom>
          <a:noFill/>
          <a:ln/>
        </p:spPr>
        <p:txBody>
          <a:bodyPr wrap="square" lIns="0" tIns="0" rIns="0" bIns="0" rtlCol="0" anchor="ctr"/>
          <a:lstStyle/>
          <a:p>
            <a:pPr indent="0" marL="0">
              <a:buNone/>
            </a:pPr>
            <a:r>
              <a:rPr lang="en-US" sz="1050" i="1" dirty="0">
                <a:solidFill>
                  <a:srgbClr val="0E6B5C"/>
                </a:solidFill>
                <a:latin typeface="Calibri" pitchFamily="34" charset="0"/>
                <a:ea typeface="Calibri" pitchFamily="34" charset="-122"/>
                <a:cs typeface="Calibri" pitchFamily="34" charset="-120"/>
              </a:rPr>
              <a:t>Also drives hosting sizing.</a:t>
            </a:r>
            <a:endParaRPr lang="en-US" sz="1050" dirty="0"/>
          </a:p>
        </p:txBody>
      </p:sp>
      <p:sp>
        <p:nvSpPr>
          <p:cNvPr id="40" name="Text 38"/>
          <p:cNvSpPr txBox="1"/>
          <p:nvPr/>
        </p:nvSpPr>
        <p:spPr>
          <a:xfrm>
            <a:off x="548640" y="5870448"/>
            <a:ext cx="11094415" cy="274320"/>
          </a:xfrm>
          <a:prstGeom prst="rect">
            <a:avLst/>
          </a:prstGeom>
          <a:noFill/>
          <a:ln/>
        </p:spPr>
        <p:txBody>
          <a:bodyPr wrap="square" lIns="0" tIns="0" rIns="0" bIns="0" rtlCol="0" anchor="ctr"/>
          <a:lstStyle/>
          <a:p>
            <a:pPr indent="0" marL="0">
              <a:buNone/>
            </a:pPr>
            <a:r>
              <a:rPr lang="en-US" sz="1250" b="1" dirty="0">
                <a:solidFill>
                  <a:srgbClr val="1F2A28"/>
                </a:solidFill>
                <a:latin typeface="Calibri" pitchFamily="34" charset="0"/>
                <a:ea typeface="Calibri" pitchFamily="34" charset="-122"/>
                <a:cs typeface="Calibri" pitchFamily="34" charset="-120"/>
              </a:rPr>
              <a:t>Decisions one and two are blocking — everything else can be answered during Phase 0 discovery.</a:t>
            </a:r>
            <a:endParaRPr lang="en-US" sz="1250" dirty="0"/>
          </a:p>
        </p:txBody>
      </p:sp>
      <p:sp>
        <p:nvSpPr>
          <p:cNvPr id="42" name="Text 39"/>
          <p:cNvSpPr txBox="1"/>
          <p:nvPr/>
        </p:nvSpPr>
        <p:spPr>
          <a:xfrm>
            <a:off x="11094415" y="6199632"/>
            <a:ext cx="548640" cy="274320"/>
          </a:xfrm>
          <a:prstGeom prst="rect">
            <a:avLst/>
          </a:prstGeom>
          <a:noFill/>
          <a:ln/>
        </p:spPr>
        <p:txBody>
          <a:bodyPr wrap="square" lIns="0" tIns="0" rIns="0" bIns="0" rtlCol="0" anchor="ctr"/>
          <a:lstStyle/>
          <a:p>
            <a:pPr algn="r" indent="0" marL="0">
              <a:buNone/>
            </a:pPr>
            <a:r>
              <a:rPr lang="en-US" sz="1000" dirty="0">
                <a:solidFill>
                  <a:srgbClr val="9DB8B1"/>
                </a:solidFill>
                <a:latin typeface="Calibri" pitchFamily="34" charset="0"/>
                <a:ea typeface="Calibri" pitchFamily="34" charset="-122"/>
                <a:cs typeface="Calibri" pitchFamily="34" charset="-120"/>
              </a:rPr>
              <a:t>19</a:t>
            </a:r>
            <a:endParaRPr lang="en-US" sz="1000" dirty="0"/>
          </a:p>
        </p:txBody>
      </p:sp>
      <p:sp>
        <p:nvSpPr>
          <p:cNvPr id="43" name="Text 40"/>
          <p:cNvSpPr txBox="1"/>
          <p:nvPr/>
        </p:nvSpPr>
        <p:spPr>
          <a:xfrm>
            <a:off x="548640" y="6199632"/>
            <a:ext cx="4572000" cy="274320"/>
          </a:xfrm>
          <a:prstGeom prst="rect">
            <a:avLst/>
          </a:prstGeom>
          <a:noFill/>
          <a:ln/>
        </p:spPr>
        <p:txBody>
          <a:bodyPr wrap="square" lIns="0" tIns="0" rIns="0" bIns="0" rtlCol="0" anchor="ctr"/>
          <a:lstStyle/>
          <a:p>
            <a:pPr algn="l" indent="0" marL="0">
              <a:buNone/>
            </a:pPr>
            <a:r>
              <a:rPr lang="en-US" sz="900" dirty="0">
                <a:solidFill>
                  <a:srgbClr val="9DB8B1"/>
                </a:solidFill>
                <a:latin typeface="Calibri" pitchFamily="34" charset="0"/>
                <a:ea typeface="Calibri" pitchFamily="34" charset="-122"/>
                <a:cs typeface="Calibri" pitchFamily="34" charset="-120"/>
              </a:rPr>
              <a:t>WhatsApp Commerce Platform  ·  Implementation Plan v2</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2B26"/>
        </a:solidFill>
      </p:bgPr>
    </p:bg>
    <p:spTree>
      <p:nvGrpSpPr>
        <p:cNvPr id="1" name=""/>
        <p:cNvGrpSpPr/>
        <p:nvPr/>
      </p:nvGrpSpPr>
      <p:grpSpPr>
        <a:xfrm>
          <a:off x="0" y="0"/>
          <a:ext cx="0" cy="0"/>
          <a:chOff x="0" y="0"/>
          <a:chExt cx="0" cy="0"/>
        </a:xfrm>
      </p:grpSpPr>
      <p:sp>
        <p:nvSpPr>
          <p:cNvPr id="2" name="Text 0"/>
          <p:cNvSpPr txBox="1"/>
          <p:nvPr/>
        </p:nvSpPr>
        <p:spPr>
          <a:xfrm>
            <a:off x="548640" y="1097280"/>
            <a:ext cx="11094415" cy="274320"/>
          </a:xfrm>
          <a:prstGeom prst="rect">
            <a:avLst/>
          </a:prstGeom>
          <a:noFill/>
          <a:ln/>
        </p:spPr>
        <p:txBody>
          <a:bodyPr wrap="square" lIns="0" tIns="0" rIns="0" bIns="0" rtlCol="0" anchor="ctr"/>
          <a:lstStyle/>
          <a:p>
            <a:pPr indent="0" marL="0">
              <a:buNone/>
            </a:pPr>
            <a:r>
              <a:rPr lang="en-US" sz="1100" b="1" spc="200" kern="0" dirty="0">
                <a:solidFill>
                  <a:srgbClr val="F2B705"/>
                </a:solidFill>
                <a:latin typeface="Calibri" pitchFamily="34" charset="0"/>
                <a:ea typeface="Calibri" pitchFamily="34" charset="-122"/>
                <a:cs typeface="Calibri" pitchFamily="34" charset="-120"/>
              </a:rPr>
              <a:t>IN CLOSING</a:t>
            </a:r>
            <a:endParaRPr lang="en-US" sz="1100" dirty="0"/>
          </a:p>
        </p:txBody>
      </p:sp>
      <p:sp>
        <p:nvSpPr>
          <p:cNvPr id="3" name="Text 1"/>
          <p:cNvSpPr txBox="1"/>
          <p:nvPr/>
        </p:nvSpPr>
        <p:spPr>
          <a:xfrm>
            <a:off x="548640" y="1463040"/>
            <a:ext cx="6766560" cy="1371600"/>
          </a:xfrm>
          <a:prstGeom prst="rect">
            <a:avLst/>
          </a:prstGeom>
          <a:noFill/>
          <a:ln/>
        </p:spPr>
        <p:txBody>
          <a:bodyPr wrap="square" lIns="0" tIns="0" rIns="0" bIns="0" rtlCol="0" anchor="ctr"/>
          <a:lstStyle/>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Two things decide</a:t>
            </a:r>
            <a:endParaRPr lang="en-US" sz="3800" dirty="0"/>
          </a:p>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whether this works</a:t>
            </a:r>
            <a:endParaRPr lang="en-US" sz="3800" dirty="0"/>
          </a:p>
        </p:txBody>
      </p:sp>
      <p:sp>
        <p:nvSpPr>
          <p:cNvPr id="4" name="Shape 2"/>
          <p:cNvSpPr/>
          <p:nvPr/>
        </p:nvSpPr>
        <p:spPr>
          <a:xfrm>
            <a:off x="548640" y="3108960"/>
            <a:ext cx="548640" cy="548640"/>
          </a:xfrm>
          <a:prstGeom prst="ellipse">
            <a:avLst/>
          </a:prstGeom>
          <a:solidFill>
            <a:srgbClr val="0E6B5C"/>
          </a:solidFill>
          <a:ln/>
        </p:spPr>
      </p:sp>
      <p:sp>
        <p:nvSpPr>
          <p:cNvPr id="5" name="Text 3"/>
          <p:cNvSpPr txBox="1"/>
          <p:nvPr/>
        </p:nvSpPr>
        <p:spPr>
          <a:xfrm>
            <a:off x="548640" y="31089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6" name="Text 4"/>
          <p:cNvSpPr txBox="1"/>
          <p:nvPr/>
        </p:nvSpPr>
        <p:spPr>
          <a:xfrm>
            <a:off x="1325880" y="3063240"/>
            <a:ext cx="5852160" cy="38404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The compliance track is the critical path</a:t>
            </a:r>
            <a:endParaRPr lang="en-US" sz="1550" dirty="0"/>
          </a:p>
        </p:txBody>
      </p:sp>
      <p:sp>
        <p:nvSpPr>
          <p:cNvPr id="7" name="Text 5"/>
          <p:cNvSpPr txBox="1"/>
          <p:nvPr/>
        </p:nvSpPr>
        <p:spPr>
          <a:xfrm>
            <a:off x="1325880" y="3483864"/>
            <a:ext cx="5852160" cy="868680"/>
          </a:xfrm>
          <a:prstGeom prst="rect">
            <a:avLst/>
          </a:prstGeom>
          <a:noFill/>
          <a:ln/>
        </p:spPr>
        <p:txBody>
          <a:bodyPr wrap="square" lIns="0" tIns="0" rIns="0" bIns="0" rtlCol="0" anchor="t"/>
          <a:lstStyle/>
          <a:p>
            <a:pPr indent="0" marL="0">
              <a:lnSpc>
                <a:spcPts val="1600"/>
              </a:lnSpc>
              <a:buNone/>
            </a:pPr>
            <a:r>
              <a:rPr lang="en-US" sz="1150" dirty="0">
                <a:solidFill>
                  <a:srgbClr val="9DB8B1"/>
                </a:solidFill>
                <a:latin typeface="Calibri" pitchFamily="34" charset="0"/>
                <a:ea typeface="Calibri" pitchFamily="34" charset="-122"/>
                <a:cs typeface="Calibri" pitchFamily="34" charset="-120"/>
              </a:rPr>
              <a:t>Verification and template approval are external, slow, and can be rejected. Starting them in week one is the difference between a twenty-week delivery and an open-ended one.</a:t>
            </a:r>
            <a:endParaRPr lang="en-US" sz="1150" dirty="0"/>
          </a:p>
        </p:txBody>
      </p:sp>
      <p:sp>
        <p:nvSpPr>
          <p:cNvPr id="8" name="Shape 6"/>
          <p:cNvSpPr/>
          <p:nvPr/>
        </p:nvSpPr>
        <p:spPr>
          <a:xfrm>
            <a:off x="548640" y="4526280"/>
            <a:ext cx="548640" cy="548640"/>
          </a:xfrm>
          <a:prstGeom prst="ellipse">
            <a:avLst/>
          </a:prstGeom>
          <a:solidFill>
            <a:srgbClr val="0E6B5C"/>
          </a:solidFill>
          <a:ln/>
        </p:spPr>
      </p:sp>
      <p:sp>
        <p:nvSpPr>
          <p:cNvPr id="9" name="Text 7"/>
          <p:cNvSpPr txBox="1"/>
          <p:nvPr/>
        </p:nvSpPr>
        <p:spPr>
          <a:xfrm>
            <a:off x="548640" y="452628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10" name="Text 8"/>
          <p:cNvSpPr txBox="1"/>
          <p:nvPr/>
        </p:nvSpPr>
        <p:spPr>
          <a:xfrm>
            <a:off x="1325880" y="4480560"/>
            <a:ext cx="5852160" cy="38404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Be precise about what the platform can do</a:t>
            </a:r>
            <a:endParaRPr lang="en-US" sz="1550" dirty="0"/>
          </a:p>
        </p:txBody>
      </p:sp>
      <p:sp>
        <p:nvSpPr>
          <p:cNvPr id="11" name="Text 9"/>
          <p:cNvSpPr txBox="1"/>
          <p:nvPr/>
        </p:nvSpPr>
        <p:spPr>
          <a:xfrm>
            <a:off x="1325880" y="4901184"/>
            <a:ext cx="5852160" cy="868680"/>
          </a:xfrm>
          <a:prstGeom prst="rect">
            <a:avLst/>
          </a:prstGeom>
          <a:noFill/>
          <a:ln/>
        </p:spPr>
        <p:txBody>
          <a:bodyPr wrap="square" lIns="0" tIns="0" rIns="0" bIns="0" rtlCol="0" anchor="t"/>
          <a:lstStyle/>
          <a:p>
            <a:pPr indent="0" marL="0">
              <a:lnSpc>
                <a:spcPts val="1600"/>
              </a:lnSpc>
              <a:buNone/>
            </a:pPr>
            <a:r>
              <a:rPr lang="en-US" sz="1150" dirty="0">
                <a:solidFill>
                  <a:srgbClr val="9DB8B1"/>
                </a:solidFill>
                <a:latin typeface="Calibri" pitchFamily="34" charset="0"/>
                <a:ea typeface="Calibri" pitchFamily="34" charset="-122"/>
                <a:cs typeface="Calibri" pitchFamily="34" charset="-120"/>
              </a:rPr>
              <a:t>Capturing a delivery pin in chat is fully supported and genuinely improves delivery success. Streaming live location inside WhatsApp is not. Designed honestly, the feature ships; promised loosely, it fails at UAT.</a:t>
            </a:r>
            <a:endParaRPr lang="en-US" sz="1150" dirty="0"/>
          </a:p>
        </p:txBody>
      </p:sp>
      <p:sp>
        <p:nvSpPr>
          <p:cNvPr id="12" name="Shape 10"/>
          <p:cNvSpPr/>
          <p:nvPr/>
        </p:nvSpPr>
        <p:spPr>
          <a:xfrm>
            <a:off x="7360920" y="1463040"/>
            <a:ext cx="4279392" cy="4434840"/>
          </a:xfrm>
          <a:prstGeom prst="roundRect">
            <a:avLst>
              <a:gd name="adj" fmla="val 2137"/>
            </a:avLst>
          </a:prstGeom>
          <a:solidFill>
            <a:srgbClr val="12403A"/>
          </a:solidFill>
          <a:ln w="15875">
            <a:solidFill>
              <a:srgbClr val="0E6B5C"/>
            </a:solidFill>
            <a:prstDash val="solid"/>
          </a:ln>
        </p:spPr>
      </p:sp>
      <p:sp>
        <p:nvSpPr>
          <p:cNvPr id="13" name="Text 11"/>
          <p:cNvSpPr txBox="1"/>
          <p:nvPr/>
        </p:nvSpPr>
        <p:spPr>
          <a:xfrm>
            <a:off x="7699248" y="1737360"/>
            <a:ext cx="3657600" cy="274320"/>
          </a:xfrm>
          <a:prstGeom prst="rect">
            <a:avLst/>
          </a:prstGeom>
          <a:noFill/>
          <a:ln/>
        </p:spPr>
        <p:txBody>
          <a:bodyPr wrap="square" lIns="0" tIns="0" rIns="0" bIns="0" rtlCol="0" anchor="ctr"/>
          <a:lstStyle/>
          <a:p>
            <a:pPr indent="0" marL="0">
              <a:buNone/>
            </a:pPr>
            <a:r>
              <a:rPr lang="en-US" sz="1050" b="1" spc="160" kern="0" dirty="0">
                <a:solidFill>
                  <a:srgbClr val="F2B705"/>
                </a:solidFill>
                <a:latin typeface="Calibri" pitchFamily="34" charset="0"/>
                <a:ea typeface="Calibri" pitchFamily="34" charset="-122"/>
                <a:cs typeface="Calibri" pitchFamily="34" charset="-120"/>
              </a:rPr>
              <a:t>NEXT STEPS</a:t>
            </a:r>
            <a:endParaRPr lang="en-US" sz="1050" dirty="0"/>
          </a:p>
        </p:txBody>
      </p:sp>
      <p:sp>
        <p:nvSpPr>
          <p:cNvPr id="14" name="Shape 12"/>
          <p:cNvSpPr/>
          <p:nvPr/>
        </p:nvSpPr>
        <p:spPr>
          <a:xfrm>
            <a:off x="7699248" y="2194560"/>
            <a:ext cx="365760" cy="365760"/>
          </a:xfrm>
          <a:prstGeom prst="ellipse">
            <a:avLst/>
          </a:prstGeom>
          <a:solidFill>
            <a:srgbClr val="F2B705"/>
          </a:solidFill>
          <a:ln/>
        </p:spPr>
      </p:sp>
      <p:sp>
        <p:nvSpPr>
          <p:cNvPr id="15" name="Text 13"/>
          <p:cNvSpPr txBox="1"/>
          <p:nvPr/>
        </p:nvSpPr>
        <p:spPr>
          <a:xfrm>
            <a:off x="7699248" y="2194560"/>
            <a:ext cx="365760" cy="365760"/>
          </a:xfrm>
          <a:prstGeom prst="rect">
            <a:avLst/>
          </a:prstGeom>
          <a:noFill/>
          <a:ln/>
        </p:spPr>
        <p:txBody>
          <a:bodyPr wrap="square" lIns="0" tIns="0" rIns="0" bIns="0" rtlCol="0" anchor="ctr"/>
          <a:lstStyle/>
          <a:p>
            <a:pPr algn="ctr" indent="0" marL="0">
              <a:buNone/>
            </a:pPr>
            <a:r>
              <a:rPr lang="en-US" sz="1200" b="1" dirty="0">
                <a:solidFill>
                  <a:srgbClr val="0B2B26"/>
                </a:solidFill>
                <a:latin typeface="Calibri" pitchFamily="34" charset="0"/>
                <a:ea typeface="Calibri" pitchFamily="34" charset="-122"/>
                <a:cs typeface="Calibri" pitchFamily="34" charset="-120"/>
              </a:rPr>
              <a:t>1</a:t>
            </a:r>
            <a:endParaRPr lang="en-US" sz="1200" dirty="0"/>
          </a:p>
        </p:txBody>
      </p:sp>
      <p:sp>
        <p:nvSpPr>
          <p:cNvPr id="16" name="Text 14"/>
          <p:cNvSpPr txBox="1"/>
          <p:nvPr/>
        </p:nvSpPr>
        <p:spPr>
          <a:xfrm>
            <a:off x="8229600" y="2176272"/>
            <a:ext cx="3246120" cy="3291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Answer the two blocking decisions</a:t>
            </a:r>
            <a:endParaRPr lang="en-US" sz="1250" dirty="0"/>
          </a:p>
        </p:txBody>
      </p:sp>
      <p:sp>
        <p:nvSpPr>
          <p:cNvPr id="17" name="Text 15"/>
          <p:cNvSpPr txBox="1"/>
          <p:nvPr/>
        </p:nvSpPr>
        <p:spPr>
          <a:xfrm>
            <a:off x="8229600" y="2523744"/>
            <a:ext cx="3246120" cy="475488"/>
          </a:xfrm>
          <a:prstGeom prst="rect">
            <a:avLst/>
          </a:prstGeom>
          <a:noFill/>
          <a:ln/>
        </p:spPr>
        <p:txBody>
          <a:bodyPr wrap="square" lIns="0" tIns="0" rIns="0" bIns="0" rtlCol="0" anchor="t"/>
          <a:lstStyle/>
          <a:p>
            <a:pPr indent="0" marL="0">
              <a:lnSpc>
                <a:spcPts val="1400"/>
              </a:lnSpc>
              <a:buNone/>
            </a:pPr>
            <a:r>
              <a:rPr lang="en-US" sz="1050" dirty="0">
                <a:solidFill>
                  <a:srgbClr val="9DB8B1"/>
                </a:solidFill>
                <a:latin typeface="Calibri" pitchFamily="34" charset="0"/>
                <a:ea typeface="Calibri" pitchFamily="34" charset="-122"/>
                <a:cs typeface="Calibri" pitchFamily="34" charset="-120"/>
              </a:rPr>
              <a:t>BSP or direct, and whether the shop runs its own riders.</a:t>
            </a:r>
            <a:endParaRPr lang="en-US" sz="1050" dirty="0"/>
          </a:p>
        </p:txBody>
      </p:sp>
      <p:sp>
        <p:nvSpPr>
          <p:cNvPr id="18" name="Shape 16"/>
          <p:cNvSpPr/>
          <p:nvPr/>
        </p:nvSpPr>
        <p:spPr>
          <a:xfrm>
            <a:off x="7699248" y="3127248"/>
            <a:ext cx="365760" cy="365760"/>
          </a:xfrm>
          <a:prstGeom prst="ellipse">
            <a:avLst/>
          </a:prstGeom>
          <a:solidFill>
            <a:srgbClr val="F2B705"/>
          </a:solidFill>
          <a:ln/>
        </p:spPr>
      </p:sp>
      <p:sp>
        <p:nvSpPr>
          <p:cNvPr id="19" name="Text 17"/>
          <p:cNvSpPr txBox="1"/>
          <p:nvPr/>
        </p:nvSpPr>
        <p:spPr>
          <a:xfrm>
            <a:off x="7699248" y="3127248"/>
            <a:ext cx="365760" cy="365760"/>
          </a:xfrm>
          <a:prstGeom prst="rect">
            <a:avLst/>
          </a:prstGeom>
          <a:noFill/>
          <a:ln/>
        </p:spPr>
        <p:txBody>
          <a:bodyPr wrap="square" lIns="0" tIns="0" rIns="0" bIns="0" rtlCol="0" anchor="ctr"/>
          <a:lstStyle/>
          <a:p>
            <a:pPr algn="ctr" indent="0" marL="0">
              <a:buNone/>
            </a:pPr>
            <a:r>
              <a:rPr lang="en-US" sz="1200" b="1" dirty="0">
                <a:solidFill>
                  <a:srgbClr val="0B2B26"/>
                </a:solidFill>
                <a:latin typeface="Calibri" pitchFamily="34" charset="0"/>
                <a:ea typeface="Calibri" pitchFamily="34" charset="-122"/>
                <a:cs typeface="Calibri" pitchFamily="34" charset="-120"/>
              </a:rPr>
              <a:t>2</a:t>
            </a:r>
            <a:endParaRPr lang="en-US" sz="1200" dirty="0"/>
          </a:p>
        </p:txBody>
      </p:sp>
      <p:sp>
        <p:nvSpPr>
          <p:cNvPr id="20" name="Text 18"/>
          <p:cNvSpPr txBox="1"/>
          <p:nvPr/>
        </p:nvSpPr>
        <p:spPr>
          <a:xfrm>
            <a:off x="8229600" y="3108960"/>
            <a:ext cx="3246120" cy="3291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Name an owner for verification</a:t>
            </a:r>
            <a:endParaRPr lang="en-US" sz="1250" dirty="0"/>
          </a:p>
        </p:txBody>
      </p:sp>
      <p:sp>
        <p:nvSpPr>
          <p:cNvPr id="21" name="Text 19"/>
          <p:cNvSpPr txBox="1"/>
          <p:nvPr/>
        </p:nvSpPr>
        <p:spPr>
          <a:xfrm>
            <a:off x="8229600" y="3456432"/>
            <a:ext cx="3246120" cy="475488"/>
          </a:xfrm>
          <a:prstGeom prst="rect">
            <a:avLst/>
          </a:prstGeom>
          <a:noFill/>
          <a:ln/>
        </p:spPr>
        <p:txBody>
          <a:bodyPr wrap="square" lIns="0" tIns="0" rIns="0" bIns="0" rtlCol="0" anchor="t"/>
          <a:lstStyle/>
          <a:p>
            <a:pPr indent="0" marL="0">
              <a:lnSpc>
                <a:spcPts val="1400"/>
              </a:lnSpc>
              <a:buNone/>
            </a:pPr>
            <a:r>
              <a:rPr lang="en-US" sz="1050" dirty="0">
                <a:solidFill>
                  <a:srgbClr val="9DB8B1"/>
                </a:solidFill>
                <a:latin typeface="Calibri" pitchFamily="34" charset="0"/>
                <a:ea typeface="Calibri" pitchFamily="34" charset="-122"/>
                <a:cs typeface="Calibri" pitchFamily="34" charset="-120"/>
              </a:rPr>
              <a:t>Someone on the client side who can produce business documents this week.</a:t>
            </a:r>
            <a:endParaRPr lang="en-US" sz="1050" dirty="0"/>
          </a:p>
        </p:txBody>
      </p:sp>
      <p:sp>
        <p:nvSpPr>
          <p:cNvPr id="22" name="Shape 20"/>
          <p:cNvSpPr/>
          <p:nvPr/>
        </p:nvSpPr>
        <p:spPr>
          <a:xfrm>
            <a:off x="7699248" y="4059936"/>
            <a:ext cx="365760" cy="365760"/>
          </a:xfrm>
          <a:prstGeom prst="ellipse">
            <a:avLst/>
          </a:prstGeom>
          <a:solidFill>
            <a:srgbClr val="F2B705"/>
          </a:solidFill>
          <a:ln/>
        </p:spPr>
      </p:sp>
      <p:sp>
        <p:nvSpPr>
          <p:cNvPr id="23" name="Text 21"/>
          <p:cNvSpPr txBox="1"/>
          <p:nvPr/>
        </p:nvSpPr>
        <p:spPr>
          <a:xfrm>
            <a:off x="7699248" y="4059936"/>
            <a:ext cx="365760" cy="365760"/>
          </a:xfrm>
          <a:prstGeom prst="rect">
            <a:avLst/>
          </a:prstGeom>
          <a:noFill/>
          <a:ln/>
        </p:spPr>
        <p:txBody>
          <a:bodyPr wrap="square" lIns="0" tIns="0" rIns="0" bIns="0" rtlCol="0" anchor="ctr"/>
          <a:lstStyle/>
          <a:p>
            <a:pPr algn="ctr" indent="0" marL="0">
              <a:buNone/>
            </a:pPr>
            <a:r>
              <a:rPr lang="en-US" sz="1200" b="1" dirty="0">
                <a:solidFill>
                  <a:srgbClr val="0B2B26"/>
                </a:solidFill>
                <a:latin typeface="Calibri" pitchFamily="34" charset="0"/>
                <a:ea typeface="Calibri" pitchFamily="34" charset="-122"/>
                <a:cs typeface="Calibri" pitchFamily="34" charset="-120"/>
              </a:rPr>
              <a:t>3</a:t>
            </a:r>
            <a:endParaRPr lang="en-US" sz="1200" dirty="0"/>
          </a:p>
        </p:txBody>
      </p:sp>
      <p:sp>
        <p:nvSpPr>
          <p:cNvPr id="24" name="Text 22"/>
          <p:cNvSpPr txBox="1"/>
          <p:nvPr/>
        </p:nvSpPr>
        <p:spPr>
          <a:xfrm>
            <a:off x="8229600" y="4041648"/>
            <a:ext cx="3246120" cy="3291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Book the Phase 0 discovery session</a:t>
            </a:r>
            <a:endParaRPr lang="en-US" sz="1250" dirty="0"/>
          </a:p>
        </p:txBody>
      </p:sp>
      <p:sp>
        <p:nvSpPr>
          <p:cNvPr id="25" name="Text 23"/>
          <p:cNvSpPr txBox="1"/>
          <p:nvPr/>
        </p:nvSpPr>
        <p:spPr>
          <a:xfrm>
            <a:off x="8229600" y="4389120"/>
            <a:ext cx="3246120" cy="475488"/>
          </a:xfrm>
          <a:prstGeom prst="rect">
            <a:avLst/>
          </a:prstGeom>
          <a:noFill/>
          <a:ln/>
        </p:spPr>
        <p:txBody>
          <a:bodyPr wrap="square" lIns="0" tIns="0" rIns="0" bIns="0" rtlCol="0" anchor="t"/>
          <a:lstStyle/>
          <a:p>
            <a:pPr indent="0" marL="0">
              <a:lnSpc>
                <a:spcPts val="1400"/>
              </a:lnSpc>
              <a:buNone/>
            </a:pPr>
            <a:r>
              <a:rPr lang="en-US" sz="1050" dirty="0">
                <a:solidFill>
                  <a:srgbClr val="9DB8B1"/>
                </a:solidFill>
                <a:latin typeface="Calibri" pitchFamily="34" charset="0"/>
                <a:ea typeface="Calibri" pitchFamily="34" charset="-122"/>
                <a:cs typeface="Calibri" pitchFamily="34" charset="-120"/>
              </a:rPr>
              <a:t>Two weeks, with the operations team in the room to draw service areas.</a:t>
            </a:r>
            <a:endParaRPr lang="en-US" sz="1050" dirty="0"/>
          </a:p>
        </p:txBody>
      </p:sp>
      <p:sp>
        <p:nvSpPr>
          <p:cNvPr id="26" name="Shape 24"/>
          <p:cNvSpPr/>
          <p:nvPr/>
        </p:nvSpPr>
        <p:spPr>
          <a:xfrm>
            <a:off x="7699248" y="4992624"/>
            <a:ext cx="365760" cy="365760"/>
          </a:xfrm>
          <a:prstGeom prst="ellipse">
            <a:avLst/>
          </a:prstGeom>
          <a:solidFill>
            <a:srgbClr val="F2B705"/>
          </a:solidFill>
          <a:ln/>
        </p:spPr>
      </p:sp>
      <p:sp>
        <p:nvSpPr>
          <p:cNvPr id="27" name="Text 25"/>
          <p:cNvSpPr txBox="1"/>
          <p:nvPr/>
        </p:nvSpPr>
        <p:spPr>
          <a:xfrm>
            <a:off x="7699248" y="4992624"/>
            <a:ext cx="365760" cy="365760"/>
          </a:xfrm>
          <a:prstGeom prst="rect">
            <a:avLst/>
          </a:prstGeom>
          <a:noFill/>
          <a:ln/>
        </p:spPr>
        <p:txBody>
          <a:bodyPr wrap="square" lIns="0" tIns="0" rIns="0" bIns="0" rtlCol="0" anchor="ctr"/>
          <a:lstStyle/>
          <a:p>
            <a:pPr algn="ctr" indent="0" marL="0">
              <a:buNone/>
            </a:pPr>
            <a:r>
              <a:rPr lang="en-US" sz="1200" b="1" dirty="0">
                <a:solidFill>
                  <a:srgbClr val="0B2B26"/>
                </a:solidFill>
                <a:latin typeface="Calibri" pitchFamily="34" charset="0"/>
                <a:ea typeface="Calibri" pitchFamily="34" charset="-122"/>
                <a:cs typeface="Calibri" pitchFamily="34" charset="-120"/>
              </a:rPr>
              <a:t>4</a:t>
            </a:r>
            <a:endParaRPr lang="en-US" sz="1200" dirty="0"/>
          </a:p>
        </p:txBody>
      </p:sp>
      <p:sp>
        <p:nvSpPr>
          <p:cNvPr id="28" name="Text 26"/>
          <p:cNvSpPr txBox="1"/>
          <p:nvPr/>
        </p:nvSpPr>
        <p:spPr>
          <a:xfrm>
            <a:off x="8229600" y="4974336"/>
            <a:ext cx="3246120" cy="3291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Freeze and submit the template list</a:t>
            </a:r>
            <a:endParaRPr lang="en-US" sz="1250" dirty="0"/>
          </a:p>
        </p:txBody>
      </p:sp>
      <p:sp>
        <p:nvSpPr>
          <p:cNvPr id="29" name="Text 27"/>
          <p:cNvSpPr txBox="1"/>
          <p:nvPr/>
        </p:nvSpPr>
        <p:spPr>
          <a:xfrm>
            <a:off x="8229600" y="5321808"/>
            <a:ext cx="3246120" cy="475488"/>
          </a:xfrm>
          <a:prstGeom prst="rect">
            <a:avLst/>
          </a:prstGeom>
          <a:noFill/>
          <a:ln/>
        </p:spPr>
        <p:txBody>
          <a:bodyPr wrap="square" lIns="0" tIns="0" rIns="0" bIns="0" rtlCol="0" anchor="t"/>
          <a:lstStyle/>
          <a:p>
            <a:pPr indent="0" marL="0">
              <a:lnSpc>
                <a:spcPts val="1400"/>
              </a:lnSpc>
              <a:buNone/>
            </a:pPr>
            <a:r>
              <a:rPr lang="en-US" sz="1050" dirty="0">
                <a:solidFill>
                  <a:srgbClr val="9DB8B1"/>
                </a:solidFill>
                <a:latin typeface="Calibri" pitchFamily="34" charset="0"/>
                <a:ea typeface="Calibri" pitchFamily="34" charset="-122"/>
                <a:cs typeface="Calibri" pitchFamily="34" charset="-120"/>
              </a:rPr>
              <a:t>All ten, in every language we need, by the end of week two.</a:t>
            </a:r>
            <a:endParaRPr lang="en-US" sz="1050" dirty="0"/>
          </a:p>
        </p:txBody>
      </p:sp>
      <p:sp>
        <p:nvSpPr>
          <p:cNvPr id="30" name="Text 28"/>
          <p:cNvSpPr txBox="1"/>
          <p:nvPr/>
        </p:nvSpPr>
        <p:spPr>
          <a:xfrm>
            <a:off x="548640" y="5760720"/>
            <a:ext cx="6583680" cy="384048"/>
          </a:xfrm>
          <a:prstGeom prst="rect">
            <a:avLst/>
          </a:prstGeom>
          <a:noFill/>
          <a:ln/>
        </p:spPr>
        <p:txBody>
          <a:bodyPr wrap="square" lIns="0" tIns="0" rIns="0" bIns="0" rtlCol="0" anchor="ctr"/>
          <a:lstStyle/>
          <a:p>
            <a:pPr indent="0" marL="0">
              <a:buNone/>
            </a:pPr>
            <a:r>
              <a:rPr lang="en-US" sz="1100" i="1" dirty="0">
                <a:solidFill>
                  <a:srgbClr val="6B8F87"/>
                </a:solidFill>
                <a:latin typeface="Calibri" pitchFamily="34" charset="0"/>
                <a:ea typeface="Calibri" pitchFamily="34" charset="-122"/>
                <a:cs typeface="Calibri" pitchFamily="34" charset="-120"/>
              </a:rPr>
              <a:t>Full detail in the implementation plan — architecture, data model, API surface, testing plan, and the Phase 0 checklist.</a:t>
            </a:r>
            <a:endParaRPr lang="en-US" sz="1100" dirty="0"/>
          </a:p>
        </p:txBody>
      </p:sp>
      <p:sp>
        <p:nvSpPr>
          <p:cNvPr id="32" name="Text 29"/>
          <p:cNvSpPr txBox="1"/>
          <p:nvPr/>
        </p:nvSpPr>
        <p:spPr>
          <a:xfrm>
            <a:off x="11094415" y="6199632"/>
            <a:ext cx="548640" cy="274320"/>
          </a:xfrm>
          <a:prstGeom prst="rect">
            <a:avLst/>
          </a:prstGeom>
          <a:noFill/>
          <a:ln/>
        </p:spPr>
        <p:txBody>
          <a:bodyPr wrap="square" lIns="0" tIns="0" rIns="0" bIns="0" rtlCol="0" anchor="ctr"/>
          <a:lstStyle/>
          <a:p>
            <a:pPr algn="r" indent="0" marL="0">
              <a:buNone/>
            </a:pPr>
            <a:r>
              <a:rPr lang="en-US" sz="1000" dirty="0">
                <a:solidFill>
                  <a:srgbClr val="6B8F87"/>
                </a:solidFill>
                <a:latin typeface="Calibri" pitchFamily="34" charset="0"/>
                <a:ea typeface="Calibri" pitchFamily="34" charset="-122"/>
                <a:cs typeface="Calibri" pitchFamily="34" charset="-120"/>
              </a:rPr>
              <a:t>20</a:t>
            </a:r>
            <a:endParaRPr lang="en-US" sz="1000" dirty="0"/>
          </a:p>
        </p:txBody>
      </p:sp>
      <p:sp>
        <p:nvSpPr>
          <p:cNvPr id="33" name="Text 30"/>
          <p:cNvSpPr txBox="1"/>
          <p:nvPr/>
        </p:nvSpPr>
        <p:spPr>
          <a:xfrm>
            <a:off x="548640" y="6199632"/>
            <a:ext cx="4572000" cy="274320"/>
          </a:xfrm>
          <a:prstGeom prst="rect">
            <a:avLst/>
          </a:prstGeom>
          <a:noFill/>
          <a:ln/>
        </p:spPr>
        <p:txBody>
          <a:bodyPr wrap="square" lIns="0" tIns="0" rIns="0" bIns="0" rtlCol="0" anchor="ctr"/>
          <a:lstStyle/>
          <a:p>
            <a:pPr algn="l" indent="0" marL="0">
              <a:buNone/>
            </a:pPr>
            <a:r>
              <a:rPr lang="en-US" sz="900" dirty="0">
                <a:solidFill>
                  <a:srgbClr val="6B8F87"/>
                </a:solidFill>
                <a:latin typeface="Calibri" pitchFamily="34" charset="0"/>
                <a:ea typeface="Calibri" pitchFamily="34" charset="-122"/>
                <a:cs typeface="Calibri" pitchFamily="34" charset="-120"/>
              </a:rPr>
              <a:t>WhatsApp Commerce Platform  ·  Implementation Plan v2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WhatsApp Commerce Platform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WhatsApp Commerce Platform — Implementation Plan v2</dc:title>
  <dc:subject>PptxGenJS Presentation</dc:subject>
  <dc:creator>Implementation Team</dc:creator>
  <cp:lastModifiedBy>Implementation Team</cp:lastModifiedBy>
  <cp:revision>1</cp:revision>
  <dcterms:created xsi:type="dcterms:W3CDTF">2026-09-05T02:25:19Z</dcterms:created>
  <dcterms:modified xsi:type="dcterms:W3CDTF">2026-09-05T02:25:19Z</dcterms:modified>
</cp:coreProperties>
</file>